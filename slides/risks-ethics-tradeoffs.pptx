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7.svg" ContentType="image/svg+xml"/>
  <Override PartName="/ppt/media/image23.svg" ContentType="image/svg+xml"/>
  <Override PartName="/ppt/media/image24.svg" ContentType="image/svg+xml"/>
  <Override PartName="/ppt/media/image25.org&amp;utm_campaign=parser&amp;utm_content=thumbnail" ContentType="image/jpeg"/>
  <Override PartName="/ppt/media/image26.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90" r:id="rId5"/>
    <p:sldId id="288" r:id="rId6"/>
    <p:sldId id="326" r:id="rId7"/>
    <p:sldId id="291" r:id="rId8"/>
    <p:sldId id="305" r:id="rId9"/>
    <p:sldId id="327" r:id="rId10"/>
    <p:sldId id="295" r:id="rId11"/>
    <p:sldId id="325" r:id="rId12"/>
    <p:sldId id="284" r:id="rId13"/>
    <p:sldId id="313" r:id="rId14"/>
    <p:sldId id="328" r:id="rId15"/>
    <p:sldId id="329" r:id="rId16"/>
    <p:sldId id="298" r:id="rId17"/>
    <p:sldId id="322" r:id="rId18"/>
    <p:sldId id="294" r:id="rId19"/>
    <p:sldId id="315" r:id="rId20"/>
    <p:sldId id="306" r:id="rId21"/>
    <p:sldId id="321" r:id="rId22"/>
    <p:sldId id="318" r:id="rId23"/>
    <p:sldId id="308" r:id="rId24"/>
    <p:sldId id="309" r:id="rId25"/>
    <p:sldId id="311" r:id="rId26"/>
    <p:sldId id="299" r:id="rId27"/>
    <p:sldId id="304" r:id="rId28"/>
    <p:sldId id="307" r:id="rId29"/>
    <p:sldId id="324" r:id="rId30"/>
    <p:sldId id="331" r:id="rId31"/>
    <p:sldId id="317" r:id="rId32"/>
    <p:sldId id="292" r:id="rId33"/>
    <p:sldId id="279" r:id="rId34"/>
    <p:sldId id="312" r:id="rId35"/>
    <p:sldId id="270" r:id="rId36"/>
    <p:sldId id="281" r:id="rId37"/>
    <p:sldId id="301" r:id="rId38"/>
    <p:sldId id="285" r:id="rId39"/>
    <p:sldId id="286" r:id="rId40"/>
    <p:sldId id="287" r:id="rId41"/>
    <p:sldId id="293" r:id="rId42"/>
    <p:sldId id="282" r:id="rId43"/>
    <p:sldId id="296" r:id="rId44"/>
    <p:sldId id="276" r:id="rId45"/>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B600"/>
    <a:srgbClr val="DDB83D"/>
    <a:srgbClr val="FAE99E"/>
    <a:srgbClr val="67AB76"/>
    <a:srgbClr val="C9E4CD"/>
    <a:srgbClr val="C8E4CE"/>
    <a:srgbClr val="EF4F8B"/>
    <a:srgbClr val="45B2E2"/>
    <a:srgbClr val="F4F7EF"/>
    <a:srgbClr val="FCF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25" autoAdjust="0"/>
    <p:restoredTop sz="83756"/>
  </p:normalViewPr>
  <p:slideViewPr>
    <p:cSldViewPr snapToGrid="0">
      <p:cViewPr>
        <p:scale>
          <a:sx n="162" d="100"/>
          <a:sy n="162" d="100"/>
        </p:scale>
        <p:origin x="1528"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C77643-0959-4288-851B-64496A7982AC}" type="datetimeFigureOut">
              <a:rPr lang="en-GB" smtClean="0"/>
              <a:t>16/09/2026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B39F2-9D70-4676-848B-B3C1FFC554AC}" type="slidenum">
              <a:rPr lang="en-GB" smtClean="0"/>
              <a:t>‹#›</a:t>
            </a:fld>
            <a:endParaRPr lang="en-GB" dirty="0"/>
          </a:p>
        </p:txBody>
      </p:sp>
    </p:spTree>
    <p:extLst>
      <p:ext uri="{BB962C8B-B14F-4D97-AF65-F5344CB8AC3E}">
        <p14:creationId xmlns:p14="http://schemas.microsoft.com/office/powerpoint/2010/main" val="2377207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www.nejm.org/doi/10.1056/NEJMra2503232#core-collateral-r46" TargetMode="External"/><Relationship Id="rId4" Type="http://schemas.openxmlformats.org/officeDocument/2006/relationships/hyperlink" Target="https://www.nejm.org/doi/10.1056/NEJMra2503232#core-collateral-r47"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www.nejm.org/doi/10.1056/NEJMra2503232#core-collateral-r46" TargetMode="External"/><Relationship Id="rId4" Type="http://schemas.openxmlformats.org/officeDocument/2006/relationships/hyperlink" Target="https://www.nejm.org/doi/10.1056/NEJMra2503232#core-collateral-r47"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arxiv.org/pdf/2304.03271" TargetMode="External"/><Relationship Id="rId4" Type="http://schemas.openxmlformats.org/officeDocument/2006/relationships/hyperlink" Target="https://ketos.co/ai-data-centers-wastewater-discharge-and-the-growing-need-for-effective-water-management#:~:text=The%20influx%20of%20wastewater%20from,time%20to%20manage%20the%20influx."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2AB39F2-9D70-4676-848B-B3C1FFC554AC}" type="slidenum">
              <a:rPr lang="en-GB" smtClean="0"/>
              <a:t>1</a:t>
            </a:fld>
            <a:endParaRPr lang="en-GB" dirty="0"/>
          </a:p>
        </p:txBody>
      </p:sp>
    </p:spTree>
    <p:extLst>
      <p:ext uri="{BB962C8B-B14F-4D97-AF65-F5344CB8AC3E}">
        <p14:creationId xmlns:p14="http://schemas.microsoft.com/office/powerpoint/2010/main" val="3489084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B6457-F428-10A2-4EF0-54BD9024E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41158-0EB9-E7EF-B5AB-F45A166CF45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DB4C5AE-6361-8263-1489-D85677FF895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7684C2C-6421-342F-ECC1-367657284EAF}"/>
              </a:ext>
            </a:extLst>
          </p:cNvPr>
          <p:cNvSpPr>
            <a:spLocks noGrp="1"/>
          </p:cNvSpPr>
          <p:nvPr>
            <p:ph type="sldNum" sz="quarter" idx="5"/>
          </p:nvPr>
        </p:nvSpPr>
        <p:spPr/>
        <p:txBody>
          <a:bodyPr/>
          <a:lstStyle/>
          <a:p>
            <a:fld id="{92AB39F2-9D70-4676-848B-B3C1FFC554AC}" type="slidenum">
              <a:rPr lang="en-GB" smtClean="0"/>
              <a:t>2</a:t>
            </a:fld>
            <a:endParaRPr lang="en-GB" dirty="0"/>
          </a:p>
        </p:txBody>
      </p:sp>
    </p:spTree>
    <p:extLst>
      <p:ext uri="{BB962C8B-B14F-4D97-AF65-F5344CB8AC3E}">
        <p14:creationId xmlns:p14="http://schemas.microsoft.com/office/powerpoint/2010/main" val="2671359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923D-13D2-0BAD-B503-71FAFDF6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B0930-4793-B138-E916-65D058190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04BA9-EA02-DB7B-071C-9A5F0BD7B3A7}"/>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A232ED39-A41B-592D-8BEE-628416E26B15}"/>
              </a:ext>
            </a:extLst>
          </p:cNvPr>
          <p:cNvSpPr>
            <a:spLocks noGrp="1"/>
          </p:cNvSpPr>
          <p:nvPr>
            <p:ph type="sldNum" sz="quarter" idx="5"/>
          </p:nvPr>
        </p:nvSpPr>
        <p:spPr/>
        <p:txBody>
          <a:bodyPr/>
          <a:lstStyle/>
          <a:p>
            <a:fld id="{92AB39F2-9D70-4676-848B-B3C1FFC554AC}" type="slidenum">
              <a:rPr lang="en-GB" smtClean="0"/>
              <a:t>3</a:t>
            </a:fld>
            <a:endParaRPr lang="en-GB" dirty="0"/>
          </a:p>
        </p:txBody>
      </p:sp>
    </p:spTree>
    <p:extLst>
      <p:ext uri="{BB962C8B-B14F-4D97-AF65-F5344CB8AC3E}">
        <p14:creationId xmlns:p14="http://schemas.microsoft.com/office/powerpoint/2010/main" val="3581663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EA91-AADC-C4A7-12EE-BE552573F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F3A22-2A48-8313-D06B-D828D2D4A87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21BB1D2-CA08-57D4-0C27-AF952B082AC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A235F44-A86E-6A94-59DF-1A08F2F73BA4}"/>
              </a:ext>
            </a:extLst>
          </p:cNvPr>
          <p:cNvSpPr>
            <a:spLocks noGrp="1"/>
          </p:cNvSpPr>
          <p:nvPr>
            <p:ph type="sldNum" sz="quarter" idx="5"/>
          </p:nvPr>
        </p:nvSpPr>
        <p:spPr/>
        <p:txBody>
          <a:bodyPr/>
          <a:lstStyle/>
          <a:p>
            <a:fld id="{92AB39F2-9D70-4676-848B-B3C1FFC554AC}" type="slidenum">
              <a:rPr lang="en-GB" smtClean="0"/>
              <a:t>4</a:t>
            </a:fld>
            <a:endParaRPr lang="en-GB" dirty="0"/>
          </a:p>
        </p:txBody>
      </p:sp>
    </p:spTree>
    <p:extLst>
      <p:ext uri="{BB962C8B-B14F-4D97-AF65-F5344CB8AC3E}">
        <p14:creationId xmlns:p14="http://schemas.microsoft.com/office/powerpoint/2010/main" val="4240394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DCAD9-E423-C6B6-330B-78223F288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0B780-6534-0762-26D9-1C237EEE556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26095CE-7712-C2B0-E669-79A6DBD8019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FD74D8-9BF8-08F9-10EB-72FA624E0687}"/>
              </a:ext>
            </a:extLst>
          </p:cNvPr>
          <p:cNvSpPr>
            <a:spLocks noGrp="1"/>
          </p:cNvSpPr>
          <p:nvPr>
            <p:ph type="sldNum" sz="quarter" idx="5"/>
          </p:nvPr>
        </p:nvSpPr>
        <p:spPr/>
        <p:txBody>
          <a:bodyPr/>
          <a:lstStyle/>
          <a:p>
            <a:fld id="{92AB39F2-9D70-4676-848B-B3C1FFC554AC}" type="slidenum">
              <a:rPr lang="en-GB" smtClean="0"/>
              <a:t>5</a:t>
            </a:fld>
            <a:endParaRPr lang="en-GB" dirty="0"/>
          </a:p>
        </p:txBody>
      </p:sp>
    </p:spTree>
    <p:extLst>
      <p:ext uri="{BB962C8B-B14F-4D97-AF65-F5344CB8AC3E}">
        <p14:creationId xmlns:p14="http://schemas.microsoft.com/office/powerpoint/2010/main" val="1602167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548BC-AFED-77BF-D623-332607462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1E145-77A6-C11A-597D-FBA17CA0D02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6569D56-C0B5-8270-E50D-B40E26DFE73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613830-C852-7766-AB77-6E7037DF6B13}"/>
              </a:ext>
            </a:extLst>
          </p:cNvPr>
          <p:cNvSpPr>
            <a:spLocks noGrp="1"/>
          </p:cNvSpPr>
          <p:nvPr>
            <p:ph type="sldNum" sz="quarter" idx="5"/>
          </p:nvPr>
        </p:nvSpPr>
        <p:spPr/>
        <p:txBody>
          <a:bodyPr/>
          <a:lstStyle/>
          <a:p>
            <a:fld id="{92AB39F2-9D70-4676-848B-B3C1FFC554AC}" type="slidenum">
              <a:rPr lang="en-GB" smtClean="0"/>
              <a:t>6</a:t>
            </a:fld>
            <a:endParaRPr lang="en-GB" dirty="0"/>
          </a:p>
        </p:txBody>
      </p:sp>
    </p:spTree>
    <p:extLst>
      <p:ext uri="{BB962C8B-B14F-4D97-AF65-F5344CB8AC3E}">
        <p14:creationId xmlns:p14="http://schemas.microsoft.com/office/powerpoint/2010/main" val="2360818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0B5C1-1DF0-2F83-63E5-5958B5A9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BF4B1-008E-2BB9-6355-00372E2122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75D7610-3608-2590-7EF7-C913A723645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831226A-986A-F821-39BA-DBCE7FDFFF87}"/>
              </a:ext>
            </a:extLst>
          </p:cNvPr>
          <p:cNvSpPr>
            <a:spLocks noGrp="1"/>
          </p:cNvSpPr>
          <p:nvPr>
            <p:ph type="sldNum" sz="quarter" idx="5"/>
          </p:nvPr>
        </p:nvSpPr>
        <p:spPr/>
        <p:txBody>
          <a:bodyPr/>
          <a:lstStyle/>
          <a:p>
            <a:fld id="{92AB39F2-9D70-4676-848B-B3C1FFC554AC}" type="slidenum">
              <a:rPr lang="en-GB" smtClean="0"/>
              <a:t>7</a:t>
            </a:fld>
            <a:endParaRPr lang="en-GB" dirty="0"/>
          </a:p>
        </p:txBody>
      </p:sp>
    </p:spTree>
    <p:extLst>
      <p:ext uri="{BB962C8B-B14F-4D97-AF65-F5344CB8AC3E}">
        <p14:creationId xmlns:p14="http://schemas.microsoft.com/office/powerpoint/2010/main" val="3863207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28367-90AF-BCC8-D977-FBB9A2307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E2E97-23FF-3D9D-38E2-91639FD1B2F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04E59D7-3CF6-1D54-B87E-7CDF19B94A60}"/>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9831BFCC-C5B9-5E91-FC9B-77046C1F279D}"/>
              </a:ext>
            </a:extLst>
          </p:cNvPr>
          <p:cNvSpPr>
            <a:spLocks noGrp="1"/>
          </p:cNvSpPr>
          <p:nvPr>
            <p:ph type="sldNum" sz="quarter" idx="5"/>
          </p:nvPr>
        </p:nvSpPr>
        <p:spPr/>
        <p:txBody>
          <a:bodyPr/>
          <a:lstStyle/>
          <a:p>
            <a:fld id="{92AB39F2-9D70-4676-848B-B3C1FFC554AC}" type="slidenum">
              <a:rPr lang="en-GB" smtClean="0"/>
              <a:t>8</a:t>
            </a:fld>
            <a:endParaRPr lang="en-GB" dirty="0"/>
          </a:p>
        </p:txBody>
      </p:sp>
    </p:spTree>
    <p:extLst>
      <p:ext uri="{BB962C8B-B14F-4D97-AF65-F5344CB8AC3E}">
        <p14:creationId xmlns:p14="http://schemas.microsoft.com/office/powerpoint/2010/main" val="410127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EF32-75B2-6EDE-77C8-A7F48A417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CB55C-CF66-2487-FC44-3794633C2F4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EFD98AE-9963-2CBA-24E3-A49EA486C2C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11F891-0B06-AC79-27C2-9E3178AD4F04}"/>
              </a:ext>
            </a:extLst>
          </p:cNvPr>
          <p:cNvSpPr>
            <a:spLocks noGrp="1"/>
          </p:cNvSpPr>
          <p:nvPr>
            <p:ph type="sldNum" sz="quarter" idx="5"/>
          </p:nvPr>
        </p:nvSpPr>
        <p:spPr/>
        <p:txBody>
          <a:bodyPr/>
          <a:lstStyle/>
          <a:p>
            <a:fld id="{92AB39F2-9D70-4676-848B-B3C1FFC554AC}" type="slidenum">
              <a:rPr lang="en-GB" smtClean="0"/>
              <a:t>9</a:t>
            </a:fld>
            <a:endParaRPr lang="en-GB" dirty="0"/>
          </a:p>
        </p:txBody>
      </p:sp>
    </p:spTree>
    <p:extLst>
      <p:ext uri="{BB962C8B-B14F-4D97-AF65-F5344CB8AC3E}">
        <p14:creationId xmlns:p14="http://schemas.microsoft.com/office/powerpoint/2010/main" val="1299250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2079-78D7-3062-7FF3-E405E9EE6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4CF2C-4E8A-C4EC-FD62-3DEFE9A9DEE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B3736E0-0F5A-168B-4489-2697A1F7EC55}"/>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5F19F69B-AECB-11BE-892B-BB4AEC06B38F}"/>
              </a:ext>
            </a:extLst>
          </p:cNvPr>
          <p:cNvSpPr>
            <a:spLocks noGrp="1"/>
          </p:cNvSpPr>
          <p:nvPr>
            <p:ph type="sldNum" sz="quarter" idx="5"/>
          </p:nvPr>
        </p:nvSpPr>
        <p:spPr/>
        <p:txBody>
          <a:bodyPr/>
          <a:lstStyle/>
          <a:p>
            <a:fld id="{92AB39F2-9D70-4676-848B-B3C1FFC554AC}" type="slidenum">
              <a:rPr lang="en-GB" smtClean="0"/>
              <a:t>10</a:t>
            </a:fld>
            <a:endParaRPr lang="en-GB" dirty="0"/>
          </a:p>
        </p:txBody>
      </p:sp>
    </p:spTree>
    <p:extLst>
      <p:ext uri="{BB962C8B-B14F-4D97-AF65-F5344CB8AC3E}">
        <p14:creationId xmlns:p14="http://schemas.microsoft.com/office/powerpoint/2010/main" val="3397082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829B-CC12-D3D3-807E-9DED65B8C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C4BA0-F34D-64C0-2460-AEF012E74E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D65F606-A90D-EF45-48C9-D37F0FC637FE}"/>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329360F6-DC19-3F83-140E-8E789C6D5D2E}"/>
              </a:ext>
            </a:extLst>
          </p:cNvPr>
          <p:cNvSpPr>
            <a:spLocks noGrp="1"/>
          </p:cNvSpPr>
          <p:nvPr>
            <p:ph type="sldNum" sz="quarter" idx="5"/>
          </p:nvPr>
        </p:nvSpPr>
        <p:spPr/>
        <p:txBody>
          <a:bodyPr/>
          <a:lstStyle/>
          <a:p>
            <a:fld id="{92AB39F2-9D70-4676-848B-B3C1FFC554AC}" type="slidenum">
              <a:rPr lang="en-GB" smtClean="0"/>
              <a:t>11</a:t>
            </a:fld>
            <a:endParaRPr lang="en-GB" dirty="0"/>
          </a:p>
        </p:txBody>
      </p:sp>
    </p:spTree>
    <p:extLst>
      <p:ext uri="{BB962C8B-B14F-4D97-AF65-F5344CB8AC3E}">
        <p14:creationId xmlns:p14="http://schemas.microsoft.com/office/powerpoint/2010/main" val="4249751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9035B-C943-05F1-E29D-FE7FD1322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83E65-BDB3-87BF-9925-08A6F453E44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FFFF0CF-8511-E45D-7B9C-3F08607E0709}"/>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B0822B24-B68B-016B-DEBB-F5BBCD75BF34}"/>
              </a:ext>
            </a:extLst>
          </p:cNvPr>
          <p:cNvSpPr>
            <a:spLocks noGrp="1"/>
          </p:cNvSpPr>
          <p:nvPr>
            <p:ph type="sldNum" sz="quarter" idx="5"/>
          </p:nvPr>
        </p:nvSpPr>
        <p:spPr/>
        <p:txBody>
          <a:bodyPr/>
          <a:lstStyle/>
          <a:p>
            <a:fld id="{92AB39F2-9D70-4676-848B-B3C1FFC554AC}" type="slidenum">
              <a:rPr lang="en-GB" smtClean="0"/>
              <a:t>12</a:t>
            </a:fld>
            <a:endParaRPr lang="en-GB" dirty="0"/>
          </a:p>
        </p:txBody>
      </p:sp>
    </p:spTree>
    <p:extLst>
      <p:ext uri="{BB962C8B-B14F-4D97-AF65-F5344CB8AC3E}">
        <p14:creationId xmlns:p14="http://schemas.microsoft.com/office/powerpoint/2010/main" val="2869697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DD1F-8FA4-EC9F-DD69-30A503F06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CF3B8-5011-312D-273C-C9308405883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5FABC93-2654-004F-222D-8727F504941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000E266-EEAC-4CCD-52F1-4F2B1826A776}"/>
              </a:ext>
            </a:extLst>
          </p:cNvPr>
          <p:cNvSpPr>
            <a:spLocks noGrp="1"/>
          </p:cNvSpPr>
          <p:nvPr>
            <p:ph type="sldNum" sz="quarter" idx="5"/>
          </p:nvPr>
        </p:nvSpPr>
        <p:spPr/>
        <p:txBody>
          <a:bodyPr/>
          <a:lstStyle/>
          <a:p>
            <a:fld id="{92AB39F2-9D70-4676-848B-B3C1FFC554AC}" type="slidenum">
              <a:rPr lang="en-GB" smtClean="0"/>
              <a:t>13</a:t>
            </a:fld>
            <a:endParaRPr lang="en-GB" dirty="0"/>
          </a:p>
        </p:txBody>
      </p:sp>
    </p:spTree>
    <p:extLst>
      <p:ext uri="{BB962C8B-B14F-4D97-AF65-F5344CB8AC3E}">
        <p14:creationId xmlns:p14="http://schemas.microsoft.com/office/powerpoint/2010/main" val="3460370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475F-541A-F0B1-60F4-E91AB14EC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90AF7-42F7-F5C0-BFAC-8792B59CEF5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9B4D127-BDB7-B728-C1D4-E5679E911BFD}"/>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636374F2-8FBF-3D00-E0C7-0CE967B808AD}"/>
              </a:ext>
            </a:extLst>
          </p:cNvPr>
          <p:cNvSpPr>
            <a:spLocks noGrp="1"/>
          </p:cNvSpPr>
          <p:nvPr>
            <p:ph type="sldNum" sz="quarter" idx="5"/>
          </p:nvPr>
        </p:nvSpPr>
        <p:spPr/>
        <p:txBody>
          <a:bodyPr/>
          <a:lstStyle/>
          <a:p>
            <a:fld id="{92AB39F2-9D70-4676-848B-B3C1FFC554AC}" type="slidenum">
              <a:rPr lang="en-GB" smtClean="0"/>
              <a:t>14</a:t>
            </a:fld>
            <a:endParaRPr lang="en-GB" dirty="0"/>
          </a:p>
        </p:txBody>
      </p:sp>
    </p:spTree>
    <p:extLst>
      <p:ext uri="{BB962C8B-B14F-4D97-AF65-F5344CB8AC3E}">
        <p14:creationId xmlns:p14="http://schemas.microsoft.com/office/powerpoint/2010/main" val="1515545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5E02-EEAE-A5F7-5690-D408255A6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3DD99-3BA3-5E2D-7551-84B4C0F2CAA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78A2BDF-8CC6-0B62-5FA9-D01E7BE95005}"/>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7BAA2EE2-8942-6920-3FB3-459FE5309E7F}"/>
              </a:ext>
            </a:extLst>
          </p:cNvPr>
          <p:cNvSpPr>
            <a:spLocks noGrp="1"/>
          </p:cNvSpPr>
          <p:nvPr>
            <p:ph type="sldNum" sz="quarter" idx="5"/>
          </p:nvPr>
        </p:nvSpPr>
        <p:spPr/>
        <p:txBody>
          <a:bodyPr/>
          <a:lstStyle/>
          <a:p>
            <a:fld id="{92AB39F2-9D70-4676-848B-B3C1FFC554AC}" type="slidenum">
              <a:rPr lang="en-GB" smtClean="0"/>
              <a:t>15</a:t>
            </a:fld>
            <a:endParaRPr lang="en-GB" dirty="0"/>
          </a:p>
        </p:txBody>
      </p:sp>
    </p:spTree>
    <p:extLst>
      <p:ext uri="{BB962C8B-B14F-4D97-AF65-F5344CB8AC3E}">
        <p14:creationId xmlns:p14="http://schemas.microsoft.com/office/powerpoint/2010/main" val="4216669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6B71D-A724-894C-7766-0086C60F8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90756-C6A7-34D1-F2EE-15AB03535A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E517267-356C-437E-AEBA-5780DED349C6}"/>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72D6BCBC-7A6B-2771-AD77-C50D37CD767A}"/>
              </a:ext>
            </a:extLst>
          </p:cNvPr>
          <p:cNvSpPr>
            <a:spLocks noGrp="1"/>
          </p:cNvSpPr>
          <p:nvPr>
            <p:ph type="sldNum" sz="quarter" idx="5"/>
          </p:nvPr>
        </p:nvSpPr>
        <p:spPr/>
        <p:txBody>
          <a:bodyPr/>
          <a:lstStyle/>
          <a:p>
            <a:fld id="{92AB39F2-9D70-4676-848B-B3C1FFC554AC}" type="slidenum">
              <a:rPr lang="en-GB" smtClean="0"/>
              <a:t>16</a:t>
            </a:fld>
            <a:endParaRPr lang="en-GB" dirty="0"/>
          </a:p>
        </p:txBody>
      </p:sp>
    </p:spTree>
    <p:extLst>
      <p:ext uri="{BB962C8B-B14F-4D97-AF65-F5344CB8AC3E}">
        <p14:creationId xmlns:p14="http://schemas.microsoft.com/office/powerpoint/2010/main" val="705492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B9CB-C967-BAC7-79F7-1D123DB83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AA4AC-BEBB-E812-02AB-A60714A763C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9460366-7AAE-AA82-EE03-84B4003109F4}"/>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D9E6169D-6086-6D36-189B-5B4BE3AD59C4}"/>
              </a:ext>
            </a:extLst>
          </p:cNvPr>
          <p:cNvSpPr>
            <a:spLocks noGrp="1"/>
          </p:cNvSpPr>
          <p:nvPr>
            <p:ph type="sldNum" sz="quarter" idx="5"/>
          </p:nvPr>
        </p:nvSpPr>
        <p:spPr/>
        <p:txBody>
          <a:bodyPr/>
          <a:lstStyle/>
          <a:p>
            <a:fld id="{92AB39F2-9D70-4676-848B-B3C1FFC554AC}" type="slidenum">
              <a:rPr lang="en-GB" smtClean="0"/>
              <a:t>17</a:t>
            </a:fld>
            <a:endParaRPr lang="en-GB" dirty="0"/>
          </a:p>
        </p:txBody>
      </p:sp>
    </p:spTree>
    <p:extLst>
      <p:ext uri="{BB962C8B-B14F-4D97-AF65-F5344CB8AC3E}">
        <p14:creationId xmlns:p14="http://schemas.microsoft.com/office/powerpoint/2010/main" val="4148855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F652-0AC6-90D8-4123-8515AA1B6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6B867-F255-218D-BB4F-C1824996D7A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59F813-6E7C-5D89-D593-0A4A60A72405}"/>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4EAAF495-E5D5-9DB8-D7D6-F63672FF3140}"/>
              </a:ext>
            </a:extLst>
          </p:cNvPr>
          <p:cNvSpPr>
            <a:spLocks noGrp="1"/>
          </p:cNvSpPr>
          <p:nvPr>
            <p:ph type="sldNum" sz="quarter" idx="5"/>
          </p:nvPr>
        </p:nvSpPr>
        <p:spPr/>
        <p:txBody>
          <a:bodyPr/>
          <a:lstStyle/>
          <a:p>
            <a:fld id="{92AB39F2-9D70-4676-848B-B3C1FFC554AC}" type="slidenum">
              <a:rPr lang="en-GB" smtClean="0"/>
              <a:t>18</a:t>
            </a:fld>
            <a:endParaRPr lang="en-GB" dirty="0"/>
          </a:p>
        </p:txBody>
      </p:sp>
    </p:spTree>
    <p:extLst>
      <p:ext uri="{BB962C8B-B14F-4D97-AF65-F5344CB8AC3E}">
        <p14:creationId xmlns:p14="http://schemas.microsoft.com/office/powerpoint/2010/main" val="2308903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0D573-D44E-22E5-7F3A-3EAB18E3C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6953-72DE-7860-B0E3-65115419CBA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DB8828C-B05B-40F5-B471-7B124B693CA1}"/>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D6DCD84C-3879-8797-060A-ED7D5B00C32B}"/>
              </a:ext>
            </a:extLst>
          </p:cNvPr>
          <p:cNvSpPr>
            <a:spLocks noGrp="1"/>
          </p:cNvSpPr>
          <p:nvPr>
            <p:ph type="sldNum" sz="quarter" idx="5"/>
          </p:nvPr>
        </p:nvSpPr>
        <p:spPr/>
        <p:txBody>
          <a:bodyPr/>
          <a:lstStyle/>
          <a:p>
            <a:fld id="{92AB39F2-9D70-4676-848B-B3C1FFC554AC}" type="slidenum">
              <a:rPr lang="en-GB" smtClean="0"/>
              <a:t>19</a:t>
            </a:fld>
            <a:endParaRPr lang="en-GB" dirty="0"/>
          </a:p>
        </p:txBody>
      </p:sp>
    </p:spTree>
    <p:extLst>
      <p:ext uri="{BB962C8B-B14F-4D97-AF65-F5344CB8AC3E}">
        <p14:creationId xmlns:p14="http://schemas.microsoft.com/office/powerpoint/2010/main" val="26849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F8442-D09D-4522-4A3B-AB0986864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6BDAE-9204-B56A-9DEE-CBF15208380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4D9728C-A740-43F5-D0A1-3B84F062A8BF}"/>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1BBD1D2E-75E9-5F8A-724B-856B487FDC2A}"/>
              </a:ext>
            </a:extLst>
          </p:cNvPr>
          <p:cNvSpPr>
            <a:spLocks noGrp="1"/>
          </p:cNvSpPr>
          <p:nvPr>
            <p:ph type="sldNum" sz="quarter" idx="5"/>
          </p:nvPr>
        </p:nvSpPr>
        <p:spPr/>
        <p:txBody>
          <a:bodyPr/>
          <a:lstStyle/>
          <a:p>
            <a:fld id="{92AB39F2-9D70-4676-848B-B3C1FFC554AC}" type="slidenum">
              <a:rPr lang="en-GB" smtClean="0"/>
              <a:t>20</a:t>
            </a:fld>
            <a:endParaRPr lang="en-GB" dirty="0"/>
          </a:p>
        </p:txBody>
      </p:sp>
    </p:spTree>
    <p:extLst>
      <p:ext uri="{BB962C8B-B14F-4D97-AF65-F5344CB8AC3E}">
        <p14:creationId xmlns:p14="http://schemas.microsoft.com/office/powerpoint/2010/main" val="2578119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858D-8485-845C-FF49-777A70C9D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35AC9-1158-575F-31B9-3FC575A0A86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7A23DBF-653F-354D-91F4-3E469CB2B5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p:txBody>
      </p:sp>
      <p:sp>
        <p:nvSpPr>
          <p:cNvPr id="4" name="Slide Number Placeholder 3">
            <a:extLst>
              <a:ext uri="{FF2B5EF4-FFF2-40B4-BE49-F238E27FC236}">
                <a16:creationId xmlns:a16="http://schemas.microsoft.com/office/drawing/2014/main" id="{B4F7DBE1-F913-1F02-14CC-11F74536D216}"/>
              </a:ext>
            </a:extLst>
          </p:cNvPr>
          <p:cNvSpPr>
            <a:spLocks noGrp="1"/>
          </p:cNvSpPr>
          <p:nvPr>
            <p:ph type="sldNum" sz="quarter" idx="5"/>
          </p:nvPr>
        </p:nvSpPr>
        <p:spPr/>
        <p:txBody>
          <a:bodyPr/>
          <a:lstStyle/>
          <a:p>
            <a:fld id="{92AB39F2-9D70-4676-848B-B3C1FFC554AC}" type="slidenum">
              <a:rPr lang="en-GB" smtClean="0"/>
              <a:t>21</a:t>
            </a:fld>
            <a:endParaRPr lang="en-GB" dirty="0"/>
          </a:p>
        </p:txBody>
      </p:sp>
    </p:spTree>
    <p:extLst>
      <p:ext uri="{BB962C8B-B14F-4D97-AF65-F5344CB8AC3E}">
        <p14:creationId xmlns:p14="http://schemas.microsoft.com/office/powerpoint/2010/main" val="2349069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4098A-2D13-9D37-2234-A4E017F7F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294BA-B85F-7B59-828E-2583A2FA8DD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56B706-07E5-10BA-61F9-D040BBAC790D}"/>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90A447BD-38AA-264F-1905-66902B195335}"/>
              </a:ext>
            </a:extLst>
          </p:cNvPr>
          <p:cNvSpPr>
            <a:spLocks noGrp="1"/>
          </p:cNvSpPr>
          <p:nvPr>
            <p:ph type="sldNum" sz="quarter" idx="5"/>
          </p:nvPr>
        </p:nvSpPr>
        <p:spPr/>
        <p:txBody>
          <a:bodyPr/>
          <a:lstStyle/>
          <a:p>
            <a:fld id="{92AB39F2-9D70-4676-848B-B3C1FFC554AC}" type="slidenum">
              <a:rPr lang="en-GB" smtClean="0"/>
              <a:t>22</a:t>
            </a:fld>
            <a:endParaRPr lang="en-GB" dirty="0"/>
          </a:p>
        </p:txBody>
      </p:sp>
    </p:spTree>
    <p:extLst>
      <p:ext uri="{BB962C8B-B14F-4D97-AF65-F5344CB8AC3E}">
        <p14:creationId xmlns:p14="http://schemas.microsoft.com/office/powerpoint/2010/main" val="3859199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C911-30EF-7A93-70C1-9B496856C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BCF93-9CB9-3E3E-DAB4-4172D01C8C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68CA462-5040-867A-A3B4-90E6B8FC0EE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4C5867B-5214-59BE-63E0-5AC24BA75829}"/>
              </a:ext>
            </a:extLst>
          </p:cNvPr>
          <p:cNvSpPr>
            <a:spLocks noGrp="1"/>
          </p:cNvSpPr>
          <p:nvPr>
            <p:ph type="sldNum" sz="quarter" idx="5"/>
          </p:nvPr>
        </p:nvSpPr>
        <p:spPr/>
        <p:txBody>
          <a:bodyPr/>
          <a:lstStyle/>
          <a:p>
            <a:fld id="{92AB39F2-9D70-4676-848B-B3C1FFC554AC}" type="slidenum">
              <a:rPr lang="en-GB" smtClean="0"/>
              <a:t>23</a:t>
            </a:fld>
            <a:endParaRPr lang="en-GB" dirty="0"/>
          </a:p>
        </p:txBody>
      </p:sp>
    </p:spTree>
    <p:extLst>
      <p:ext uri="{BB962C8B-B14F-4D97-AF65-F5344CB8AC3E}">
        <p14:creationId xmlns:p14="http://schemas.microsoft.com/office/powerpoint/2010/main" val="94710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8C94-D063-FC8D-8BAA-06331D607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9666D-0B2D-B8A1-51BE-741402555A3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CA879D-D365-7A7C-929F-D43AD8F407B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05F27F4-6665-4619-572F-8CEC9C7D78F7}"/>
              </a:ext>
            </a:extLst>
          </p:cNvPr>
          <p:cNvSpPr>
            <a:spLocks noGrp="1"/>
          </p:cNvSpPr>
          <p:nvPr>
            <p:ph type="sldNum" sz="quarter" idx="5"/>
          </p:nvPr>
        </p:nvSpPr>
        <p:spPr/>
        <p:txBody>
          <a:bodyPr/>
          <a:lstStyle/>
          <a:p>
            <a:fld id="{92AB39F2-9D70-4676-848B-B3C1FFC554AC}" type="slidenum">
              <a:rPr lang="en-GB" smtClean="0"/>
              <a:t>24</a:t>
            </a:fld>
            <a:endParaRPr lang="en-GB" dirty="0"/>
          </a:p>
        </p:txBody>
      </p:sp>
    </p:spTree>
    <p:extLst>
      <p:ext uri="{BB962C8B-B14F-4D97-AF65-F5344CB8AC3E}">
        <p14:creationId xmlns:p14="http://schemas.microsoft.com/office/powerpoint/2010/main" val="674593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BC745-5F29-5BDF-0F55-1D57A047B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9942E-4901-2F1F-43E1-A618399EE7D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815904-BC9A-A81B-1A74-2893D14AC946}"/>
              </a:ext>
            </a:extLst>
          </p:cNvPr>
          <p:cNvSpPr>
            <a:spLocks noGrp="1"/>
          </p:cNvSpPr>
          <p:nvPr>
            <p:ph type="body" idx="1"/>
          </p:nvPr>
        </p:nvSpPr>
        <p:spPr/>
        <p:txBody>
          <a:bodyPr/>
          <a:lstStyle/>
          <a:p>
            <a:pPr marL="171450" indent="-171450">
              <a:buFontTx/>
              <a:buChar char="-"/>
            </a:pPr>
          </a:p>
        </p:txBody>
      </p:sp>
      <p:sp>
        <p:nvSpPr>
          <p:cNvPr id="4" name="Slide Number Placeholder 3">
            <a:extLst>
              <a:ext uri="{FF2B5EF4-FFF2-40B4-BE49-F238E27FC236}">
                <a16:creationId xmlns:a16="http://schemas.microsoft.com/office/drawing/2014/main" id="{7BF264CB-8668-72BF-6A11-1736808213E4}"/>
              </a:ext>
            </a:extLst>
          </p:cNvPr>
          <p:cNvSpPr>
            <a:spLocks noGrp="1"/>
          </p:cNvSpPr>
          <p:nvPr>
            <p:ph type="sldNum" sz="quarter" idx="5"/>
          </p:nvPr>
        </p:nvSpPr>
        <p:spPr/>
        <p:txBody>
          <a:bodyPr/>
          <a:lstStyle/>
          <a:p>
            <a:fld id="{92AB39F2-9D70-4676-848B-B3C1FFC554AC}" type="slidenum">
              <a:rPr lang="en-GB" smtClean="0"/>
              <a:t>25</a:t>
            </a:fld>
            <a:endParaRPr lang="en-GB" dirty="0"/>
          </a:p>
        </p:txBody>
      </p:sp>
    </p:spTree>
    <p:extLst>
      <p:ext uri="{BB962C8B-B14F-4D97-AF65-F5344CB8AC3E}">
        <p14:creationId xmlns:p14="http://schemas.microsoft.com/office/powerpoint/2010/main" val="10254305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DD39-0D5E-577F-B981-548214DDD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30FB4-0A19-5794-9BFC-9DA0200962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9FB62F1-7B37-8E67-E8AD-FCDE1EF582AA}"/>
              </a:ext>
            </a:extLst>
          </p:cNvPr>
          <p:cNvSpPr>
            <a:spLocks noGrp="1"/>
          </p:cNvSpPr>
          <p:nvPr>
            <p:ph type="body" idx="1"/>
          </p:nvPr>
        </p:nvSpPr>
        <p:spPr/>
        <p:txBody>
          <a:bodyPr/>
          <a:lstStyle/>
          <a:p>
            <a:pPr marL="171450" indent="-171450">
              <a:buFontTx/>
              <a:buChar char="-"/>
            </a:pPr>
          </a:p>
        </p:txBody>
      </p:sp>
      <p:sp>
        <p:nvSpPr>
          <p:cNvPr id="4" name="Slide Number Placeholder 3">
            <a:extLst>
              <a:ext uri="{FF2B5EF4-FFF2-40B4-BE49-F238E27FC236}">
                <a16:creationId xmlns:a16="http://schemas.microsoft.com/office/drawing/2014/main" id="{E04A2E38-958A-B45A-94F7-5927821AC82F}"/>
              </a:ext>
            </a:extLst>
          </p:cNvPr>
          <p:cNvSpPr>
            <a:spLocks noGrp="1"/>
          </p:cNvSpPr>
          <p:nvPr>
            <p:ph type="sldNum" sz="quarter" idx="5"/>
          </p:nvPr>
        </p:nvSpPr>
        <p:spPr/>
        <p:txBody>
          <a:bodyPr/>
          <a:lstStyle/>
          <a:p>
            <a:fld id="{92AB39F2-9D70-4676-848B-B3C1FFC554AC}" type="slidenum">
              <a:rPr lang="en-GB" smtClean="0"/>
              <a:t>26</a:t>
            </a:fld>
            <a:endParaRPr lang="en-GB" dirty="0"/>
          </a:p>
        </p:txBody>
      </p:sp>
    </p:spTree>
    <p:extLst>
      <p:ext uri="{BB962C8B-B14F-4D97-AF65-F5344CB8AC3E}">
        <p14:creationId xmlns:p14="http://schemas.microsoft.com/office/powerpoint/2010/main" val="4247521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9DB7-053D-2647-F1A0-8FAE59CFD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2A908-5B32-5056-4811-F80FF3780DD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0C86B11-BCFA-A14B-BAE0-63AF264478E7}"/>
              </a:ext>
            </a:extLst>
          </p:cNvPr>
          <p:cNvSpPr>
            <a:spLocks noGrp="1"/>
          </p:cNvSpPr>
          <p:nvPr>
            <p:ph type="body" idx="1"/>
          </p:nvPr>
        </p:nvSpPr>
        <p:spPr/>
        <p:txBody>
          <a:bodyPr/>
          <a:lstStyle/>
          <a:p>
            <a:pPr marL="171450" indent="-171450">
              <a:buFontTx/>
              <a:buChar char="-"/>
            </a:pPr>
          </a:p>
        </p:txBody>
      </p:sp>
      <p:sp>
        <p:nvSpPr>
          <p:cNvPr id="4" name="Slide Number Placeholder 3">
            <a:extLst>
              <a:ext uri="{FF2B5EF4-FFF2-40B4-BE49-F238E27FC236}">
                <a16:creationId xmlns:a16="http://schemas.microsoft.com/office/drawing/2014/main" id="{6D481628-24E0-755D-3636-A8D7CFE267F7}"/>
              </a:ext>
            </a:extLst>
          </p:cNvPr>
          <p:cNvSpPr>
            <a:spLocks noGrp="1"/>
          </p:cNvSpPr>
          <p:nvPr>
            <p:ph type="sldNum" sz="quarter" idx="5"/>
          </p:nvPr>
        </p:nvSpPr>
        <p:spPr/>
        <p:txBody>
          <a:bodyPr/>
          <a:lstStyle/>
          <a:p>
            <a:fld id="{92AB39F2-9D70-4676-848B-B3C1FFC554AC}" type="slidenum">
              <a:rPr lang="en-GB" smtClean="0"/>
              <a:t>27</a:t>
            </a:fld>
            <a:endParaRPr lang="en-GB" dirty="0"/>
          </a:p>
        </p:txBody>
      </p:sp>
    </p:spTree>
    <p:extLst>
      <p:ext uri="{BB962C8B-B14F-4D97-AF65-F5344CB8AC3E}">
        <p14:creationId xmlns:p14="http://schemas.microsoft.com/office/powerpoint/2010/main" val="1267655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5DA16-F324-99BD-49B4-3015A4533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2A9B2-611A-C78A-38E7-07F5719334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CA9333-7488-A0CC-5AE9-95EFCD5911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p>
        </p:txBody>
      </p:sp>
      <p:sp>
        <p:nvSpPr>
          <p:cNvPr id="4" name="Slide Number Placeholder 3">
            <a:extLst>
              <a:ext uri="{FF2B5EF4-FFF2-40B4-BE49-F238E27FC236}">
                <a16:creationId xmlns:a16="http://schemas.microsoft.com/office/drawing/2014/main" id="{9F814D4C-9E36-3710-7063-4CCC821ED9C0}"/>
              </a:ext>
            </a:extLst>
          </p:cNvPr>
          <p:cNvSpPr>
            <a:spLocks noGrp="1"/>
          </p:cNvSpPr>
          <p:nvPr>
            <p:ph type="sldNum" sz="quarter" idx="5"/>
          </p:nvPr>
        </p:nvSpPr>
        <p:spPr/>
        <p:txBody>
          <a:bodyPr/>
          <a:lstStyle/>
          <a:p>
            <a:fld id="{92AB39F2-9D70-4676-848B-B3C1FFC554AC}" type="slidenum">
              <a:rPr lang="en-GB" smtClean="0"/>
              <a:t>28</a:t>
            </a:fld>
            <a:endParaRPr lang="en-GB" dirty="0"/>
          </a:p>
        </p:txBody>
      </p:sp>
    </p:spTree>
    <p:extLst>
      <p:ext uri="{BB962C8B-B14F-4D97-AF65-F5344CB8AC3E}">
        <p14:creationId xmlns:p14="http://schemas.microsoft.com/office/powerpoint/2010/main" val="2286986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B0800-14B4-D155-8E99-E23AEF19B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F665E-FF42-B2F0-E343-77CB032F544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5B5F121-BD73-CCC7-48F5-3672B5EA05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07CC507-CA6C-A20A-4D68-3A8D8E1DF28B}"/>
              </a:ext>
            </a:extLst>
          </p:cNvPr>
          <p:cNvSpPr>
            <a:spLocks noGrp="1"/>
          </p:cNvSpPr>
          <p:nvPr>
            <p:ph type="sldNum" sz="quarter" idx="5"/>
          </p:nvPr>
        </p:nvSpPr>
        <p:spPr/>
        <p:txBody>
          <a:bodyPr/>
          <a:lstStyle/>
          <a:p>
            <a:fld id="{92AB39F2-9D70-4676-848B-B3C1FFC554AC}" type="slidenum">
              <a:rPr lang="en-GB" smtClean="0"/>
              <a:t>29</a:t>
            </a:fld>
            <a:endParaRPr lang="en-GB" dirty="0"/>
          </a:p>
        </p:txBody>
      </p:sp>
    </p:spTree>
    <p:extLst>
      <p:ext uri="{BB962C8B-B14F-4D97-AF65-F5344CB8AC3E}">
        <p14:creationId xmlns:p14="http://schemas.microsoft.com/office/powerpoint/2010/main" val="1467774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BE8D-DDE1-16A0-D33D-20153437A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65963-052F-5B1F-1EF7-93740C260A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2A93F5-4239-CF7E-4F3A-E116C1CB091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F40298-E20E-0CA3-366F-6384CDEB9998}"/>
              </a:ext>
            </a:extLst>
          </p:cNvPr>
          <p:cNvSpPr>
            <a:spLocks noGrp="1"/>
          </p:cNvSpPr>
          <p:nvPr>
            <p:ph type="sldNum" sz="quarter" idx="5"/>
          </p:nvPr>
        </p:nvSpPr>
        <p:spPr/>
        <p:txBody>
          <a:bodyPr/>
          <a:lstStyle/>
          <a:p>
            <a:fld id="{92AB39F2-9D70-4676-848B-B3C1FFC554AC}" type="slidenum">
              <a:rPr lang="en-GB" smtClean="0"/>
              <a:t>30</a:t>
            </a:fld>
            <a:endParaRPr lang="en-GB" dirty="0"/>
          </a:p>
        </p:txBody>
      </p:sp>
    </p:spTree>
    <p:extLst>
      <p:ext uri="{BB962C8B-B14F-4D97-AF65-F5344CB8AC3E}">
        <p14:creationId xmlns:p14="http://schemas.microsoft.com/office/powerpoint/2010/main" val="1094416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6A40-C05C-23B2-A95F-1A56DED4E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7497D-8854-2203-1623-73C53389F0F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89E26CD-C0C2-1209-5B62-29D73306958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E24C61-1A8D-7FD1-B12D-6611D854A4F5}"/>
              </a:ext>
            </a:extLst>
          </p:cNvPr>
          <p:cNvSpPr>
            <a:spLocks noGrp="1"/>
          </p:cNvSpPr>
          <p:nvPr>
            <p:ph type="sldNum" sz="quarter" idx="5"/>
          </p:nvPr>
        </p:nvSpPr>
        <p:spPr/>
        <p:txBody>
          <a:bodyPr/>
          <a:lstStyle/>
          <a:p>
            <a:fld id="{92AB39F2-9D70-4676-848B-B3C1FFC554AC}" type="slidenum">
              <a:rPr lang="en-GB" smtClean="0"/>
              <a:t>31</a:t>
            </a:fld>
            <a:endParaRPr lang="en-GB" dirty="0"/>
          </a:p>
        </p:txBody>
      </p:sp>
    </p:spTree>
    <p:extLst>
      <p:ext uri="{BB962C8B-B14F-4D97-AF65-F5344CB8AC3E}">
        <p14:creationId xmlns:p14="http://schemas.microsoft.com/office/powerpoint/2010/main" val="2125387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9089C-ED75-1CB3-E136-11736B436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10758-0263-FBC1-20BD-E67CCBCBA1F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CB2A85F-6ACF-3BC0-E4EF-0B0B54CBAA5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98F5E2-FB86-34DF-2F40-6FAD8738AF6A}"/>
              </a:ext>
            </a:extLst>
          </p:cNvPr>
          <p:cNvSpPr>
            <a:spLocks noGrp="1"/>
          </p:cNvSpPr>
          <p:nvPr>
            <p:ph type="sldNum" sz="quarter" idx="5"/>
          </p:nvPr>
        </p:nvSpPr>
        <p:spPr/>
        <p:txBody>
          <a:bodyPr/>
          <a:lstStyle/>
          <a:p>
            <a:fld id="{92AB39F2-9D70-4676-848B-B3C1FFC554AC}" type="slidenum">
              <a:rPr lang="en-GB" smtClean="0"/>
              <a:t>32</a:t>
            </a:fld>
            <a:endParaRPr lang="en-GB" dirty="0"/>
          </a:p>
        </p:txBody>
      </p:sp>
    </p:spTree>
    <p:extLst>
      <p:ext uri="{BB962C8B-B14F-4D97-AF65-F5344CB8AC3E}">
        <p14:creationId xmlns:p14="http://schemas.microsoft.com/office/powerpoint/2010/main" val="12129487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DF089-8556-560A-580F-988E8F7B0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B0E41-C6A8-92F4-00D2-A18E69B6921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66DE346-4323-C430-5F64-62EA436EB8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E5E7742-D195-C49E-6C56-EA423BB59AA7}"/>
              </a:ext>
            </a:extLst>
          </p:cNvPr>
          <p:cNvSpPr>
            <a:spLocks noGrp="1"/>
          </p:cNvSpPr>
          <p:nvPr>
            <p:ph type="sldNum" sz="quarter" idx="5"/>
          </p:nvPr>
        </p:nvSpPr>
        <p:spPr/>
        <p:txBody>
          <a:bodyPr/>
          <a:lstStyle/>
          <a:p>
            <a:fld id="{92AB39F2-9D70-4676-848B-B3C1FFC554AC}" type="slidenum">
              <a:rPr lang="en-GB" smtClean="0"/>
              <a:t>33</a:t>
            </a:fld>
            <a:endParaRPr lang="en-GB" dirty="0"/>
          </a:p>
        </p:txBody>
      </p:sp>
    </p:spTree>
    <p:extLst>
      <p:ext uri="{BB962C8B-B14F-4D97-AF65-F5344CB8AC3E}">
        <p14:creationId xmlns:p14="http://schemas.microsoft.com/office/powerpoint/2010/main" val="3059511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90E35-07B6-8100-5381-281C516CF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7808F-A9CB-6E0B-D1A5-523D202965D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0DACC5-A980-8CDD-FAC0-1AD11661B69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001E9D-D678-8560-4CAB-DA3880859ED5}"/>
              </a:ext>
            </a:extLst>
          </p:cNvPr>
          <p:cNvSpPr>
            <a:spLocks noGrp="1"/>
          </p:cNvSpPr>
          <p:nvPr>
            <p:ph type="sldNum" sz="quarter" idx="5"/>
          </p:nvPr>
        </p:nvSpPr>
        <p:spPr/>
        <p:txBody>
          <a:bodyPr/>
          <a:lstStyle/>
          <a:p>
            <a:fld id="{92AB39F2-9D70-4676-848B-B3C1FFC554AC}" type="slidenum">
              <a:rPr lang="en-GB" smtClean="0"/>
              <a:t>34</a:t>
            </a:fld>
            <a:endParaRPr lang="en-GB" dirty="0"/>
          </a:p>
        </p:txBody>
      </p:sp>
    </p:spTree>
    <p:extLst>
      <p:ext uri="{BB962C8B-B14F-4D97-AF65-F5344CB8AC3E}">
        <p14:creationId xmlns:p14="http://schemas.microsoft.com/office/powerpoint/2010/main" val="23245187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973D5-4785-20F5-7EBA-896AD547D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BB004-659C-F9D8-3EA5-5FBEB79C899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5F8633-FC36-73ED-6758-A00CAC7D5F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7FE0F34-24EA-F63E-AA6D-4808471940FF}"/>
              </a:ext>
            </a:extLst>
          </p:cNvPr>
          <p:cNvSpPr>
            <a:spLocks noGrp="1"/>
          </p:cNvSpPr>
          <p:nvPr>
            <p:ph type="sldNum" sz="quarter" idx="5"/>
          </p:nvPr>
        </p:nvSpPr>
        <p:spPr/>
        <p:txBody>
          <a:bodyPr/>
          <a:lstStyle/>
          <a:p>
            <a:fld id="{92AB39F2-9D70-4676-848B-B3C1FFC554AC}" type="slidenum">
              <a:rPr lang="en-GB" smtClean="0"/>
              <a:t>35</a:t>
            </a:fld>
            <a:endParaRPr lang="en-GB" dirty="0"/>
          </a:p>
        </p:txBody>
      </p:sp>
    </p:spTree>
    <p:extLst>
      <p:ext uri="{BB962C8B-B14F-4D97-AF65-F5344CB8AC3E}">
        <p14:creationId xmlns:p14="http://schemas.microsoft.com/office/powerpoint/2010/main" val="721899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4B571-4D50-FB8E-8AF1-AB9CFD32E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7F8AF-FADA-97D0-886F-43AD924C219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A980F2E-55AB-FC41-0B0F-B817AB2196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1CEA24-1699-04B6-524F-DBEA10A04124}"/>
              </a:ext>
            </a:extLst>
          </p:cNvPr>
          <p:cNvSpPr>
            <a:spLocks noGrp="1"/>
          </p:cNvSpPr>
          <p:nvPr>
            <p:ph type="sldNum" sz="quarter" idx="5"/>
          </p:nvPr>
        </p:nvSpPr>
        <p:spPr/>
        <p:txBody>
          <a:bodyPr/>
          <a:lstStyle/>
          <a:p>
            <a:fld id="{92AB39F2-9D70-4676-848B-B3C1FFC554AC}" type="slidenum">
              <a:rPr lang="en-GB" smtClean="0"/>
              <a:t>36</a:t>
            </a:fld>
            <a:endParaRPr lang="en-GB" dirty="0"/>
          </a:p>
        </p:txBody>
      </p:sp>
    </p:spTree>
    <p:extLst>
      <p:ext uri="{BB962C8B-B14F-4D97-AF65-F5344CB8AC3E}">
        <p14:creationId xmlns:p14="http://schemas.microsoft.com/office/powerpoint/2010/main" val="18393680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F267-955F-E0ED-9C49-E813D019E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66324-FDA1-0318-591C-A4C24828954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8117701-E289-1A85-BA40-5057699E6D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238ECE4-BE13-B8FF-9A03-3A6E1CB862E2}"/>
              </a:ext>
            </a:extLst>
          </p:cNvPr>
          <p:cNvSpPr>
            <a:spLocks noGrp="1"/>
          </p:cNvSpPr>
          <p:nvPr>
            <p:ph type="sldNum" sz="quarter" idx="5"/>
          </p:nvPr>
        </p:nvSpPr>
        <p:spPr/>
        <p:txBody>
          <a:bodyPr/>
          <a:lstStyle/>
          <a:p>
            <a:fld id="{92AB39F2-9D70-4676-848B-B3C1FFC554AC}" type="slidenum">
              <a:rPr lang="en-GB" smtClean="0"/>
              <a:t>37</a:t>
            </a:fld>
            <a:endParaRPr lang="en-GB" dirty="0"/>
          </a:p>
        </p:txBody>
      </p:sp>
    </p:spTree>
    <p:extLst>
      <p:ext uri="{BB962C8B-B14F-4D97-AF65-F5344CB8AC3E}">
        <p14:creationId xmlns:p14="http://schemas.microsoft.com/office/powerpoint/2010/main" val="38660181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CB46-E83D-445D-D160-BD477D1F2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72673-071C-A358-E8AD-706112C933C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29F3C2C-3D09-337A-AFCB-B6F87DB1121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3168D50-51F4-8BC6-A125-04EFB83353F1}"/>
              </a:ext>
            </a:extLst>
          </p:cNvPr>
          <p:cNvSpPr>
            <a:spLocks noGrp="1"/>
          </p:cNvSpPr>
          <p:nvPr>
            <p:ph type="sldNum" sz="quarter" idx="5"/>
          </p:nvPr>
        </p:nvSpPr>
        <p:spPr/>
        <p:txBody>
          <a:bodyPr/>
          <a:lstStyle/>
          <a:p>
            <a:fld id="{92AB39F2-9D70-4676-848B-B3C1FFC554AC}" type="slidenum">
              <a:rPr lang="en-GB" smtClean="0"/>
              <a:t>38</a:t>
            </a:fld>
            <a:endParaRPr lang="en-GB" dirty="0"/>
          </a:p>
        </p:txBody>
      </p:sp>
    </p:spTree>
    <p:extLst>
      <p:ext uri="{BB962C8B-B14F-4D97-AF65-F5344CB8AC3E}">
        <p14:creationId xmlns:p14="http://schemas.microsoft.com/office/powerpoint/2010/main" val="2466690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BBAF8-FBBE-EF3A-CCDE-644FCBEB2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B5ADC-1A26-0706-F034-00B3F2C15FD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138AE43-8F44-31D5-D47E-1C39FBA11BE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CBB2AE0-6884-14B1-2DF1-75E4F21A540E}"/>
              </a:ext>
            </a:extLst>
          </p:cNvPr>
          <p:cNvSpPr>
            <a:spLocks noGrp="1"/>
          </p:cNvSpPr>
          <p:nvPr>
            <p:ph type="sldNum" sz="quarter" idx="5"/>
          </p:nvPr>
        </p:nvSpPr>
        <p:spPr/>
        <p:txBody>
          <a:bodyPr/>
          <a:lstStyle/>
          <a:p>
            <a:fld id="{92AB39F2-9D70-4676-848B-B3C1FFC554AC}" type="slidenum">
              <a:rPr lang="en-GB" smtClean="0"/>
              <a:t>39</a:t>
            </a:fld>
            <a:endParaRPr lang="en-GB" dirty="0"/>
          </a:p>
        </p:txBody>
      </p:sp>
    </p:spTree>
    <p:extLst>
      <p:ext uri="{BB962C8B-B14F-4D97-AF65-F5344CB8AC3E}">
        <p14:creationId xmlns:p14="http://schemas.microsoft.com/office/powerpoint/2010/main" val="38781153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4BB5-82BC-DA32-5272-E14EAF3F2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0EEE7-D0C0-0DC3-486F-C9E79356A1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34C4BFE-8280-36ED-8B5D-D3A3B61CAD4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C4A1F8C-4337-9925-BFEC-E7204633E797}"/>
              </a:ext>
            </a:extLst>
          </p:cNvPr>
          <p:cNvSpPr>
            <a:spLocks noGrp="1"/>
          </p:cNvSpPr>
          <p:nvPr>
            <p:ph type="sldNum" sz="quarter" idx="5"/>
          </p:nvPr>
        </p:nvSpPr>
        <p:spPr/>
        <p:txBody>
          <a:bodyPr/>
          <a:lstStyle/>
          <a:p>
            <a:fld id="{92AB39F2-9D70-4676-848B-B3C1FFC554AC}" type="slidenum">
              <a:rPr lang="en-GB" smtClean="0"/>
              <a:t>40</a:t>
            </a:fld>
            <a:endParaRPr lang="en-GB" dirty="0"/>
          </a:p>
        </p:txBody>
      </p:sp>
    </p:spTree>
    <p:extLst>
      <p:ext uri="{BB962C8B-B14F-4D97-AF65-F5344CB8AC3E}">
        <p14:creationId xmlns:p14="http://schemas.microsoft.com/office/powerpoint/2010/main" val="2793401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F800B-148F-67DA-2B29-4A8D4528F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CE39C-0674-E34D-15C1-C82C6695547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EF33C39-9C80-E10F-D861-3F274DF022A2}"/>
              </a:ext>
            </a:extLst>
          </p:cNvPr>
          <p:cNvSpPr>
            <a:spLocks noGrp="1"/>
          </p:cNvSpPr>
          <p:nvPr>
            <p:ph type="body" idx="1"/>
          </p:nvPr>
        </p:nvSpPr>
        <p:spPr/>
        <p:txBody>
          <a:bodyPr/>
          <a:lstStyle/>
          <a:p/>
        </p:txBody>
      </p:sp>
      <p:sp>
        <p:nvSpPr>
          <p:cNvPr id="4" name="Slide Number Placeholder 3">
            <a:extLst>
              <a:ext uri="{FF2B5EF4-FFF2-40B4-BE49-F238E27FC236}">
                <a16:creationId xmlns:a16="http://schemas.microsoft.com/office/drawing/2014/main" id="{B9A46C77-1A11-CD0A-AF95-04383CB9969D}"/>
              </a:ext>
            </a:extLst>
          </p:cNvPr>
          <p:cNvSpPr>
            <a:spLocks noGrp="1"/>
          </p:cNvSpPr>
          <p:nvPr>
            <p:ph type="sldNum" sz="quarter" idx="5"/>
          </p:nvPr>
        </p:nvSpPr>
        <p:spPr/>
        <p:txBody>
          <a:bodyPr/>
          <a:lstStyle/>
          <a:p>
            <a:fld id="{92AB39F2-9D70-4676-848B-B3C1FFC554AC}" type="slidenum">
              <a:rPr lang="en-GB" smtClean="0"/>
              <a:t>41</a:t>
            </a:fld>
            <a:endParaRPr lang="en-GB" dirty="0"/>
          </a:p>
        </p:txBody>
      </p:sp>
    </p:spTree>
    <p:extLst>
      <p:ext uri="{BB962C8B-B14F-4D97-AF65-F5344CB8AC3E}">
        <p14:creationId xmlns:p14="http://schemas.microsoft.com/office/powerpoint/2010/main" val="917454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911F-C85F-068D-07D4-5D3E84CB228F}"/>
              </a:ext>
            </a:extLst>
          </p:cNvPr>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p>
        </p:txBody>
      </p:sp>
      <p:sp>
        <p:nvSpPr>
          <p:cNvPr id="3" name="Subtitle 2">
            <a:extLst>
              <a:ext uri="{FF2B5EF4-FFF2-40B4-BE49-F238E27FC236}">
                <a16:creationId xmlns:a16="http://schemas.microsoft.com/office/drawing/2014/main" id="{A1F4B363-34B0-6082-34A1-56B4CE899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
        <p:nvSpPr>
          <p:cNvPr id="4" name="Date Placeholder 3">
            <a:extLst>
              <a:ext uri="{FF2B5EF4-FFF2-40B4-BE49-F238E27FC236}">
                <a16:creationId xmlns:a16="http://schemas.microsoft.com/office/drawing/2014/main" id="{F0B8B2D1-822A-E2B9-3FBE-623398206D75}"/>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F691AC8A-A113-DEBD-2F56-79B89D4EAC2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4544700-8E7A-FFA1-259F-F69181AA2EEA}"/>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2332809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E69D-7CC3-D051-01E9-D84DB9305864}"/>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8E34656A-23B1-E3A1-003D-C38587F3412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332ABCBC-42C1-FFF0-26F4-351C5F18A9FA}"/>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79C9F350-9998-FFB3-AD58-17D198EFAB5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F9CC392-DBE2-4F2B-82CB-088CAA0766F8}"/>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3643888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C044-7FE3-C184-5B61-150EFC08F2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2CFADD64-A694-9397-9FF6-0C5DE4A9EA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B6D7C531-5A07-EC54-B77E-6C5F693C165A}"/>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991DBF9F-E4A2-1EB4-2F27-B7CC9FE2E9F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9EC035D-B585-EB29-00E3-B9FB0AE54D81}"/>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1017826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76282-559E-6331-5549-028A98EABB82}"/>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97310F5-2EF6-FC26-9931-715E3B5F40D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EA8BCC98-57BC-E9BF-EFF4-0F57A2E19E4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E22D1FBD-C339-31A2-0A64-D095BBEF75BB}"/>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6" name="Footer Placeholder 5">
            <a:extLst>
              <a:ext uri="{FF2B5EF4-FFF2-40B4-BE49-F238E27FC236}">
                <a16:creationId xmlns:a16="http://schemas.microsoft.com/office/drawing/2014/main" id="{D1318096-3006-2026-52A5-A0C601D607F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E4FDB71-2704-6CAC-173E-3A8DA921BE36}"/>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807531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4319A-F47C-DBC3-7D1E-4023CEC32E38}"/>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8939FE1-8C36-F390-EFE0-99C5D40B28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76E99661-E8B1-0F53-2FE3-5C7DF98993B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F0C9B7F6-9AEF-4160-11ED-BD2C3D0FD6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3071F8F7-6439-D35F-1B38-2458EE48E6A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3C2C56F8-591C-1ACD-4D9C-1D594B5A90EB}"/>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8" name="Footer Placeholder 7">
            <a:extLst>
              <a:ext uri="{FF2B5EF4-FFF2-40B4-BE49-F238E27FC236}">
                <a16:creationId xmlns:a16="http://schemas.microsoft.com/office/drawing/2014/main" id="{34A0B52A-0040-06DE-44B2-5B3F45FEB8AB}"/>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7CE01CDF-61A1-C4BB-F20F-1E6462068A8B}"/>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350759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1652B-82D6-771F-8D54-EC6322F0A464}"/>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44C9E5A1-70B7-50B9-1383-B00A8FBDBDDD}"/>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4" name="Footer Placeholder 3">
            <a:extLst>
              <a:ext uri="{FF2B5EF4-FFF2-40B4-BE49-F238E27FC236}">
                <a16:creationId xmlns:a16="http://schemas.microsoft.com/office/drawing/2014/main" id="{DE7F16BD-32FD-3DE7-736E-CF4561C5ABE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D82A334-5F74-A034-4613-0111E01EBE26}"/>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4261396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8BE096-7E03-24F0-7501-AE35F95BF2E8}"/>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3" name="Footer Placeholder 2">
            <a:extLst>
              <a:ext uri="{FF2B5EF4-FFF2-40B4-BE49-F238E27FC236}">
                <a16:creationId xmlns:a16="http://schemas.microsoft.com/office/drawing/2014/main" id="{34B2659C-326E-A6FA-C548-7BD20A4F1E98}"/>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BB5D636A-C752-A0A4-E7DC-92CC2EDEBC26}"/>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410412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9ABD-76F3-0282-FAA8-950E208F405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31F5E71B-80C5-3C4D-2F56-2EE4581523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0728DDA-017D-E47B-D2B0-3D6B5B6316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E3DD4505-F18F-D533-B518-B67095E6657C}"/>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6" name="Footer Placeholder 5">
            <a:extLst>
              <a:ext uri="{FF2B5EF4-FFF2-40B4-BE49-F238E27FC236}">
                <a16:creationId xmlns:a16="http://schemas.microsoft.com/office/drawing/2014/main" id="{87A95D9C-696F-647D-26EA-0755639E0CF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B8AC828E-E922-5D1B-9994-BEA17E40B138}"/>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141598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7C5A-64A4-8A30-B53B-0EB53F4949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E21450B1-EF0B-AE63-38F8-89AA2794A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4B7C3D0-4DCA-FBD0-0090-ACA733C58A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281DCF36-3A0D-3F0E-0722-049C4FFE439F}"/>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6" name="Footer Placeholder 5">
            <a:extLst>
              <a:ext uri="{FF2B5EF4-FFF2-40B4-BE49-F238E27FC236}">
                <a16:creationId xmlns:a16="http://schemas.microsoft.com/office/drawing/2014/main" id="{D0C1A675-20DA-30F0-FA9E-135AC85F07E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5F13D14-4E8E-6F11-61CE-F274781D2D43}"/>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2602169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5071-C344-0E48-965B-7113D4D0776F}"/>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6C3E9293-9EC7-E78F-F42D-F816853255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08B9585D-CBFE-D284-926B-B0AE3017354D}"/>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9CD01F2D-A261-F5F6-9F0A-5ADD29B5B16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4F20C4D-160A-37DB-E470-778682FB0CDD}"/>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100918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26A0E5-EEE4-43F8-873D-16C9E0874FC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A81127BA-0993-3DE1-9A50-A4C578B7F27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F7964EA2-4360-15B6-7323-C2D6D8987108}"/>
              </a:ext>
            </a:extLst>
          </p:cNvPr>
          <p:cNvSpPr>
            <a:spLocks noGrp="1"/>
          </p:cNvSpPr>
          <p:nvPr>
            <p:ph type="dt" sz="half" idx="10"/>
          </p:nvPr>
        </p:nvSpPr>
        <p:spPr/>
        <p:txBody>
          <a:body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356CEC5A-D518-AB92-2446-56634C9AF9D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EE8903A-DD7B-D99E-868C-084C74BDEA1E}"/>
              </a:ext>
            </a:extLst>
          </p:cNvPr>
          <p:cNvSpPr>
            <a:spLocks noGrp="1"/>
          </p:cNvSpPr>
          <p:nvPr>
            <p:ph type="sldNum" sz="quarter" idx="12"/>
          </p:nvPr>
        </p:nvSpPr>
        <p:spPr/>
        <p:txBody>
          <a:bodyPr/>
          <a:lstStyle/>
          <a:p>
            <a:fld id="{916F2A3B-ED88-40E2-A306-6CE51E1CD3E9}" type="slidenum">
              <a:rPr lang="en-GB" smtClean="0"/>
              <a:t>‹#›</a:t>
            </a:fld>
            <a:endParaRPr lang="en-GB" dirty="0"/>
          </a:p>
        </p:txBody>
      </p:sp>
    </p:spTree>
    <p:extLst>
      <p:ext uri="{BB962C8B-B14F-4D97-AF65-F5344CB8AC3E}">
        <p14:creationId xmlns:p14="http://schemas.microsoft.com/office/powerpoint/2010/main" val="990898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75" name="donec quis nunc"/>
          <p:cNvSpPr txBox="1">
            <a:spLocks noGrp="1"/>
          </p:cNvSpPr>
          <p:nvPr>
            <p:ph type="body" sz="quarter" idx="21"/>
          </p:nvPr>
        </p:nvSpPr>
        <p:spPr>
          <a:xfrm>
            <a:off x="628650" y="939800"/>
            <a:ext cx="10934700" cy="361950"/>
          </a:xfrm>
          <a:prstGeom prst="rect">
            <a:avLst/>
          </a:prstGeom>
        </p:spPr>
        <p:txBody>
          <a:bodyPr>
            <a:spAutoFit/>
          </a:bodyPr>
          <a:lstStyle>
            <a:lvl1pPr marL="0" indent="0" algn="ctr">
              <a:spcBef>
                <a:spcPts val="0"/>
              </a:spcBef>
              <a:buClrTx/>
              <a:buSzTx/>
              <a:buNone/>
              <a:defRPr sz="1900" cap="all" spc="171">
                <a:latin typeface="+mn-lt"/>
                <a:ea typeface="+mn-ea"/>
                <a:cs typeface="+mn-cs"/>
                <a:sym typeface="Futura"/>
              </a:defRPr>
            </a:lvl1pPr>
          </a:lstStyle>
          <a:p>
            <a:r>
              <a:t>donec quis nunc</a:t>
            </a:r>
          </a:p>
        </p:txBody>
      </p:sp>
      <p:sp>
        <p:nvSpPr>
          <p:cNvPr id="76" name="Title Text"/>
          <p:cNvSpPr txBox="1">
            <a:spLocks noGrp="1"/>
          </p:cNvSpPr>
          <p:nvPr>
            <p:ph type="title"/>
          </p:nvPr>
        </p:nvSpPr>
        <p:spPr>
          <a:prstGeom prst="rect">
            <a:avLst/>
          </a:prstGeom>
        </p:spPr>
        <p:txBody>
          <a:bodyPr/>
          <a:lstStyle/>
          <a:p>
            <a:r>
              <a:t>Title Text</a:t>
            </a:r>
          </a:p>
        </p:txBody>
      </p:sp>
      <p:sp>
        <p:nvSpPr>
          <p:cNvPr id="7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8" name="Slide Number"/>
          <p:cNvSpPr txBox="1">
            <a:spLocks noGrp="1"/>
          </p:cNvSpPr>
          <p:nvPr>
            <p:ph type="sldNum" sz="quarter" idx="2"/>
          </p:nvPr>
        </p:nvSpPr>
        <p:spPr>
          <a:xfrm>
            <a:off x="5976196" y="6491970"/>
            <a:ext cx="239608" cy="24946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10501070"/>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F7E629-3168-5674-D695-01CA9C6862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BDA1258-D55B-AA63-5A7C-B40BD3BE11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6F02EBC3-6625-27DB-88B9-54EB76104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FC5011-5AC2-4AFA-9516-C3CBE9E029F3}" type="datetimeFigureOut">
              <a:rPr lang="en-GB" smtClean="0"/>
              <a:t>16/09/2026</a:t>
            </a:fld>
            <a:endParaRPr lang="en-GB" dirty="0"/>
          </a:p>
        </p:txBody>
      </p:sp>
      <p:sp>
        <p:nvSpPr>
          <p:cNvPr id="5" name="Footer Placeholder 4">
            <a:extLst>
              <a:ext uri="{FF2B5EF4-FFF2-40B4-BE49-F238E27FC236}">
                <a16:creationId xmlns:a16="http://schemas.microsoft.com/office/drawing/2014/main" id="{CB4B8215-906D-D026-4342-2308E31430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40B21768-F072-D9FA-4AB9-0C2CBFEDCF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6F2A3B-ED88-40E2-A306-6CE51E1CD3E9}" type="slidenum">
              <a:rPr lang="en-GB" smtClean="0"/>
              <a:t>‹#›</a:t>
            </a:fld>
            <a:endParaRPr lang="en-GB" dirty="0"/>
          </a:p>
        </p:txBody>
      </p:sp>
    </p:spTree>
    <p:extLst>
      <p:ext uri="{BB962C8B-B14F-4D97-AF65-F5344CB8AC3E}">
        <p14:creationId xmlns:p14="http://schemas.microsoft.com/office/powerpoint/2010/main" val="3512507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dx.doi.org/10.2139/ssrn.6868618" TargetMode="Externa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hyperlink" Target="https://arxiv.org/pdf/2311.16863" TargetMode="External"/><Relationship Id="rId5" Type="http://schemas.openxmlformats.org/officeDocument/2006/relationships/hyperlink" Target="https://www.nature.com/articles/d41586-024-02680-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svg"/><Relationship Id="rId4" Type="http://schemas.openxmlformats.org/officeDocument/2006/relationships/image" Target="../media/image24.svg"/><Relationship Id="rId5" Type="http://schemas.openxmlformats.org/officeDocument/2006/relationships/image" Target="../media/image25.org&amp;utm_campaign=parser&amp;utm_content=thumbnail"/><Relationship Id="rId6" Type="http://schemas.openxmlformats.org/officeDocument/2006/relationships/image" Target="../media/image2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hyperlink" Target="https://arxiv.org/pdf/2311.16863" TargetMode="External"/><Relationship Id="rId5" Type="http://schemas.openxmlformats.org/officeDocument/2006/relationships/hyperlink" Target="https://www.nature.com/articles/d41586-024-02680-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1.jpeg"/><Relationship Id="rId4" Type="http://schemas.openxmlformats.org/officeDocument/2006/relationships/image" Target="../media/image32.jpg"/><Relationship Id="rId5"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1.jpeg"/><Relationship Id="rId4" Type="http://schemas.openxmlformats.org/officeDocument/2006/relationships/image" Target="../media/image32.jp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194560"/>
            <a:ext cx="10698480" cy="2499146"/>
          </a:xfrm>
          <a:prstGeom prst="rect">
            <a:avLst/>
          </a:prstGeom>
          <a:noFill/>
        </p:spPr>
        <p:txBody>
          <a:bodyPr wrap="square" lIns="45720" tIns="18288" rIns="45720" bIns="18288" anchor="t">
            <a:spAutoFit/>
          </a:bodyPr>
          <a:lstStyle/>
          <a:p>
            <a:pPr algn="l"/>
            <a:r>
              <a:rPr lang="en-US" sz="8000" b="1" dirty="0">
                <a:solidFill>
                  <a:srgbClr val="1A1A1A"/>
                </a:solidFill>
                <a:latin typeface="Aptos"/>
              </a:rPr>
              <a:t>Risks, ethics and trade-offs of AI</a:t>
            </a:r>
            <a:endParaRPr sz="8000" b="1" dirty="0">
              <a:solidFill>
                <a:srgbClr val="1A1A1A"/>
              </a:solidFill>
              <a:latin typeface="Aptos"/>
            </a:endParaRPr>
          </a:p>
        </p:txBody>
      </p:sp>
      <p:sp>
        <p:nvSpPr>
          <p:cNvPr id="4" name="TextBox 3"/>
          <p:cNvSpPr txBox="1"/>
          <p:nvPr/>
        </p:nvSpPr>
        <p:spPr>
          <a:xfrm>
            <a:off x="762000" y="4692269"/>
            <a:ext cx="4614672" cy="467820"/>
          </a:xfrm>
          <a:prstGeom prst="rect">
            <a:avLst/>
          </a:prstGeom>
          <a:noFill/>
        </p:spPr>
        <p:txBody>
          <a:bodyPr wrap="square" lIns="45720" tIns="18288" rIns="45720" bIns="18288" anchor="t">
            <a:spAutoFit/>
          </a:bodyPr>
          <a:lstStyle/>
          <a:p>
            <a:pPr algn="l"/>
            <a:r>
              <a:rPr lang="en-US" sz="2800" b="0" dirty="0">
                <a:solidFill>
                  <a:srgbClr val="1F93C9"/>
                </a:solidFill>
                <a:latin typeface="Aptos"/>
              </a:rPr>
              <a:t>Suze Roostee, PhD</a:t>
            </a:r>
            <a:endParaRPr sz="2800" b="0" dirty="0">
              <a:solidFill>
                <a:srgbClr val="1F93C9"/>
              </a:solidFill>
              <a:latin typeface="Aptos"/>
            </a:endParaRPr>
          </a:p>
        </p:txBody>
      </p:sp>
      <p:cxnSp>
        <p:nvCxnSpPr>
          <p:cNvPr id="8" name="Straight Connector 7">
            <a:extLst>
              <a:ext uri="{FF2B5EF4-FFF2-40B4-BE49-F238E27FC236}">
                <a16:creationId xmlns:a16="http://schemas.microsoft.com/office/drawing/2014/main" id="{ADD59CBE-BF14-812E-88F9-926FEB09B1BA}"/>
              </a:ext>
            </a:extLst>
          </p:cNvPr>
          <p:cNvCxnSpPr>
            <a:cxnSpLocks/>
          </p:cNvCxnSpPr>
          <p:nvPr/>
        </p:nvCxnSpPr>
        <p:spPr>
          <a:xfrm>
            <a:off x="553067" y="2046968"/>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A34614B7-51AC-61D5-B490-93F41B4A433F}"/>
              </a:ext>
            </a:extLst>
          </p:cNvPr>
          <p:cNvGrpSpPr/>
          <p:nvPr/>
        </p:nvGrpSpPr>
        <p:grpSpPr>
          <a:xfrm>
            <a:off x="11181858" y="6035040"/>
            <a:ext cx="805760" cy="723478"/>
            <a:chOff x="11297920" y="5734798"/>
            <a:chExt cx="649058" cy="582778"/>
          </a:xfrm>
        </p:grpSpPr>
        <p:sp>
          <p:nvSpPr>
            <p:cNvPr id="10" name="Oval 9">
              <a:extLst>
                <a:ext uri="{FF2B5EF4-FFF2-40B4-BE49-F238E27FC236}">
                  <a16:creationId xmlns:a16="http://schemas.microsoft.com/office/drawing/2014/main" id="{0C784DED-2F1B-6823-95D6-05ECC683D278}"/>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82BAE455-C651-A361-3C43-74ECAB0EFEE3}"/>
                </a:ext>
              </a:extLst>
            </p:cNvPr>
            <p:cNvPicPr>
              <a:picLocks noChangeAspect="1"/>
            </p:cNvPicPr>
            <p:nvPr/>
          </p:nvPicPr>
          <p:blipFill>
            <a:blip r:embed="rId3"/>
            <a:stretch/>
          </p:blipFill>
          <p:spPr>
            <a:xfrm>
              <a:off x="11297920" y="5734798"/>
              <a:ext cx="649058" cy="582778"/>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66196-BFC3-8B31-6F24-4FC11D49182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AC71243-77E7-DD49-C0D0-0728BA940617}"/>
              </a:ext>
            </a:extLst>
          </p:cNvPr>
          <p:cNvSpPr txBox="1"/>
          <p:nvPr/>
        </p:nvSpPr>
        <p:spPr>
          <a:xfrm>
            <a:off x="73592" y="6525190"/>
            <a:ext cx="4624208"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ChatGPT (Ethan Mollick on LinkedIn) </a:t>
            </a:r>
          </a:p>
        </p:txBody>
      </p:sp>
      <p:pic>
        <p:nvPicPr>
          <p:cNvPr id="3" name="Picture 2">
            <a:extLst>
              <a:ext uri="{FF2B5EF4-FFF2-40B4-BE49-F238E27FC236}">
                <a16:creationId xmlns:a16="http://schemas.microsoft.com/office/drawing/2014/main" id="{4D0E4CF0-593E-81AB-4DC9-24B37B646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8883" y="194310"/>
            <a:ext cx="8238970" cy="6217848"/>
          </a:xfrm>
          <a:prstGeom prst="rect">
            <a:avLst/>
          </a:prstGeom>
        </p:spPr>
      </p:pic>
    </p:spTree>
    <p:extLst>
      <p:ext uri="{BB962C8B-B14F-4D97-AF65-F5344CB8AC3E}">
        <p14:creationId xmlns:p14="http://schemas.microsoft.com/office/powerpoint/2010/main" val="853168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D231-C9BB-B58F-2201-B59EB463710D}"/>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91DEBD5-DBC1-F4EF-3C0E-B16CE202C781}"/>
              </a:ext>
            </a:extLst>
          </p:cNvPr>
          <p:cNvPicPr>
            <a:picLocks noChangeAspect="1"/>
          </p:cNvPicPr>
          <p:nvPr/>
        </p:nvPicPr>
        <p:blipFill>
          <a:blip r:embed="rId3"/>
          <a:stretch>
            <a:fillRect/>
          </a:stretch>
        </p:blipFill>
        <p:spPr>
          <a:xfrm>
            <a:off x="1746242" y="2322289"/>
            <a:ext cx="8809764" cy="6855694"/>
          </a:xfrm>
          <a:prstGeom prst="rect">
            <a:avLst/>
          </a:prstGeom>
        </p:spPr>
      </p:pic>
      <p:sp>
        <p:nvSpPr>
          <p:cNvPr id="2" name="TextBox 1">
            <a:extLst>
              <a:ext uri="{FF2B5EF4-FFF2-40B4-BE49-F238E27FC236}">
                <a16:creationId xmlns:a16="http://schemas.microsoft.com/office/drawing/2014/main" id="{A1C69EDC-F43E-0259-C16F-6A7A7D80FAA3}"/>
              </a:ext>
            </a:extLst>
          </p:cNvPr>
          <p:cNvSpPr txBox="1"/>
          <p:nvPr/>
        </p:nvSpPr>
        <p:spPr>
          <a:xfrm>
            <a:off x="911382" y="4117563"/>
            <a:ext cx="1635832" cy="461665"/>
          </a:xfrm>
          <a:prstGeom prst="rect">
            <a:avLst/>
          </a:prstGeom>
          <a:noFill/>
        </p:spPr>
        <p:txBody>
          <a:bodyPr wrap="square" rtlCol="0">
            <a:spAutoFit/>
          </a:bodyPr>
          <a:lstStyle/>
          <a:p>
            <a:r>
              <a:rPr lang="en-GB" sz="2400" b="1" dirty="0">
                <a:latin typeface="Calibri" panose="020F0502020204030204" pitchFamily="34" charset="0"/>
                <a:ea typeface="Calibri" panose="020F0502020204030204" pitchFamily="34" charset="0"/>
                <a:cs typeface="Calibri" panose="020F0502020204030204" pitchFamily="34" charset="0"/>
              </a:rPr>
              <a:t>Individual</a:t>
            </a:r>
          </a:p>
        </p:txBody>
      </p:sp>
      <p:cxnSp>
        <p:nvCxnSpPr>
          <p:cNvPr id="3" name="Straight Connector 2">
            <a:extLst>
              <a:ext uri="{FF2B5EF4-FFF2-40B4-BE49-F238E27FC236}">
                <a16:creationId xmlns:a16="http://schemas.microsoft.com/office/drawing/2014/main" id="{68805B46-F69E-C95B-86FE-D92A9CF6EE66}"/>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32BCE46-417C-EFA3-463B-7B66900D6873}"/>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Areas of impact</a:t>
            </a:r>
          </a:p>
        </p:txBody>
      </p:sp>
      <p:sp>
        <p:nvSpPr>
          <p:cNvPr id="5" name="TextBox 4">
            <a:extLst>
              <a:ext uri="{FF2B5EF4-FFF2-40B4-BE49-F238E27FC236}">
                <a16:creationId xmlns:a16="http://schemas.microsoft.com/office/drawing/2014/main" id="{4ADC908F-E09F-632F-EC08-29EF42D84080}"/>
              </a:ext>
            </a:extLst>
          </p:cNvPr>
          <p:cNvSpPr txBox="1"/>
          <p:nvPr/>
        </p:nvSpPr>
        <p:spPr>
          <a:xfrm>
            <a:off x="5051094" y="1745761"/>
            <a:ext cx="2089608" cy="461665"/>
          </a:xfrm>
          <a:prstGeom prst="rect">
            <a:avLst/>
          </a:prstGeom>
          <a:noFill/>
        </p:spPr>
        <p:txBody>
          <a:bodyPr wrap="square" rtlCol="0">
            <a:spAutoFit/>
          </a:bodyPr>
          <a:lstStyle/>
          <a:p>
            <a:r>
              <a:rPr lang="en-GB" sz="2400" b="1" dirty="0">
                <a:latin typeface="Calibri" panose="020F0502020204030204" pitchFamily="34" charset="0"/>
                <a:ea typeface="Calibri" panose="020F0502020204030204" pitchFamily="34" charset="0"/>
                <a:cs typeface="Calibri" panose="020F0502020204030204" pitchFamily="34" charset="0"/>
              </a:rPr>
              <a:t>Environmental</a:t>
            </a:r>
          </a:p>
        </p:txBody>
      </p:sp>
      <p:sp>
        <p:nvSpPr>
          <p:cNvPr id="6" name="TextBox 5">
            <a:extLst>
              <a:ext uri="{FF2B5EF4-FFF2-40B4-BE49-F238E27FC236}">
                <a16:creationId xmlns:a16="http://schemas.microsoft.com/office/drawing/2014/main" id="{1A16BAD2-D607-DF04-9BB8-365A11018C4D}"/>
              </a:ext>
            </a:extLst>
          </p:cNvPr>
          <p:cNvSpPr txBox="1"/>
          <p:nvPr/>
        </p:nvSpPr>
        <p:spPr>
          <a:xfrm>
            <a:off x="9825564" y="4115751"/>
            <a:ext cx="1635832" cy="461665"/>
          </a:xfrm>
          <a:prstGeom prst="rect">
            <a:avLst/>
          </a:prstGeom>
          <a:noFill/>
        </p:spPr>
        <p:txBody>
          <a:bodyPr wrap="square" rtlCol="0">
            <a:spAutoFit/>
          </a:bodyPr>
          <a:lstStyle/>
          <a:p>
            <a:r>
              <a:rPr lang="en-GB" sz="2400" b="1" dirty="0">
                <a:latin typeface="Calibri" panose="020F0502020204030204" pitchFamily="34" charset="0"/>
                <a:ea typeface="Calibri" panose="020F0502020204030204" pitchFamily="34" charset="0"/>
                <a:cs typeface="Calibri" panose="020F0502020204030204" pitchFamily="34" charset="0"/>
              </a:rPr>
              <a:t>Societal</a:t>
            </a:r>
          </a:p>
        </p:txBody>
      </p:sp>
      <p:sp>
        <p:nvSpPr>
          <p:cNvPr id="7" name="TextBox 6">
            <a:extLst>
              <a:ext uri="{FF2B5EF4-FFF2-40B4-BE49-F238E27FC236}">
                <a16:creationId xmlns:a16="http://schemas.microsoft.com/office/drawing/2014/main" id="{B2D3026A-6EB4-39FF-20B4-4A0676DDC2DA}"/>
              </a:ext>
            </a:extLst>
          </p:cNvPr>
          <p:cNvSpPr txBox="1"/>
          <p:nvPr/>
        </p:nvSpPr>
        <p:spPr>
          <a:xfrm>
            <a:off x="5181600" y="8421511"/>
            <a:ext cx="184731" cy="369332"/>
          </a:xfrm>
          <a:prstGeom prst="rect">
            <a:avLst/>
          </a:prstGeom>
          <a:noFill/>
        </p:spPr>
        <p:txBody>
          <a:bodyPr wrap="none" rtlCol="0">
            <a:spAutoFit/>
          </a:bodyPr>
          <a:lstStyle/>
          <a:p>
            <a:endParaRPr lang="en-DK" dirty="0"/>
          </a:p>
        </p:txBody>
      </p:sp>
      <p:sp>
        <p:nvSpPr>
          <p:cNvPr id="8" name="TextBox 7">
            <a:extLst>
              <a:ext uri="{FF2B5EF4-FFF2-40B4-BE49-F238E27FC236}">
                <a16:creationId xmlns:a16="http://schemas.microsoft.com/office/drawing/2014/main" id="{C3A0D3E9-15CA-CCD7-5518-1182E47FBB27}"/>
              </a:ext>
            </a:extLst>
          </p:cNvPr>
          <p:cNvSpPr txBox="1"/>
          <p:nvPr/>
        </p:nvSpPr>
        <p:spPr>
          <a:xfrm>
            <a:off x="2117665" y="6177661"/>
            <a:ext cx="1852110" cy="369332"/>
          </a:xfrm>
          <a:prstGeom prst="rect">
            <a:avLst/>
          </a:prstGeom>
          <a:noFill/>
        </p:spPr>
        <p:txBody>
          <a:bodyPr wrap="none" rtlCol="0">
            <a:spAutoFit/>
          </a:bodyPr>
          <a:lstStyle/>
          <a:p>
            <a:r>
              <a:rPr lang="en-DK" dirty="0"/>
              <a:t>Cognitive effects</a:t>
            </a:r>
          </a:p>
        </p:txBody>
      </p:sp>
      <p:sp>
        <p:nvSpPr>
          <p:cNvPr id="9" name="TextBox 8">
            <a:extLst>
              <a:ext uri="{FF2B5EF4-FFF2-40B4-BE49-F238E27FC236}">
                <a16:creationId xmlns:a16="http://schemas.microsoft.com/office/drawing/2014/main" id="{12B21118-FD70-7D03-0B6C-9FE2E0D48BAA}"/>
              </a:ext>
            </a:extLst>
          </p:cNvPr>
          <p:cNvSpPr txBox="1"/>
          <p:nvPr/>
        </p:nvSpPr>
        <p:spPr>
          <a:xfrm>
            <a:off x="4576620" y="3746419"/>
            <a:ext cx="2053767" cy="369332"/>
          </a:xfrm>
          <a:prstGeom prst="rect">
            <a:avLst/>
          </a:prstGeom>
          <a:noFill/>
        </p:spPr>
        <p:txBody>
          <a:bodyPr wrap="none" rtlCol="0">
            <a:spAutoFit/>
          </a:bodyPr>
          <a:lstStyle/>
          <a:p>
            <a:r>
              <a:rPr lang="en-DK" dirty="0"/>
              <a:t>Electricity demand</a:t>
            </a:r>
          </a:p>
        </p:txBody>
      </p:sp>
      <p:sp>
        <p:nvSpPr>
          <p:cNvPr id="10" name="TextBox 9">
            <a:extLst>
              <a:ext uri="{FF2B5EF4-FFF2-40B4-BE49-F238E27FC236}">
                <a16:creationId xmlns:a16="http://schemas.microsoft.com/office/drawing/2014/main" id="{8148A964-70B7-1DF5-762B-7F42B66FAEE7}"/>
              </a:ext>
            </a:extLst>
          </p:cNvPr>
          <p:cNvSpPr txBox="1"/>
          <p:nvPr/>
        </p:nvSpPr>
        <p:spPr>
          <a:xfrm>
            <a:off x="5077721" y="4274123"/>
            <a:ext cx="2146806" cy="369332"/>
          </a:xfrm>
          <a:prstGeom prst="rect">
            <a:avLst/>
          </a:prstGeom>
          <a:noFill/>
        </p:spPr>
        <p:txBody>
          <a:bodyPr wrap="none" rtlCol="0">
            <a:spAutoFit/>
          </a:bodyPr>
          <a:lstStyle/>
          <a:p>
            <a:r>
              <a:rPr lang="en-DK" dirty="0"/>
              <a:t>Water consumption</a:t>
            </a:r>
          </a:p>
        </p:txBody>
      </p:sp>
      <p:sp>
        <p:nvSpPr>
          <p:cNvPr id="11" name="TextBox 10">
            <a:extLst>
              <a:ext uri="{FF2B5EF4-FFF2-40B4-BE49-F238E27FC236}">
                <a16:creationId xmlns:a16="http://schemas.microsoft.com/office/drawing/2014/main" id="{3AF0F18D-FAC2-4DAD-1BD0-5BDB7B105135}"/>
              </a:ext>
            </a:extLst>
          </p:cNvPr>
          <p:cNvSpPr txBox="1"/>
          <p:nvPr/>
        </p:nvSpPr>
        <p:spPr>
          <a:xfrm>
            <a:off x="7560447" y="5122082"/>
            <a:ext cx="1435008" cy="369332"/>
          </a:xfrm>
          <a:prstGeom prst="rect">
            <a:avLst/>
          </a:prstGeom>
          <a:noFill/>
        </p:spPr>
        <p:txBody>
          <a:bodyPr wrap="none" rtlCol="0">
            <a:spAutoFit/>
          </a:bodyPr>
          <a:lstStyle/>
          <a:p>
            <a:r>
              <a:rPr lang="en-DK" dirty="0"/>
              <a:t>AI in science</a:t>
            </a:r>
          </a:p>
        </p:txBody>
      </p:sp>
      <p:sp>
        <p:nvSpPr>
          <p:cNvPr id="12" name="TextBox 11">
            <a:extLst>
              <a:ext uri="{FF2B5EF4-FFF2-40B4-BE49-F238E27FC236}">
                <a16:creationId xmlns:a16="http://schemas.microsoft.com/office/drawing/2014/main" id="{049648BF-36F0-CDD0-5053-20BF982AF65F}"/>
              </a:ext>
            </a:extLst>
          </p:cNvPr>
          <p:cNvSpPr txBox="1"/>
          <p:nvPr/>
        </p:nvSpPr>
        <p:spPr>
          <a:xfrm>
            <a:off x="8277951" y="5992995"/>
            <a:ext cx="1331198" cy="369332"/>
          </a:xfrm>
          <a:prstGeom prst="rect">
            <a:avLst/>
          </a:prstGeom>
          <a:noFill/>
        </p:spPr>
        <p:txBody>
          <a:bodyPr wrap="none" rtlCol="0">
            <a:spAutoFit/>
          </a:bodyPr>
          <a:lstStyle/>
          <a:p>
            <a:r>
              <a:rPr lang="en-GB" dirty="0"/>
              <a:t>Sovereignty</a:t>
            </a:r>
            <a:endParaRPr lang="en-DK" dirty="0"/>
          </a:p>
        </p:txBody>
      </p:sp>
      <p:sp>
        <p:nvSpPr>
          <p:cNvPr id="14" name="TextBox 13">
            <a:extLst>
              <a:ext uri="{FF2B5EF4-FFF2-40B4-BE49-F238E27FC236}">
                <a16:creationId xmlns:a16="http://schemas.microsoft.com/office/drawing/2014/main" id="{1C7964E0-F7CB-587A-A98F-4BFB9FC58535}"/>
              </a:ext>
            </a:extLst>
          </p:cNvPr>
          <p:cNvSpPr txBox="1"/>
          <p:nvPr/>
        </p:nvSpPr>
        <p:spPr>
          <a:xfrm>
            <a:off x="8708399" y="553061"/>
            <a:ext cx="2330253" cy="369332"/>
          </a:xfrm>
          <a:prstGeom prst="rect">
            <a:avLst/>
          </a:prstGeom>
          <a:noFill/>
        </p:spPr>
        <p:txBody>
          <a:bodyPr wrap="none" rtlCol="0">
            <a:spAutoFit/>
          </a:bodyPr>
          <a:lstStyle/>
          <a:p>
            <a:r>
              <a:rPr lang="en-GB" dirty="0">
                <a:highlight>
                  <a:srgbClr val="FFFF00"/>
                </a:highlight>
              </a:rPr>
              <a:t>T</a:t>
            </a:r>
            <a:r>
              <a:rPr lang="en-DK" dirty="0">
                <a:highlight>
                  <a:srgbClr val="FFFF00"/>
                </a:highlight>
              </a:rPr>
              <a:t>erm come in on click</a:t>
            </a:r>
          </a:p>
        </p:txBody>
      </p:sp>
    </p:spTree>
    <p:extLst>
      <p:ext uri="{BB962C8B-B14F-4D97-AF65-F5344CB8AC3E}">
        <p14:creationId xmlns:p14="http://schemas.microsoft.com/office/powerpoint/2010/main" val="254376226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FF433-F675-8539-AC47-C207FD60A5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39EE81-C216-1C1F-6B35-CF7CE46752DE}"/>
              </a:ext>
            </a:extLst>
          </p:cNvPr>
          <p:cNvSpPr/>
          <p:nvPr/>
        </p:nvSpPr>
        <p:spPr>
          <a:xfrm>
            <a:off x="0" y="0"/>
            <a:ext cx="12192000" cy="6858000"/>
          </a:xfrm>
          <a:prstGeom prst="rect">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D588545-FE7A-85C6-6AC2-4931257A7B75}"/>
              </a:ext>
            </a:extLst>
          </p:cNvPr>
          <p:cNvSpPr txBox="1"/>
          <p:nvPr/>
        </p:nvSpPr>
        <p:spPr>
          <a:xfrm>
            <a:off x="731520" y="2194560"/>
            <a:ext cx="10698480" cy="1268039"/>
          </a:xfrm>
          <a:prstGeom prst="rect">
            <a:avLst/>
          </a:prstGeom>
          <a:noFill/>
        </p:spPr>
        <p:txBody>
          <a:bodyPr wrap="square" lIns="45720" tIns="18288" rIns="45720" bIns="18288" anchor="t">
            <a:spAutoFit/>
          </a:bodyPr>
          <a:lstStyle/>
          <a:p>
            <a:pPr algn="l"/>
            <a:r>
              <a:rPr lang="en-US" sz="8000" b="1" dirty="0">
                <a:solidFill>
                  <a:srgbClr val="1A1A1A"/>
                </a:solidFill>
                <a:latin typeface="Aptos"/>
              </a:rPr>
              <a:t>Cognitive effects</a:t>
            </a:r>
            <a:endParaRPr sz="8000" b="1" dirty="0">
              <a:solidFill>
                <a:srgbClr val="1A1A1A"/>
              </a:solidFill>
              <a:latin typeface="Aptos"/>
            </a:endParaRPr>
          </a:p>
        </p:txBody>
      </p:sp>
      <p:sp>
        <p:nvSpPr>
          <p:cNvPr id="4" name="TextBox 3">
            <a:extLst>
              <a:ext uri="{FF2B5EF4-FFF2-40B4-BE49-F238E27FC236}">
                <a16:creationId xmlns:a16="http://schemas.microsoft.com/office/drawing/2014/main" id="{B8451F3B-844B-E068-DB79-9ED0D490B16A}"/>
              </a:ext>
            </a:extLst>
          </p:cNvPr>
          <p:cNvSpPr txBox="1"/>
          <p:nvPr/>
        </p:nvSpPr>
        <p:spPr>
          <a:xfrm>
            <a:off x="762000" y="3303845"/>
            <a:ext cx="8193536" cy="467820"/>
          </a:xfrm>
          <a:prstGeom prst="rect">
            <a:avLst/>
          </a:prstGeom>
          <a:noFill/>
        </p:spPr>
        <p:txBody>
          <a:bodyPr wrap="square" lIns="45720" tIns="18288" rIns="45720" bIns="18288" anchor="t">
            <a:spAutoFit/>
          </a:bodyPr>
          <a:lstStyle/>
          <a:p>
            <a:pPr algn="l"/>
            <a:r>
              <a:rPr lang="en-US" sz="2800" b="0" dirty="0">
                <a:solidFill>
                  <a:srgbClr val="1F93C9"/>
                </a:solidFill>
                <a:latin typeface="Aptos"/>
              </a:rPr>
              <a:t>Or, h</a:t>
            </a:r>
            <a:r>
              <a:rPr lang="en-US" sz="2800" dirty="0">
                <a:solidFill>
                  <a:srgbClr val="1F93C9"/>
                </a:solidFill>
                <a:latin typeface="Aptos"/>
              </a:rPr>
              <a:t>ow to maintain critical thinking</a:t>
            </a:r>
            <a:endParaRPr sz="2800" b="0" dirty="0">
              <a:solidFill>
                <a:srgbClr val="1F93C9"/>
              </a:solidFill>
              <a:latin typeface="Aptos"/>
            </a:endParaRPr>
          </a:p>
        </p:txBody>
      </p:sp>
      <p:cxnSp>
        <p:nvCxnSpPr>
          <p:cNvPr id="8" name="Straight Connector 7">
            <a:extLst>
              <a:ext uri="{FF2B5EF4-FFF2-40B4-BE49-F238E27FC236}">
                <a16:creationId xmlns:a16="http://schemas.microsoft.com/office/drawing/2014/main" id="{EBFAD691-122C-7B15-DD46-DF9E9526B330}"/>
              </a:ext>
            </a:extLst>
          </p:cNvPr>
          <p:cNvCxnSpPr>
            <a:cxnSpLocks/>
          </p:cNvCxnSpPr>
          <p:nvPr/>
        </p:nvCxnSpPr>
        <p:spPr>
          <a:xfrm>
            <a:off x="553067" y="2046968"/>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8A84419-7EC0-1DFA-FCB3-4D41C8FF23D9}"/>
              </a:ext>
            </a:extLst>
          </p:cNvPr>
          <p:cNvGrpSpPr/>
          <p:nvPr/>
        </p:nvGrpSpPr>
        <p:grpSpPr>
          <a:xfrm>
            <a:off x="11181858" y="6035040"/>
            <a:ext cx="805760" cy="723478"/>
            <a:chOff x="11297920" y="5734798"/>
            <a:chExt cx="649058" cy="582778"/>
          </a:xfrm>
        </p:grpSpPr>
        <p:sp>
          <p:nvSpPr>
            <p:cNvPr id="6" name="Oval 5">
              <a:extLst>
                <a:ext uri="{FF2B5EF4-FFF2-40B4-BE49-F238E27FC236}">
                  <a16:creationId xmlns:a16="http://schemas.microsoft.com/office/drawing/2014/main" id="{C0081355-16C4-53C6-020D-09D27B5B3B58}"/>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765748FF-9895-D0A2-727E-FCFFE4B1A194}"/>
                </a:ext>
              </a:extLst>
            </p:cNvPr>
            <p:cNvPicPr>
              <a:picLocks noChangeAspect="1"/>
            </p:cNvPicPr>
            <p:nvPr/>
          </p:nvPicPr>
          <p:blipFill>
            <a:blip r:embed="rId3"/>
            <a:stretch/>
          </p:blipFill>
          <p:spPr>
            <a:xfrm>
              <a:off x="11297920" y="5734798"/>
              <a:ext cx="649058" cy="582778"/>
            </a:xfrm>
            <a:prstGeom prst="rect">
              <a:avLst/>
            </a:prstGeom>
          </p:spPr>
        </p:pic>
      </p:grpSp>
    </p:spTree>
    <p:extLst>
      <p:ext uri="{BB962C8B-B14F-4D97-AF65-F5344CB8AC3E}">
        <p14:creationId xmlns:p14="http://schemas.microsoft.com/office/powerpoint/2010/main" val="176637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E2F6F-1C3C-C1DC-C8B4-FB4E1927DF09}"/>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DE6102A-C881-20BC-5E51-AA6C41D49C1A}"/>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798475E-7249-1B33-8F28-1B939134D87B}"/>
              </a:ext>
            </a:extLst>
          </p:cNvPr>
          <p:cNvSpPr txBox="1"/>
          <p:nvPr/>
        </p:nvSpPr>
        <p:spPr>
          <a:xfrm>
            <a:off x="223365" y="36291"/>
            <a:ext cx="5135443"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Cognitive effects</a:t>
            </a:r>
          </a:p>
        </p:txBody>
      </p:sp>
      <p:sp>
        <p:nvSpPr>
          <p:cNvPr id="2" name="TextBox 1">
            <a:extLst>
              <a:ext uri="{FF2B5EF4-FFF2-40B4-BE49-F238E27FC236}">
                <a16:creationId xmlns:a16="http://schemas.microsoft.com/office/drawing/2014/main" id="{16868012-E319-695D-F093-13AB2F65139F}"/>
              </a:ext>
            </a:extLst>
          </p:cNvPr>
          <p:cNvSpPr txBox="1"/>
          <p:nvPr/>
        </p:nvSpPr>
        <p:spPr>
          <a:xfrm>
            <a:off x="1654850" y="2254065"/>
            <a:ext cx="856121" cy="369332"/>
          </a:xfrm>
          <a:prstGeom prst="rect">
            <a:avLst/>
          </a:prstGeom>
          <a:noFill/>
        </p:spPr>
        <p:txBody>
          <a:bodyPr wrap="square" rtlCol="0">
            <a:spAutoFit/>
          </a:bodyPr>
          <a:lstStyle/>
          <a:p>
            <a:r>
              <a:rPr lang="en-DK" dirty="0"/>
              <a:t>AI slop</a:t>
            </a:r>
          </a:p>
        </p:txBody>
      </p:sp>
      <p:sp>
        <p:nvSpPr>
          <p:cNvPr id="8" name="TextBox 7">
            <a:extLst>
              <a:ext uri="{FF2B5EF4-FFF2-40B4-BE49-F238E27FC236}">
                <a16:creationId xmlns:a16="http://schemas.microsoft.com/office/drawing/2014/main" id="{60D7A482-6EA4-97E3-7B41-6F64E383D0F2}"/>
              </a:ext>
            </a:extLst>
          </p:cNvPr>
          <p:cNvSpPr txBox="1"/>
          <p:nvPr/>
        </p:nvSpPr>
        <p:spPr>
          <a:xfrm>
            <a:off x="3507411" y="2315644"/>
            <a:ext cx="3136308" cy="369332"/>
          </a:xfrm>
          <a:prstGeom prst="rect">
            <a:avLst/>
          </a:prstGeom>
          <a:noFill/>
        </p:spPr>
        <p:txBody>
          <a:bodyPr wrap="none" rtlCol="0">
            <a:spAutoFit/>
          </a:bodyPr>
          <a:lstStyle/>
          <a:p>
            <a:r>
              <a:rPr lang="en-DK" dirty="0"/>
              <a:t>Drop in critical thinking skills?</a:t>
            </a:r>
          </a:p>
        </p:txBody>
      </p:sp>
      <p:sp>
        <p:nvSpPr>
          <p:cNvPr id="10" name="TextBox 9">
            <a:extLst>
              <a:ext uri="{FF2B5EF4-FFF2-40B4-BE49-F238E27FC236}">
                <a16:creationId xmlns:a16="http://schemas.microsoft.com/office/drawing/2014/main" id="{3939BC28-7964-8189-0281-C458624722CE}"/>
              </a:ext>
            </a:extLst>
          </p:cNvPr>
          <p:cNvSpPr txBox="1"/>
          <p:nvPr/>
        </p:nvSpPr>
        <p:spPr>
          <a:xfrm>
            <a:off x="4593771" y="3142343"/>
            <a:ext cx="1446230" cy="369332"/>
          </a:xfrm>
          <a:prstGeom prst="rect">
            <a:avLst/>
          </a:prstGeom>
          <a:noFill/>
        </p:spPr>
        <p:txBody>
          <a:bodyPr wrap="none" rtlCol="0">
            <a:spAutoFit/>
          </a:bodyPr>
          <a:lstStyle/>
          <a:p>
            <a:r>
              <a:rPr lang="en-GB" dirty="0"/>
              <a:t>S</a:t>
            </a:r>
            <a:r>
              <a:rPr lang="en-DK" dirty="0"/>
              <a:t>ome chart?</a:t>
            </a:r>
          </a:p>
        </p:txBody>
      </p:sp>
      <p:sp>
        <p:nvSpPr>
          <p:cNvPr id="11" name="TextBox 10">
            <a:extLst>
              <a:ext uri="{FF2B5EF4-FFF2-40B4-BE49-F238E27FC236}">
                <a16:creationId xmlns:a16="http://schemas.microsoft.com/office/drawing/2014/main" id="{473A8C3D-8E88-BC8F-B900-538A37A67482}"/>
              </a:ext>
            </a:extLst>
          </p:cNvPr>
          <p:cNvSpPr txBox="1"/>
          <p:nvPr/>
        </p:nvSpPr>
        <p:spPr>
          <a:xfrm>
            <a:off x="3108996" y="1693338"/>
            <a:ext cx="1916615" cy="369332"/>
          </a:xfrm>
          <a:prstGeom prst="rect">
            <a:avLst/>
          </a:prstGeom>
          <a:noFill/>
        </p:spPr>
        <p:txBody>
          <a:bodyPr wrap="none" rtlCol="0">
            <a:spAutoFit/>
          </a:bodyPr>
          <a:lstStyle/>
          <a:p>
            <a:r>
              <a:rPr lang="en-DK" dirty="0"/>
              <a:t>Mental offloading</a:t>
            </a:r>
          </a:p>
        </p:txBody>
      </p:sp>
      <p:sp>
        <p:nvSpPr>
          <p:cNvPr id="12" name="TextBox 11">
            <a:extLst>
              <a:ext uri="{FF2B5EF4-FFF2-40B4-BE49-F238E27FC236}">
                <a16:creationId xmlns:a16="http://schemas.microsoft.com/office/drawing/2014/main" id="{3C6CA554-7B2C-48F3-F6E7-74CA65711719}"/>
              </a:ext>
            </a:extLst>
          </p:cNvPr>
          <p:cNvSpPr txBox="1"/>
          <p:nvPr/>
        </p:nvSpPr>
        <p:spPr>
          <a:xfrm>
            <a:off x="6959150" y="1270450"/>
            <a:ext cx="1716111" cy="369332"/>
          </a:xfrm>
          <a:prstGeom prst="rect">
            <a:avLst/>
          </a:prstGeom>
          <a:noFill/>
        </p:spPr>
        <p:txBody>
          <a:bodyPr wrap="none" rtlCol="0">
            <a:spAutoFit/>
          </a:bodyPr>
          <a:lstStyle/>
          <a:p>
            <a:r>
              <a:rPr lang="en-GB" dirty="0">
                <a:highlight>
                  <a:srgbClr val="FFFF00"/>
                </a:highlight>
              </a:rPr>
              <a:t>P</a:t>
            </a:r>
            <a:r>
              <a:rPr lang="en-DK" dirty="0">
                <a:highlight>
                  <a:srgbClr val="FFFF00"/>
                </a:highlight>
              </a:rPr>
              <a:t>rovide context</a:t>
            </a:r>
          </a:p>
        </p:txBody>
      </p:sp>
      <p:sp>
        <p:nvSpPr>
          <p:cNvPr id="22" name="TextBox 21">
            <a:extLst>
              <a:ext uri="{FF2B5EF4-FFF2-40B4-BE49-F238E27FC236}">
                <a16:creationId xmlns:a16="http://schemas.microsoft.com/office/drawing/2014/main" id="{3EC1FAB9-FED1-BF8B-53A9-05540BF06882}"/>
              </a:ext>
            </a:extLst>
          </p:cNvPr>
          <p:cNvSpPr txBox="1"/>
          <p:nvPr/>
        </p:nvSpPr>
        <p:spPr>
          <a:xfrm>
            <a:off x="223365" y="5524475"/>
            <a:ext cx="10304373" cy="646331"/>
          </a:xfrm>
          <a:prstGeom prst="rect">
            <a:avLst/>
          </a:prstGeom>
          <a:noFill/>
        </p:spPr>
        <p:txBody>
          <a:bodyPr wrap="square" rtlCol="0">
            <a:spAutoFit/>
          </a:bodyPr>
          <a:lstStyle/>
          <a:p>
            <a:r>
              <a:rPr lang="en-GB" dirty="0"/>
              <a:t>O</a:t>
            </a:r>
            <a:r>
              <a:rPr lang="en-DK" dirty="0"/>
              <a:t>ffloading irrelevant information can improve cognitive performance for subsequent unrelated tasks (more mental energy left)</a:t>
            </a:r>
          </a:p>
        </p:txBody>
      </p:sp>
      <p:sp>
        <p:nvSpPr>
          <p:cNvPr id="24" name="TextBox 23">
            <a:extLst>
              <a:ext uri="{FF2B5EF4-FFF2-40B4-BE49-F238E27FC236}">
                <a16:creationId xmlns:a16="http://schemas.microsoft.com/office/drawing/2014/main" id="{2260E919-CAD4-9E59-A422-335E2ABD4EF5}"/>
              </a:ext>
            </a:extLst>
          </p:cNvPr>
          <p:cNvSpPr txBox="1"/>
          <p:nvPr/>
        </p:nvSpPr>
        <p:spPr>
          <a:xfrm>
            <a:off x="901819" y="6146781"/>
            <a:ext cx="6891567" cy="369332"/>
          </a:xfrm>
          <a:prstGeom prst="rect">
            <a:avLst/>
          </a:prstGeom>
          <a:noFill/>
        </p:spPr>
        <p:txBody>
          <a:bodyPr wrap="none" rtlCol="0">
            <a:spAutoFit/>
          </a:bodyPr>
          <a:lstStyle/>
          <a:p>
            <a:r>
              <a:rPr lang="en-GB" dirty="0"/>
              <a:t>B</a:t>
            </a:r>
            <a:r>
              <a:rPr lang="en-DK" dirty="0"/>
              <a:t>ut frequent offloading can lead to impoverished of internal abilities</a:t>
            </a:r>
          </a:p>
        </p:txBody>
      </p:sp>
    </p:spTree>
    <p:extLst>
      <p:ext uri="{BB962C8B-B14F-4D97-AF65-F5344CB8AC3E}">
        <p14:creationId xmlns:p14="http://schemas.microsoft.com/office/powerpoint/2010/main" val="2510146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44523-9635-7F11-2F9D-4799D96EDFF2}"/>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85FDDAFC-B1B2-27D4-787E-8EEFFBAF3839}"/>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5A02EA6-F6CF-0BAC-E8B6-7A8748443FE2}"/>
              </a:ext>
            </a:extLst>
          </p:cNvPr>
          <p:cNvSpPr txBox="1"/>
          <p:nvPr/>
        </p:nvSpPr>
        <p:spPr>
          <a:xfrm>
            <a:off x="223365" y="36291"/>
            <a:ext cx="5135443"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Cognitive effects</a:t>
            </a:r>
          </a:p>
        </p:txBody>
      </p:sp>
      <p:sp>
        <p:nvSpPr>
          <p:cNvPr id="2" name="TextBox 1">
            <a:extLst>
              <a:ext uri="{FF2B5EF4-FFF2-40B4-BE49-F238E27FC236}">
                <a16:creationId xmlns:a16="http://schemas.microsoft.com/office/drawing/2014/main" id="{AA1CA17A-3094-9A7C-F963-ED7B40022764}"/>
              </a:ext>
            </a:extLst>
          </p:cNvPr>
          <p:cNvSpPr txBox="1"/>
          <p:nvPr/>
        </p:nvSpPr>
        <p:spPr>
          <a:xfrm>
            <a:off x="1843536" y="1107437"/>
            <a:ext cx="4447536" cy="646331"/>
          </a:xfrm>
          <a:prstGeom prst="rect">
            <a:avLst/>
          </a:prstGeom>
          <a:noFill/>
        </p:spPr>
        <p:txBody>
          <a:bodyPr wrap="square" rtlCol="0">
            <a:spAutoFit/>
          </a:bodyPr>
          <a:lstStyle/>
          <a:p>
            <a:r>
              <a:rPr lang="en-DK" dirty="0"/>
              <a:t>Rise of the internet &amp; access to internet; decline of cognitive skills with regards to:</a:t>
            </a:r>
          </a:p>
        </p:txBody>
      </p:sp>
      <p:grpSp>
        <p:nvGrpSpPr>
          <p:cNvPr id="15" name="Group 14">
            <a:extLst>
              <a:ext uri="{FF2B5EF4-FFF2-40B4-BE49-F238E27FC236}">
                <a16:creationId xmlns:a16="http://schemas.microsoft.com/office/drawing/2014/main" id="{2CA0E44C-0D62-4C10-AC92-C75822212CB4}"/>
              </a:ext>
            </a:extLst>
          </p:cNvPr>
          <p:cNvGrpSpPr/>
          <p:nvPr/>
        </p:nvGrpSpPr>
        <p:grpSpPr>
          <a:xfrm>
            <a:off x="1823103" y="1954278"/>
            <a:ext cx="4362704" cy="369332"/>
            <a:chOff x="1151931" y="1863697"/>
            <a:chExt cx="4362704" cy="369332"/>
          </a:xfrm>
        </p:grpSpPr>
        <p:sp>
          <p:nvSpPr>
            <p:cNvPr id="9" name="TextBox 8">
              <a:extLst>
                <a:ext uri="{FF2B5EF4-FFF2-40B4-BE49-F238E27FC236}">
                  <a16:creationId xmlns:a16="http://schemas.microsoft.com/office/drawing/2014/main" id="{800124B3-2655-9D19-7509-3BF139FD4A9B}"/>
                </a:ext>
              </a:extLst>
            </p:cNvPr>
            <p:cNvSpPr txBox="1"/>
            <p:nvPr/>
          </p:nvSpPr>
          <p:spPr>
            <a:xfrm>
              <a:off x="1450635" y="1863697"/>
              <a:ext cx="4064000" cy="369332"/>
            </a:xfrm>
            <a:prstGeom prst="rect">
              <a:avLst/>
            </a:prstGeom>
            <a:noFill/>
          </p:spPr>
          <p:txBody>
            <a:bodyPr wrap="square" rtlCol="0">
              <a:spAutoFit/>
            </a:bodyPr>
            <a:lstStyle/>
            <a:p>
              <a:r>
                <a:rPr lang="en-DK" dirty="0"/>
                <a:t>Memorisation (the Google effect)</a:t>
              </a:r>
            </a:p>
          </p:txBody>
        </p:sp>
        <p:sp>
          <p:nvSpPr>
            <p:cNvPr id="13" name="Oval 12">
              <a:extLst>
                <a:ext uri="{FF2B5EF4-FFF2-40B4-BE49-F238E27FC236}">
                  <a16:creationId xmlns:a16="http://schemas.microsoft.com/office/drawing/2014/main" id="{C6AF63B7-3249-71C4-45F6-E41082B4442A}"/>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7F5918A8-7B37-4A68-252F-0443167DCA1F}"/>
              </a:ext>
            </a:extLst>
          </p:cNvPr>
          <p:cNvGrpSpPr/>
          <p:nvPr/>
        </p:nvGrpSpPr>
        <p:grpSpPr>
          <a:xfrm>
            <a:off x="1823103" y="2591894"/>
            <a:ext cx="6211424" cy="369332"/>
            <a:chOff x="1151931" y="1863697"/>
            <a:chExt cx="6211424" cy="369332"/>
          </a:xfrm>
        </p:grpSpPr>
        <p:sp>
          <p:nvSpPr>
            <p:cNvPr id="17" name="TextBox 16">
              <a:extLst>
                <a:ext uri="{FF2B5EF4-FFF2-40B4-BE49-F238E27FC236}">
                  <a16:creationId xmlns:a16="http://schemas.microsoft.com/office/drawing/2014/main" id="{C2F50586-4313-B9AA-95BB-FF8B2A830F9B}"/>
                </a:ext>
              </a:extLst>
            </p:cNvPr>
            <p:cNvSpPr txBox="1"/>
            <p:nvPr/>
          </p:nvSpPr>
          <p:spPr>
            <a:xfrm>
              <a:off x="1450634" y="1863697"/>
              <a:ext cx="5912721" cy="369332"/>
            </a:xfrm>
            <a:prstGeom prst="rect">
              <a:avLst/>
            </a:prstGeom>
            <a:noFill/>
          </p:spPr>
          <p:txBody>
            <a:bodyPr wrap="square" rtlCol="0">
              <a:spAutoFit/>
            </a:bodyPr>
            <a:lstStyle/>
            <a:p>
              <a:r>
                <a:rPr lang="en-DK" dirty="0"/>
                <a:t>Attention span ‘doom scrolling’ (short form content)</a:t>
              </a:r>
            </a:p>
          </p:txBody>
        </p:sp>
        <p:sp>
          <p:nvSpPr>
            <p:cNvPr id="18" name="Oval 17">
              <a:extLst>
                <a:ext uri="{FF2B5EF4-FFF2-40B4-BE49-F238E27FC236}">
                  <a16:creationId xmlns:a16="http://schemas.microsoft.com/office/drawing/2014/main" id="{F8158F6F-7DDC-DE32-C501-D88BED6186BF}"/>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64A60CF2-083F-5C20-9D07-2950811FDD5C}"/>
              </a:ext>
            </a:extLst>
          </p:cNvPr>
          <p:cNvGrpSpPr/>
          <p:nvPr/>
        </p:nvGrpSpPr>
        <p:grpSpPr>
          <a:xfrm>
            <a:off x="1823103" y="3197050"/>
            <a:ext cx="7290416" cy="369332"/>
            <a:chOff x="1151931" y="1863697"/>
            <a:chExt cx="7290416" cy="369332"/>
          </a:xfrm>
        </p:grpSpPr>
        <p:sp>
          <p:nvSpPr>
            <p:cNvPr id="20" name="TextBox 19">
              <a:extLst>
                <a:ext uri="{FF2B5EF4-FFF2-40B4-BE49-F238E27FC236}">
                  <a16:creationId xmlns:a16="http://schemas.microsoft.com/office/drawing/2014/main" id="{FE0ADC9F-A386-96C6-3470-BFFB71E2BEFD}"/>
                </a:ext>
              </a:extLst>
            </p:cNvPr>
            <p:cNvSpPr txBox="1"/>
            <p:nvPr/>
          </p:nvSpPr>
          <p:spPr>
            <a:xfrm>
              <a:off x="1450634" y="1863697"/>
              <a:ext cx="6991713" cy="369332"/>
            </a:xfrm>
            <a:prstGeom prst="rect">
              <a:avLst/>
            </a:prstGeom>
            <a:noFill/>
          </p:spPr>
          <p:txBody>
            <a:bodyPr wrap="square" rtlCol="0">
              <a:spAutoFit/>
            </a:bodyPr>
            <a:lstStyle/>
            <a:p>
              <a:r>
                <a:rPr lang="en-DK" dirty="0"/>
                <a:t>Cognitive overload / ‘brain rot’ (oversumption of low quality content)</a:t>
              </a:r>
            </a:p>
          </p:txBody>
        </p:sp>
        <p:sp>
          <p:nvSpPr>
            <p:cNvPr id="21" name="Oval 20">
              <a:extLst>
                <a:ext uri="{FF2B5EF4-FFF2-40B4-BE49-F238E27FC236}">
                  <a16:creationId xmlns:a16="http://schemas.microsoft.com/office/drawing/2014/main" id="{53C219B8-CDE3-4425-E96F-9C64A7813D3C}"/>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TextBox 2">
            <a:extLst>
              <a:ext uri="{FF2B5EF4-FFF2-40B4-BE49-F238E27FC236}">
                <a16:creationId xmlns:a16="http://schemas.microsoft.com/office/drawing/2014/main" id="{826EA65F-5FA9-82FB-6D61-1146AC5BAC56}"/>
              </a:ext>
            </a:extLst>
          </p:cNvPr>
          <p:cNvSpPr txBox="1"/>
          <p:nvPr/>
        </p:nvSpPr>
        <p:spPr>
          <a:xfrm>
            <a:off x="4614529" y="4468286"/>
            <a:ext cx="473206" cy="369332"/>
          </a:xfrm>
          <a:prstGeom prst="rect">
            <a:avLst/>
          </a:prstGeom>
          <a:noFill/>
        </p:spPr>
        <p:txBody>
          <a:bodyPr wrap="none" rtlCol="0">
            <a:spAutoFit/>
          </a:bodyPr>
          <a:lstStyle/>
          <a:p>
            <a:pPr marL="285750" indent="-285750">
              <a:buFontTx/>
              <a:buChar char="-"/>
            </a:pPr>
            <a:endParaRPr lang="en-DK" dirty="0"/>
          </a:p>
        </p:txBody>
      </p:sp>
      <p:sp>
        <p:nvSpPr>
          <p:cNvPr id="4" name="TextBox 3">
            <a:extLst>
              <a:ext uri="{FF2B5EF4-FFF2-40B4-BE49-F238E27FC236}">
                <a16:creationId xmlns:a16="http://schemas.microsoft.com/office/drawing/2014/main" id="{B74E2EF3-746A-B442-03D8-4A9935139077}"/>
              </a:ext>
            </a:extLst>
          </p:cNvPr>
          <p:cNvSpPr txBox="1"/>
          <p:nvPr/>
        </p:nvSpPr>
        <p:spPr>
          <a:xfrm>
            <a:off x="2842754" y="4203489"/>
            <a:ext cx="4149662" cy="369332"/>
          </a:xfrm>
          <a:prstGeom prst="rect">
            <a:avLst/>
          </a:prstGeom>
          <a:noFill/>
        </p:spPr>
        <p:txBody>
          <a:bodyPr wrap="none" rtlCol="0">
            <a:spAutoFit/>
          </a:bodyPr>
          <a:lstStyle/>
          <a:p>
            <a:r>
              <a:rPr lang="en-DK" dirty="0"/>
              <a:t>Not unprecendented, but still early days</a:t>
            </a:r>
          </a:p>
        </p:txBody>
      </p:sp>
      <p:sp>
        <p:nvSpPr>
          <p:cNvPr id="5" name="TextBox 4">
            <a:extLst>
              <a:ext uri="{FF2B5EF4-FFF2-40B4-BE49-F238E27FC236}">
                <a16:creationId xmlns:a16="http://schemas.microsoft.com/office/drawing/2014/main" id="{66E54B0F-4036-5655-EE83-A096A4C96E21}"/>
              </a:ext>
            </a:extLst>
          </p:cNvPr>
          <p:cNvSpPr txBox="1"/>
          <p:nvPr/>
        </p:nvSpPr>
        <p:spPr>
          <a:xfrm>
            <a:off x="4289800" y="5077949"/>
            <a:ext cx="5006600" cy="646331"/>
          </a:xfrm>
          <a:prstGeom prst="rect">
            <a:avLst/>
          </a:prstGeom>
          <a:noFill/>
        </p:spPr>
        <p:txBody>
          <a:bodyPr wrap="square" rtlCol="0">
            <a:spAutoFit/>
          </a:bodyPr>
          <a:lstStyle/>
          <a:p>
            <a:r>
              <a:rPr lang="en-DK" dirty="0"/>
              <a:t>Clear pros and cons of the internet, regulation slow to catch up to minimize the cons</a:t>
            </a:r>
          </a:p>
        </p:txBody>
      </p:sp>
      <p:sp>
        <p:nvSpPr>
          <p:cNvPr id="6" name="TextBox 5">
            <a:extLst>
              <a:ext uri="{FF2B5EF4-FFF2-40B4-BE49-F238E27FC236}">
                <a16:creationId xmlns:a16="http://schemas.microsoft.com/office/drawing/2014/main" id="{DFF85D67-3161-A3D0-36C6-18526D527653}"/>
              </a:ext>
            </a:extLst>
          </p:cNvPr>
          <p:cNvSpPr txBox="1"/>
          <p:nvPr/>
        </p:nvSpPr>
        <p:spPr>
          <a:xfrm>
            <a:off x="7143260" y="784271"/>
            <a:ext cx="2968226" cy="369332"/>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We have seen this before</a:t>
            </a:r>
          </a:p>
        </p:txBody>
      </p:sp>
      <p:sp>
        <p:nvSpPr>
          <p:cNvPr id="7" name="TextBox 6">
            <a:extLst>
              <a:ext uri="{FF2B5EF4-FFF2-40B4-BE49-F238E27FC236}">
                <a16:creationId xmlns:a16="http://schemas.microsoft.com/office/drawing/2014/main" id="{845716A8-3C8D-95CA-EDEC-354566FE2841}"/>
              </a:ext>
            </a:extLst>
          </p:cNvPr>
          <p:cNvSpPr txBox="1"/>
          <p:nvPr/>
        </p:nvSpPr>
        <p:spPr>
          <a:xfrm>
            <a:off x="1032387" y="5973097"/>
            <a:ext cx="2823978" cy="369332"/>
          </a:xfrm>
          <a:prstGeom prst="rect">
            <a:avLst/>
          </a:prstGeom>
          <a:noFill/>
        </p:spPr>
        <p:txBody>
          <a:bodyPr wrap="none" rtlCol="0">
            <a:spAutoFit/>
          </a:bodyPr>
          <a:lstStyle/>
          <a:p>
            <a:r>
              <a:rPr lang="en-DK" dirty="0">
                <a:highlight>
                  <a:srgbClr val="FFFF00"/>
                </a:highlight>
              </a:rPr>
              <a:t>Vis. Three sideways blocks</a:t>
            </a:r>
          </a:p>
        </p:txBody>
      </p:sp>
      <p:sp>
        <p:nvSpPr>
          <p:cNvPr id="8" name="TextBox 7">
            <a:extLst>
              <a:ext uri="{FF2B5EF4-FFF2-40B4-BE49-F238E27FC236}">
                <a16:creationId xmlns:a16="http://schemas.microsoft.com/office/drawing/2014/main" id="{D90F16E9-08D7-14B1-5327-1713411AEA81}"/>
              </a:ext>
            </a:extLst>
          </p:cNvPr>
          <p:cNvSpPr txBox="1"/>
          <p:nvPr/>
        </p:nvSpPr>
        <p:spPr>
          <a:xfrm>
            <a:off x="8686801" y="1987628"/>
            <a:ext cx="3065455" cy="369332"/>
          </a:xfrm>
          <a:prstGeom prst="rect">
            <a:avLst/>
          </a:prstGeom>
          <a:noFill/>
        </p:spPr>
        <p:txBody>
          <a:bodyPr wrap="none" rtlCol="0">
            <a:spAutoFit/>
          </a:bodyPr>
          <a:lstStyle/>
          <a:p>
            <a:r>
              <a:rPr lang="en-DK" dirty="0"/>
              <a:t>GPS use &amp; spatial awareness</a:t>
            </a:r>
          </a:p>
        </p:txBody>
      </p:sp>
    </p:spTree>
    <p:extLst>
      <p:ext uri="{BB962C8B-B14F-4D97-AF65-F5344CB8AC3E}">
        <p14:creationId xmlns:p14="http://schemas.microsoft.com/office/powerpoint/2010/main" val="1854988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F037-F591-4B76-A9B2-31725FE89F21}"/>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2F9FA336-6F23-8FB9-63E0-7398235ECCCF}"/>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93CEE81-6834-E5C1-F140-4046138F28AB}"/>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Cognitive effects</a:t>
            </a:r>
          </a:p>
        </p:txBody>
      </p:sp>
      <p:grpSp>
        <p:nvGrpSpPr>
          <p:cNvPr id="15" name="Group 14">
            <a:extLst>
              <a:ext uri="{FF2B5EF4-FFF2-40B4-BE49-F238E27FC236}">
                <a16:creationId xmlns:a16="http://schemas.microsoft.com/office/drawing/2014/main" id="{B29DAAC0-E9AF-A7B0-0B8F-65D8806CA886}"/>
              </a:ext>
            </a:extLst>
          </p:cNvPr>
          <p:cNvGrpSpPr/>
          <p:nvPr/>
        </p:nvGrpSpPr>
        <p:grpSpPr>
          <a:xfrm>
            <a:off x="1823103" y="1954278"/>
            <a:ext cx="4362704" cy="369332"/>
            <a:chOff x="1151931" y="1863697"/>
            <a:chExt cx="4362704" cy="369332"/>
          </a:xfrm>
        </p:grpSpPr>
        <p:sp>
          <p:nvSpPr>
            <p:cNvPr id="9" name="TextBox 8">
              <a:extLst>
                <a:ext uri="{FF2B5EF4-FFF2-40B4-BE49-F238E27FC236}">
                  <a16:creationId xmlns:a16="http://schemas.microsoft.com/office/drawing/2014/main" id="{B62EDA50-12B3-C4E3-ADEE-D9D10543A70C}"/>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Never-skilling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A7296413-9B3A-CE74-8F56-6A4BEF3CEDDD}"/>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B562C4E3-DE3E-CE83-47AC-966ADEEE265B}"/>
              </a:ext>
            </a:extLst>
          </p:cNvPr>
          <p:cNvGrpSpPr/>
          <p:nvPr/>
        </p:nvGrpSpPr>
        <p:grpSpPr>
          <a:xfrm>
            <a:off x="1823103" y="2591894"/>
            <a:ext cx="4362704" cy="369332"/>
            <a:chOff x="1151931" y="1863697"/>
            <a:chExt cx="4362704" cy="369332"/>
          </a:xfrm>
        </p:grpSpPr>
        <p:sp>
          <p:nvSpPr>
            <p:cNvPr id="17" name="TextBox 16">
              <a:extLst>
                <a:ext uri="{FF2B5EF4-FFF2-40B4-BE49-F238E27FC236}">
                  <a16:creationId xmlns:a16="http://schemas.microsoft.com/office/drawing/2014/main" id="{0AB982FE-D7D5-FD6E-FC98-149C4908F7F4}"/>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Deskilling</a:t>
              </a:r>
            </a:p>
          </p:txBody>
        </p:sp>
        <p:sp>
          <p:nvSpPr>
            <p:cNvPr id="18" name="Oval 17">
              <a:extLst>
                <a:ext uri="{FF2B5EF4-FFF2-40B4-BE49-F238E27FC236}">
                  <a16:creationId xmlns:a16="http://schemas.microsoft.com/office/drawing/2014/main" id="{A0781833-1CFB-F29B-025B-5F0B061CE6EF}"/>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320110A8-D7B4-0CC5-344D-86109EDE817C}"/>
              </a:ext>
            </a:extLst>
          </p:cNvPr>
          <p:cNvGrpSpPr/>
          <p:nvPr/>
        </p:nvGrpSpPr>
        <p:grpSpPr>
          <a:xfrm>
            <a:off x="1823103" y="3197050"/>
            <a:ext cx="4362704" cy="369332"/>
            <a:chOff x="1151931" y="1863697"/>
            <a:chExt cx="4362704" cy="369332"/>
          </a:xfrm>
        </p:grpSpPr>
        <p:sp>
          <p:nvSpPr>
            <p:cNvPr id="20" name="TextBox 19">
              <a:extLst>
                <a:ext uri="{FF2B5EF4-FFF2-40B4-BE49-F238E27FC236}">
                  <a16:creationId xmlns:a16="http://schemas.microsoft.com/office/drawing/2014/main" id="{7A58450F-E58D-960E-A1CF-D94018A2EEB7}"/>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Mis-skilling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442CDF0F-9753-806F-2D84-D476F0E889D0}"/>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C5DF93E9-5588-36AE-1BC1-853237904A6E}"/>
              </a:ext>
            </a:extLst>
          </p:cNvPr>
          <p:cNvGrpSpPr/>
          <p:nvPr/>
        </p:nvGrpSpPr>
        <p:grpSpPr>
          <a:xfrm>
            <a:off x="1823103" y="3833695"/>
            <a:ext cx="4362704" cy="369332"/>
            <a:chOff x="1151931" y="1863697"/>
            <a:chExt cx="4362704" cy="369332"/>
          </a:xfrm>
        </p:grpSpPr>
        <p:sp>
          <p:nvSpPr>
            <p:cNvPr id="23" name="TextBox 22">
              <a:extLst>
                <a:ext uri="{FF2B5EF4-FFF2-40B4-BE49-F238E27FC236}">
                  <a16:creationId xmlns:a16="http://schemas.microsoft.com/office/drawing/2014/main" id="{01CA1A9D-412F-44C9-F112-ECA4C6F5D32A}"/>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Upskilling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314BC9C4-4F51-2E62-A017-22E1B31A99B9}"/>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extBox 1">
            <a:extLst>
              <a:ext uri="{FF2B5EF4-FFF2-40B4-BE49-F238E27FC236}">
                <a16:creationId xmlns:a16="http://schemas.microsoft.com/office/drawing/2014/main" id="{F66384FD-9561-2954-1092-5F178C51819A}"/>
              </a:ext>
            </a:extLst>
          </p:cNvPr>
          <p:cNvSpPr txBox="1"/>
          <p:nvPr/>
        </p:nvSpPr>
        <p:spPr>
          <a:xfrm>
            <a:off x="7445587" y="2741246"/>
            <a:ext cx="2301464" cy="369332"/>
          </a:xfrm>
          <a:prstGeom prst="rect">
            <a:avLst/>
          </a:prstGeom>
          <a:noFill/>
        </p:spPr>
        <p:txBody>
          <a:bodyPr wrap="none" rtlCol="0">
            <a:spAutoFit/>
          </a:bodyPr>
          <a:lstStyle/>
          <a:p>
            <a:r>
              <a:rPr lang="en-GB" dirty="0">
                <a:highlight>
                  <a:srgbClr val="FFFF00"/>
                </a:highlight>
                <a:ea typeface="Calibri" panose="020F0502020204030204" pitchFamily="34" charset="0"/>
                <a:cs typeface="Calibri" panose="020F0502020204030204" pitchFamily="34" charset="0"/>
              </a:rPr>
              <a:t>Some good image/vis</a:t>
            </a:r>
          </a:p>
        </p:txBody>
      </p:sp>
      <p:pic>
        <p:nvPicPr>
          <p:cNvPr id="4" name="Picture 3" descr="Light bulb on yellow background with sketched light beams and cord">
            <a:extLst>
              <a:ext uri="{FF2B5EF4-FFF2-40B4-BE49-F238E27FC236}">
                <a16:creationId xmlns:a16="http://schemas.microsoft.com/office/drawing/2014/main" id="{EA8B5002-BA59-C68A-C444-472173A1F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5587" y="3643086"/>
            <a:ext cx="3719390" cy="2288296"/>
          </a:xfrm>
          <a:prstGeom prst="rect">
            <a:avLst/>
          </a:prstGeom>
        </p:spPr>
      </p:pic>
      <p:pic>
        <p:nvPicPr>
          <p:cNvPr id="26" name="Graphic 25" descr="Good Idea with solid fill">
            <a:extLst>
              <a:ext uri="{FF2B5EF4-FFF2-40B4-BE49-F238E27FC236}">
                <a16:creationId xmlns:a16="http://schemas.microsoft.com/office/drawing/2014/main" id="{EF15D414-E206-7EB2-EBEB-9609423925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55268" y="1380573"/>
            <a:ext cx="758371" cy="758371"/>
          </a:xfrm>
          <a:prstGeom prst="rect">
            <a:avLst/>
          </a:prstGeom>
        </p:spPr>
      </p:pic>
      <p:pic>
        <p:nvPicPr>
          <p:cNvPr id="28" name="Graphic 27" descr="Head with gears with solid fill">
            <a:extLst>
              <a:ext uri="{FF2B5EF4-FFF2-40B4-BE49-F238E27FC236}">
                <a16:creationId xmlns:a16="http://schemas.microsoft.com/office/drawing/2014/main" id="{AC305707-AC1F-B522-5114-E6386C5DD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67865" y="1683204"/>
            <a:ext cx="758371" cy="758371"/>
          </a:xfrm>
          <a:prstGeom prst="rect">
            <a:avLst/>
          </a:prstGeom>
        </p:spPr>
      </p:pic>
      <p:pic>
        <p:nvPicPr>
          <p:cNvPr id="30" name="Graphic 29" descr="Heart with solid fill">
            <a:extLst>
              <a:ext uri="{FF2B5EF4-FFF2-40B4-BE49-F238E27FC236}">
                <a16:creationId xmlns:a16="http://schemas.microsoft.com/office/drawing/2014/main" id="{AC3CA8A1-196D-2A10-F09F-620F02F54A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7133" y="463117"/>
            <a:ext cx="758371" cy="758371"/>
          </a:xfrm>
          <a:prstGeom prst="rect">
            <a:avLst/>
          </a:prstGeom>
        </p:spPr>
      </p:pic>
      <p:sp>
        <p:nvSpPr>
          <p:cNvPr id="31" name="TextBox 30">
            <a:extLst>
              <a:ext uri="{FF2B5EF4-FFF2-40B4-BE49-F238E27FC236}">
                <a16:creationId xmlns:a16="http://schemas.microsoft.com/office/drawing/2014/main" id="{68D0C23E-53D4-6FE4-6D3F-78EC809F5084}"/>
              </a:ext>
            </a:extLst>
          </p:cNvPr>
          <p:cNvSpPr txBox="1"/>
          <p:nvPr/>
        </p:nvSpPr>
        <p:spPr>
          <a:xfrm>
            <a:off x="2121807" y="4470340"/>
            <a:ext cx="4064000" cy="646331"/>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Automation bias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9ABAA227-C4F1-927A-A7EA-CA5AF1BF5A90}"/>
              </a:ext>
            </a:extLst>
          </p:cNvPr>
          <p:cNvSpPr/>
          <p:nvPr/>
        </p:nvSpPr>
        <p:spPr>
          <a:xfrm>
            <a:off x="1823103" y="4505654"/>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02617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8B78D-F2AC-6746-24AC-3BDCDB0DE5D0}"/>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745BFC16-353F-445A-663F-4F60C37DDE52}"/>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64B8BA6-F2A6-A82C-ABEF-13D1F8367B47}"/>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Never-skilling</a:t>
            </a:r>
          </a:p>
        </p:txBody>
      </p:sp>
      <p:sp>
        <p:nvSpPr>
          <p:cNvPr id="11" name="TextBox 10">
            <a:extLst>
              <a:ext uri="{FF2B5EF4-FFF2-40B4-BE49-F238E27FC236}">
                <a16:creationId xmlns:a16="http://schemas.microsoft.com/office/drawing/2014/main" id="{0955D9A4-208E-B56D-B2C3-2049E307B056}"/>
              </a:ext>
            </a:extLst>
          </p:cNvPr>
          <p:cNvSpPr txBox="1"/>
          <p:nvPr/>
        </p:nvSpPr>
        <p:spPr>
          <a:xfrm>
            <a:off x="223365" y="6001434"/>
            <a:ext cx="5676378" cy="646331"/>
          </a:xfrm>
          <a:prstGeom prst="rect">
            <a:avLst/>
          </a:prstGeom>
          <a:noFill/>
        </p:spPr>
        <p:txBody>
          <a:bodyPr wrap="square" rtlCol="0">
            <a:spAutoFit/>
          </a:bodyPr>
          <a:lstStyle/>
          <a:p>
            <a:r>
              <a:rPr lang="en-DK" sz="1200" dirty="0"/>
              <a:t>Stromberg, David and Lei, Victor and Wu, Yanhui, </a:t>
            </a:r>
            <a:r>
              <a:rPr lang="en-DK" sz="1200" b="1" dirty="0"/>
              <a:t>The Generative AI Learning Penalty: Evidence from Chinese Secondary Education </a:t>
            </a:r>
            <a:r>
              <a:rPr lang="en-DK" sz="1200" dirty="0"/>
              <a:t>(June 02, 2026). </a:t>
            </a:r>
            <a:r>
              <a:rPr lang="en-DK" sz="1200" u="sng" dirty="0">
                <a:hlinkClick r:id="rId3"/>
              </a:rPr>
              <a:t>http://dx.doi.org/10.2139/ssrn.6868618</a:t>
            </a:r>
            <a:endParaRPr lang="en-GB" sz="1200" b="1" dirty="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2A27AED-8717-4602-F26D-C44DC3D9DB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470" y="2829455"/>
            <a:ext cx="3879395" cy="1992840"/>
          </a:xfrm>
          <a:prstGeom prst="rect">
            <a:avLst/>
          </a:prstGeom>
        </p:spPr>
      </p:pic>
      <p:pic>
        <p:nvPicPr>
          <p:cNvPr id="7" name="Picture 6">
            <a:extLst>
              <a:ext uri="{FF2B5EF4-FFF2-40B4-BE49-F238E27FC236}">
                <a16:creationId xmlns:a16="http://schemas.microsoft.com/office/drawing/2014/main" id="{ADCB8927-F8E2-5860-2B59-DF2E572149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46368" y="2753783"/>
            <a:ext cx="3958494" cy="2144184"/>
          </a:xfrm>
          <a:prstGeom prst="rect">
            <a:avLst/>
          </a:prstGeom>
        </p:spPr>
      </p:pic>
      <p:pic>
        <p:nvPicPr>
          <p:cNvPr id="9" name="Picture 8">
            <a:extLst>
              <a:ext uri="{FF2B5EF4-FFF2-40B4-BE49-F238E27FC236}">
                <a16:creationId xmlns:a16="http://schemas.microsoft.com/office/drawing/2014/main" id="{B28CECE5-5045-802B-5835-8F69A9267A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73301" y="2753783"/>
            <a:ext cx="4106182" cy="2144184"/>
          </a:xfrm>
          <a:prstGeom prst="rect">
            <a:avLst/>
          </a:prstGeom>
        </p:spPr>
      </p:pic>
      <p:pic>
        <p:nvPicPr>
          <p:cNvPr id="12" name="Picture 11">
            <a:extLst>
              <a:ext uri="{FF2B5EF4-FFF2-40B4-BE49-F238E27FC236}">
                <a16:creationId xmlns:a16="http://schemas.microsoft.com/office/drawing/2014/main" id="{23D15B2C-787D-0EF8-2BFB-48A814E5D5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80235" y="5249721"/>
            <a:ext cx="1747556" cy="1398044"/>
          </a:xfrm>
          <a:prstGeom prst="rect">
            <a:avLst/>
          </a:prstGeom>
        </p:spPr>
      </p:pic>
      <p:sp>
        <p:nvSpPr>
          <p:cNvPr id="13" name="TextBox 12">
            <a:extLst>
              <a:ext uri="{FF2B5EF4-FFF2-40B4-BE49-F238E27FC236}">
                <a16:creationId xmlns:a16="http://schemas.microsoft.com/office/drawing/2014/main" id="{D4494421-DB5C-66C7-736F-0D609489DFEC}"/>
              </a:ext>
            </a:extLst>
          </p:cNvPr>
          <p:cNvSpPr txBox="1"/>
          <p:nvPr/>
        </p:nvSpPr>
        <p:spPr>
          <a:xfrm>
            <a:off x="880957" y="1416757"/>
            <a:ext cx="2180597" cy="369332"/>
          </a:xfrm>
          <a:prstGeom prst="rect">
            <a:avLst/>
          </a:prstGeom>
          <a:noFill/>
        </p:spPr>
        <p:txBody>
          <a:bodyPr wrap="none" rtlCol="0">
            <a:spAutoFit/>
          </a:bodyPr>
          <a:lstStyle/>
          <a:p>
            <a:r>
              <a:rPr lang="en-DK" dirty="0">
                <a:highlight>
                  <a:srgbClr val="00FFFF"/>
                </a:highlight>
              </a:rPr>
              <a:t>In a learning context</a:t>
            </a:r>
          </a:p>
        </p:txBody>
      </p:sp>
      <p:sp>
        <p:nvSpPr>
          <p:cNvPr id="2" name="TextBox 1">
            <a:extLst>
              <a:ext uri="{FF2B5EF4-FFF2-40B4-BE49-F238E27FC236}">
                <a16:creationId xmlns:a16="http://schemas.microsoft.com/office/drawing/2014/main" id="{E3F5F9B0-8A0F-2615-0B56-2329DE4692D6}"/>
              </a:ext>
            </a:extLst>
          </p:cNvPr>
          <p:cNvSpPr txBox="1"/>
          <p:nvPr/>
        </p:nvSpPr>
        <p:spPr>
          <a:xfrm>
            <a:off x="998669" y="2237621"/>
            <a:ext cx="2567306" cy="369332"/>
          </a:xfrm>
          <a:prstGeom prst="rect">
            <a:avLst/>
          </a:prstGeom>
          <a:noFill/>
        </p:spPr>
        <p:txBody>
          <a:bodyPr wrap="none" rtlCol="0">
            <a:spAutoFit/>
          </a:bodyPr>
          <a:lstStyle/>
          <a:p>
            <a:r>
              <a:rPr lang="en-GB" dirty="0"/>
              <a:t>P</a:t>
            </a:r>
            <a:r>
              <a:rPr lang="en-DK" dirty="0"/>
              <a:t>erformance homework</a:t>
            </a:r>
          </a:p>
        </p:txBody>
      </p:sp>
      <p:sp>
        <p:nvSpPr>
          <p:cNvPr id="3" name="TextBox 2">
            <a:extLst>
              <a:ext uri="{FF2B5EF4-FFF2-40B4-BE49-F238E27FC236}">
                <a16:creationId xmlns:a16="http://schemas.microsoft.com/office/drawing/2014/main" id="{FBD4D999-1CCD-D7C2-286F-E68C5D53EAFA}"/>
              </a:ext>
            </a:extLst>
          </p:cNvPr>
          <p:cNvSpPr txBox="1"/>
          <p:nvPr/>
        </p:nvSpPr>
        <p:spPr>
          <a:xfrm>
            <a:off x="4906059" y="2237621"/>
            <a:ext cx="2379882" cy="369332"/>
          </a:xfrm>
          <a:prstGeom prst="rect">
            <a:avLst/>
          </a:prstGeom>
          <a:noFill/>
        </p:spPr>
        <p:txBody>
          <a:bodyPr wrap="none" rtlCol="0">
            <a:spAutoFit/>
          </a:bodyPr>
          <a:lstStyle/>
          <a:p>
            <a:r>
              <a:rPr lang="en-DK" dirty="0"/>
              <a:t>Time spent homework</a:t>
            </a:r>
          </a:p>
        </p:txBody>
      </p:sp>
      <p:sp>
        <p:nvSpPr>
          <p:cNvPr id="4" name="TextBox 3">
            <a:extLst>
              <a:ext uri="{FF2B5EF4-FFF2-40B4-BE49-F238E27FC236}">
                <a16:creationId xmlns:a16="http://schemas.microsoft.com/office/drawing/2014/main" id="{84F05ACC-EA5D-0E8F-4A9C-562016E71B0E}"/>
              </a:ext>
            </a:extLst>
          </p:cNvPr>
          <p:cNvSpPr txBox="1"/>
          <p:nvPr/>
        </p:nvSpPr>
        <p:spPr>
          <a:xfrm>
            <a:off x="8898770" y="2260084"/>
            <a:ext cx="2055243" cy="369332"/>
          </a:xfrm>
          <a:prstGeom prst="rect">
            <a:avLst/>
          </a:prstGeom>
          <a:noFill/>
        </p:spPr>
        <p:txBody>
          <a:bodyPr wrap="none" rtlCol="0">
            <a:spAutoFit/>
          </a:bodyPr>
          <a:lstStyle/>
          <a:p>
            <a:r>
              <a:rPr lang="en-DK" dirty="0"/>
              <a:t>Performance exam</a:t>
            </a:r>
          </a:p>
        </p:txBody>
      </p:sp>
    </p:spTree>
    <p:extLst>
      <p:ext uri="{BB962C8B-B14F-4D97-AF65-F5344CB8AC3E}">
        <p14:creationId xmlns:p14="http://schemas.microsoft.com/office/powerpoint/2010/main" val="2218941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B904-7D4B-6185-17CE-9EAF019A5BA1}"/>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A527C7F8-CF66-8656-BBC9-3E8A9381198D}"/>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5A476E1-EBBD-EF23-D7EB-3940060EC971}"/>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Deskilling</a:t>
            </a:r>
          </a:p>
        </p:txBody>
      </p:sp>
      <p:sp>
        <p:nvSpPr>
          <p:cNvPr id="13" name="TextBox 12">
            <a:extLst>
              <a:ext uri="{FF2B5EF4-FFF2-40B4-BE49-F238E27FC236}">
                <a16:creationId xmlns:a16="http://schemas.microsoft.com/office/drawing/2014/main" id="{FDC37124-C7CE-BB1F-BD69-58D5C261AF31}"/>
              </a:ext>
            </a:extLst>
          </p:cNvPr>
          <p:cNvSpPr txBox="1"/>
          <p:nvPr/>
        </p:nvSpPr>
        <p:spPr>
          <a:xfrm>
            <a:off x="880957" y="1416757"/>
            <a:ext cx="1859355" cy="369332"/>
          </a:xfrm>
          <a:prstGeom prst="rect">
            <a:avLst/>
          </a:prstGeom>
          <a:noFill/>
        </p:spPr>
        <p:txBody>
          <a:bodyPr wrap="none" rtlCol="0">
            <a:spAutoFit/>
          </a:bodyPr>
          <a:lstStyle/>
          <a:p>
            <a:r>
              <a:rPr lang="en-DK" dirty="0">
                <a:highlight>
                  <a:srgbClr val="00FFFF"/>
                </a:highlight>
              </a:rPr>
              <a:t>In a work context</a:t>
            </a:r>
          </a:p>
        </p:txBody>
      </p:sp>
      <p:pic>
        <p:nvPicPr>
          <p:cNvPr id="15" name="Picture 14">
            <a:extLst>
              <a:ext uri="{FF2B5EF4-FFF2-40B4-BE49-F238E27FC236}">
                <a16:creationId xmlns:a16="http://schemas.microsoft.com/office/drawing/2014/main" id="{E901EF16-0A43-FFBB-BAEA-FF27CFD8E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2250" y="1796902"/>
            <a:ext cx="6666101" cy="3264469"/>
          </a:xfrm>
          <a:prstGeom prst="rect">
            <a:avLst/>
          </a:prstGeom>
        </p:spPr>
      </p:pic>
      <p:sp>
        <p:nvSpPr>
          <p:cNvPr id="16" name="TextBox 15">
            <a:extLst>
              <a:ext uri="{FF2B5EF4-FFF2-40B4-BE49-F238E27FC236}">
                <a16:creationId xmlns:a16="http://schemas.microsoft.com/office/drawing/2014/main" id="{1A813D42-2250-3E15-4E49-40784096A810}"/>
              </a:ext>
            </a:extLst>
          </p:cNvPr>
          <p:cNvSpPr txBox="1"/>
          <p:nvPr/>
        </p:nvSpPr>
        <p:spPr>
          <a:xfrm>
            <a:off x="6139952" y="5299710"/>
            <a:ext cx="5676378" cy="461665"/>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From Berzin T, Topol E, </a:t>
            </a:r>
            <a:r>
              <a:rPr lang="en-GB" sz="1200" b="1" dirty="0">
                <a:ea typeface="Calibri" panose="020F0502020204030204" pitchFamily="34" charset="0"/>
                <a:cs typeface="Calibri" panose="020F0502020204030204" pitchFamily="34" charset="0"/>
              </a:rPr>
              <a:t>Preserving clinical skills in the age of AI assistance</a:t>
            </a:r>
            <a:r>
              <a:rPr lang="en-GB" sz="1200" dirty="0">
                <a:ea typeface="Calibri" panose="020F0502020204030204" pitchFamily="34" charset="0"/>
                <a:cs typeface="Calibri" panose="020F0502020204030204" pitchFamily="34" charset="0"/>
              </a:rPr>
              <a:t>, DOI: 10.1016/S0140-6736(25)02075-6</a:t>
            </a:r>
            <a:endParaRPr lang="en-GB" sz="1200" b="1" dirty="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44E7ADD-BF23-8163-0530-39B326B1007D}"/>
              </a:ext>
            </a:extLst>
          </p:cNvPr>
          <p:cNvSpPr txBox="1"/>
          <p:nvPr/>
        </p:nvSpPr>
        <p:spPr>
          <a:xfrm>
            <a:off x="647389" y="2823779"/>
            <a:ext cx="4185846" cy="1754326"/>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a:t>
            </a:r>
            <a:r>
              <a:rPr lang="en-DK" dirty="0"/>
              <a:t>An observational study published earlier this year, however, sharpens this concern, suggesting that experienced colonoscopists lost some proficiency in colon polyp detection when routine AI support was switched off.”</a:t>
            </a:r>
            <a:endParaRPr lang="en-GB"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1561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11D89-7386-484B-D89C-27DB3CA7D004}"/>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1D96BDB-BE65-0B3A-C3EA-5E5183EB2D21}"/>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79EEFE7-D038-5572-A400-918D176CCFD7}"/>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Mis-skilling &amp; Automation Bias</a:t>
            </a:r>
          </a:p>
        </p:txBody>
      </p:sp>
      <p:grpSp>
        <p:nvGrpSpPr>
          <p:cNvPr id="15" name="Group 14">
            <a:extLst>
              <a:ext uri="{FF2B5EF4-FFF2-40B4-BE49-F238E27FC236}">
                <a16:creationId xmlns:a16="http://schemas.microsoft.com/office/drawing/2014/main" id="{594425D8-9BF5-BBE2-569C-3303BB0C6BD7}"/>
              </a:ext>
            </a:extLst>
          </p:cNvPr>
          <p:cNvGrpSpPr/>
          <p:nvPr/>
        </p:nvGrpSpPr>
        <p:grpSpPr>
          <a:xfrm>
            <a:off x="1789892" y="876064"/>
            <a:ext cx="8612216" cy="5637086"/>
            <a:chOff x="1789892" y="1049490"/>
            <a:chExt cx="8612216" cy="5637086"/>
          </a:xfrm>
        </p:grpSpPr>
        <p:pic>
          <p:nvPicPr>
            <p:cNvPr id="2" name="Picture 1">
              <a:extLst>
                <a:ext uri="{FF2B5EF4-FFF2-40B4-BE49-F238E27FC236}">
                  <a16:creationId xmlns:a16="http://schemas.microsoft.com/office/drawing/2014/main" id="{FE56D3F2-78BE-3431-9EE4-605F83F6CD4D}"/>
                </a:ext>
              </a:extLst>
            </p:cNvPr>
            <p:cNvPicPr>
              <a:picLocks noChangeAspect="1"/>
            </p:cNvPicPr>
            <p:nvPr/>
          </p:nvPicPr>
          <p:blipFill>
            <a:blip r:embed="rId3"/>
            <a:stretch>
              <a:fillRect/>
            </a:stretch>
          </p:blipFill>
          <p:spPr>
            <a:xfrm>
              <a:off x="1789892" y="1049490"/>
              <a:ext cx="8612216" cy="5637086"/>
            </a:xfrm>
            <a:prstGeom prst="rect">
              <a:avLst/>
            </a:prstGeom>
          </p:spPr>
        </p:pic>
        <p:sp>
          <p:nvSpPr>
            <p:cNvPr id="5" name="Rectangle 4">
              <a:extLst>
                <a:ext uri="{FF2B5EF4-FFF2-40B4-BE49-F238E27FC236}">
                  <a16:creationId xmlns:a16="http://schemas.microsoft.com/office/drawing/2014/main" id="{6B60CAB7-1645-DA3F-CA39-2708619C3B1A}"/>
                </a:ext>
              </a:extLst>
            </p:cNvPr>
            <p:cNvSpPr/>
            <p:nvPr/>
          </p:nvSpPr>
          <p:spPr>
            <a:xfrm>
              <a:off x="6696000" y="1864800"/>
              <a:ext cx="2296800" cy="532800"/>
            </a:xfrm>
            <a:prstGeom prst="rect">
              <a:avLst/>
            </a:prstGeom>
            <a:solidFill>
              <a:srgbClr val="FB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Rectangle 5">
              <a:extLst>
                <a:ext uri="{FF2B5EF4-FFF2-40B4-BE49-F238E27FC236}">
                  <a16:creationId xmlns:a16="http://schemas.microsoft.com/office/drawing/2014/main" id="{EB058372-E079-BBD1-1B32-1AA4EE8EBF33}"/>
                </a:ext>
              </a:extLst>
            </p:cNvPr>
            <p:cNvSpPr/>
            <p:nvPr/>
          </p:nvSpPr>
          <p:spPr>
            <a:xfrm>
              <a:off x="7192800" y="3220110"/>
              <a:ext cx="1051200" cy="348390"/>
            </a:xfrm>
            <a:prstGeom prst="rect">
              <a:avLst/>
            </a:prstGeom>
            <a:solidFill>
              <a:srgbClr val="FCFC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7" name="Rectangle 6">
              <a:extLst>
                <a:ext uri="{FF2B5EF4-FFF2-40B4-BE49-F238E27FC236}">
                  <a16:creationId xmlns:a16="http://schemas.microsoft.com/office/drawing/2014/main" id="{5CD3A881-0974-7F82-DBE5-BD7C8B75C1F8}"/>
                </a:ext>
              </a:extLst>
            </p:cNvPr>
            <p:cNvSpPr/>
            <p:nvPr/>
          </p:nvSpPr>
          <p:spPr>
            <a:xfrm>
              <a:off x="6631200" y="3568500"/>
              <a:ext cx="1130400" cy="283500"/>
            </a:xfrm>
            <a:prstGeom prst="rect">
              <a:avLst/>
            </a:prstGeom>
            <a:solidFill>
              <a:srgbClr val="F4F7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8" name="Rectangle 7">
              <a:extLst>
                <a:ext uri="{FF2B5EF4-FFF2-40B4-BE49-F238E27FC236}">
                  <a16:creationId xmlns:a16="http://schemas.microsoft.com/office/drawing/2014/main" id="{9BD974E3-BFA6-110A-5D63-1CB1FB8F4035}"/>
                </a:ext>
              </a:extLst>
            </p:cNvPr>
            <p:cNvSpPr/>
            <p:nvPr/>
          </p:nvSpPr>
          <p:spPr>
            <a:xfrm>
              <a:off x="6631200" y="4370068"/>
              <a:ext cx="1735200" cy="396110"/>
            </a:xfrm>
            <a:prstGeom prst="rect">
              <a:avLst/>
            </a:prstGeom>
            <a:solidFill>
              <a:srgbClr val="FCFC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10" name="Rectangle 9">
              <a:extLst>
                <a:ext uri="{FF2B5EF4-FFF2-40B4-BE49-F238E27FC236}">
                  <a16:creationId xmlns:a16="http://schemas.microsoft.com/office/drawing/2014/main" id="{C8DABAF8-9B95-E645-F604-093A09CD3EE0}"/>
                </a:ext>
              </a:extLst>
            </p:cNvPr>
            <p:cNvSpPr/>
            <p:nvPr/>
          </p:nvSpPr>
          <p:spPr>
            <a:xfrm>
              <a:off x="8878693" y="3533250"/>
              <a:ext cx="694892" cy="24245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Rectangle 10">
              <a:extLst>
                <a:ext uri="{FF2B5EF4-FFF2-40B4-BE49-F238E27FC236}">
                  <a16:creationId xmlns:a16="http://schemas.microsoft.com/office/drawing/2014/main" id="{A0EE7BE7-65A4-F46D-539B-7D605CAA51D4}"/>
                </a:ext>
              </a:extLst>
            </p:cNvPr>
            <p:cNvSpPr/>
            <p:nvPr/>
          </p:nvSpPr>
          <p:spPr>
            <a:xfrm>
              <a:off x="8878693" y="4421604"/>
              <a:ext cx="694892" cy="24245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Rectangle 11">
              <a:extLst>
                <a:ext uri="{FF2B5EF4-FFF2-40B4-BE49-F238E27FC236}">
                  <a16:creationId xmlns:a16="http://schemas.microsoft.com/office/drawing/2014/main" id="{2D98B713-652B-9CD2-CB17-4AB271725FF7}"/>
                </a:ext>
              </a:extLst>
            </p:cNvPr>
            <p:cNvSpPr/>
            <p:nvPr/>
          </p:nvSpPr>
          <p:spPr>
            <a:xfrm>
              <a:off x="8878693" y="5312685"/>
              <a:ext cx="694892" cy="24245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grpSp>
      <p:sp>
        <p:nvSpPr>
          <p:cNvPr id="16" name="TextBox 15">
            <a:extLst>
              <a:ext uri="{FF2B5EF4-FFF2-40B4-BE49-F238E27FC236}">
                <a16:creationId xmlns:a16="http://schemas.microsoft.com/office/drawing/2014/main" id="{135756FE-B032-0C46-1734-337E81B4D382}"/>
              </a:ext>
            </a:extLst>
          </p:cNvPr>
          <p:cNvSpPr txBox="1"/>
          <p:nvPr/>
        </p:nvSpPr>
        <p:spPr>
          <a:xfrm>
            <a:off x="0" y="6454857"/>
            <a:ext cx="11232931" cy="677108"/>
          </a:xfrm>
          <a:prstGeom prst="rect">
            <a:avLst/>
          </a:prstGeom>
          <a:noFill/>
        </p:spPr>
        <p:txBody>
          <a:bodyPr wrap="square" rtlCol="0">
            <a:spAutoFit/>
          </a:bodyPr>
          <a:lstStyle/>
          <a:p>
            <a:r>
              <a:rPr lang="en-DK" sz="1000" dirty="0"/>
              <a:t>Raja-Elie E. Abdulnour, M.D. Brian Gin, M.D., Ph.D., and Christy K. Boscardin, Ph.D., </a:t>
            </a:r>
            <a:r>
              <a:rPr lang="en-DK" sz="1000" b="1" dirty="0"/>
              <a:t>Educational Strategies for Clinical Supervision of Artificial Intelligence Use</a:t>
            </a:r>
          </a:p>
          <a:p>
            <a:r>
              <a:rPr lang="en-DK" sz="1000" dirty="0"/>
              <a:t>(August 20, 2025), N Engl J Med 2025;393:786-797</a:t>
            </a:r>
            <a:r>
              <a:rPr lang="en-DK" sz="1000" b="1" dirty="0"/>
              <a:t>, DOI: 10.1056/NEJMra2503232</a:t>
            </a:r>
            <a:br>
              <a:rPr lang="en-DK" dirty="0"/>
            </a:br>
            <a:endParaRPr lang="en-DK" dirty="0"/>
          </a:p>
        </p:txBody>
      </p:sp>
    </p:spTree>
    <p:extLst>
      <p:ext uri="{BB962C8B-B14F-4D97-AF65-F5344CB8AC3E}">
        <p14:creationId xmlns:p14="http://schemas.microsoft.com/office/powerpoint/2010/main" val="1768598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A2970-F4D3-84EB-A5A1-C5B036912BEA}"/>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504A044-97ED-7AE6-5A83-D6585420762F}"/>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A4E9EC2-F383-48A2-C610-BCD79A868ACF}"/>
              </a:ext>
            </a:extLst>
          </p:cNvPr>
          <p:cNvSpPr txBox="1"/>
          <p:nvPr/>
        </p:nvSpPr>
        <p:spPr>
          <a:xfrm>
            <a:off x="223365" y="36291"/>
            <a:ext cx="8612216"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Upskilling &amp; AI-enhanced performance</a:t>
            </a:r>
          </a:p>
        </p:txBody>
      </p:sp>
      <p:grpSp>
        <p:nvGrpSpPr>
          <p:cNvPr id="10" name="Group 9">
            <a:extLst>
              <a:ext uri="{FF2B5EF4-FFF2-40B4-BE49-F238E27FC236}">
                <a16:creationId xmlns:a16="http://schemas.microsoft.com/office/drawing/2014/main" id="{A25CB336-6D0E-17E6-1117-07C881CEAD2C}"/>
              </a:ext>
            </a:extLst>
          </p:cNvPr>
          <p:cNvGrpSpPr/>
          <p:nvPr/>
        </p:nvGrpSpPr>
        <p:grpSpPr>
          <a:xfrm>
            <a:off x="1789892" y="876064"/>
            <a:ext cx="8612216" cy="5637086"/>
            <a:chOff x="1789892" y="1049490"/>
            <a:chExt cx="8612216" cy="5637086"/>
          </a:xfrm>
        </p:grpSpPr>
        <p:pic>
          <p:nvPicPr>
            <p:cNvPr id="2" name="Picture 1">
              <a:extLst>
                <a:ext uri="{FF2B5EF4-FFF2-40B4-BE49-F238E27FC236}">
                  <a16:creationId xmlns:a16="http://schemas.microsoft.com/office/drawing/2014/main" id="{9818B3C9-A24B-0493-A3FE-A8AB0A2A21DC}"/>
                </a:ext>
              </a:extLst>
            </p:cNvPr>
            <p:cNvPicPr>
              <a:picLocks noChangeAspect="1"/>
            </p:cNvPicPr>
            <p:nvPr/>
          </p:nvPicPr>
          <p:blipFill>
            <a:blip r:embed="rId3"/>
            <a:stretch>
              <a:fillRect/>
            </a:stretch>
          </p:blipFill>
          <p:spPr>
            <a:xfrm>
              <a:off x="1789892" y="1049490"/>
              <a:ext cx="8612216" cy="5637086"/>
            </a:xfrm>
            <a:prstGeom prst="rect">
              <a:avLst/>
            </a:prstGeom>
          </p:spPr>
        </p:pic>
        <p:sp>
          <p:nvSpPr>
            <p:cNvPr id="5" name="Rectangle 4">
              <a:extLst>
                <a:ext uri="{FF2B5EF4-FFF2-40B4-BE49-F238E27FC236}">
                  <a16:creationId xmlns:a16="http://schemas.microsoft.com/office/drawing/2014/main" id="{0D7C9675-CF4D-F28F-134E-74679356B08F}"/>
                </a:ext>
              </a:extLst>
            </p:cNvPr>
            <p:cNvSpPr/>
            <p:nvPr/>
          </p:nvSpPr>
          <p:spPr>
            <a:xfrm>
              <a:off x="7441779" y="4341846"/>
              <a:ext cx="800262" cy="32346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Rectangle 5">
              <a:extLst>
                <a:ext uri="{FF2B5EF4-FFF2-40B4-BE49-F238E27FC236}">
                  <a16:creationId xmlns:a16="http://schemas.microsoft.com/office/drawing/2014/main" id="{4CD27D67-B8E4-9B25-D388-9BAED9DCD552}"/>
                </a:ext>
              </a:extLst>
            </p:cNvPr>
            <p:cNvSpPr/>
            <p:nvPr/>
          </p:nvSpPr>
          <p:spPr>
            <a:xfrm>
              <a:off x="7441779" y="3231667"/>
              <a:ext cx="800262" cy="32346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 name="Rectangle 6">
              <a:extLst>
                <a:ext uri="{FF2B5EF4-FFF2-40B4-BE49-F238E27FC236}">
                  <a16:creationId xmlns:a16="http://schemas.microsoft.com/office/drawing/2014/main" id="{EB0B5062-016C-A25B-92FF-E3A3A5831502}"/>
                </a:ext>
              </a:extLst>
            </p:cNvPr>
            <p:cNvSpPr/>
            <p:nvPr/>
          </p:nvSpPr>
          <p:spPr>
            <a:xfrm>
              <a:off x="7339143" y="1798028"/>
              <a:ext cx="1674228" cy="323460"/>
            </a:xfrm>
            <a:prstGeom prst="rect">
              <a:avLst/>
            </a:prstGeom>
            <a:noFill/>
            <a:ln>
              <a:solidFill>
                <a:srgbClr val="EF4F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Arrow: Right 35">
              <a:extLst>
                <a:ext uri="{FF2B5EF4-FFF2-40B4-BE49-F238E27FC236}">
                  <a16:creationId xmlns:a16="http://schemas.microsoft.com/office/drawing/2014/main" id="{FD55E33D-E05A-BFE3-AB50-93CEB2698A7E}"/>
                </a:ext>
              </a:extLst>
            </p:cNvPr>
            <p:cNvSpPr/>
            <p:nvPr/>
          </p:nvSpPr>
          <p:spPr>
            <a:xfrm rot="1064665">
              <a:off x="4326508" y="2463926"/>
              <a:ext cx="473456" cy="244754"/>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9" name="TextBox 8">
            <a:extLst>
              <a:ext uri="{FF2B5EF4-FFF2-40B4-BE49-F238E27FC236}">
                <a16:creationId xmlns:a16="http://schemas.microsoft.com/office/drawing/2014/main" id="{2788400C-4643-68CC-E0BD-86C01E92199E}"/>
              </a:ext>
            </a:extLst>
          </p:cNvPr>
          <p:cNvSpPr txBox="1"/>
          <p:nvPr/>
        </p:nvSpPr>
        <p:spPr>
          <a:xfrm>
            <a:off x="0" y="6454857"/>
            <a:ext cx="11232931" cy="677108"/>
          </a:xfrm>
          <a:prstGeom prst="rect">
            <a:avLst/>
          </a:prstGeom>
          <a:noFill/>
        </p:spPr>
        <p:txBody>
          <a:bodyPr wrap="square" rtlCol="0">
            <a:spAutoFit/>
          </a:bodyPr>
          <a:lstStyle/>
          <a:p>
            <a:r>
              <a:rPr lang="en-DK" sz="1000" dirty="0"/>
              <a:t>Raja-Elie E. Abdulnour, M.D. Brian Gin, M.D., Ph.D., and Christy K. Boscardin, Ph.D., </a:t>
            </a:r>
            <a:r>
              <a:rPr lang="en-DK" sz="1000" b="1" dirty="0"/>
              <a:t>Educational Strategies for Clinical Supervision of Artificial Intelligence Use</a:t>
            </a:r>
          </a:p>
          <a:p>
            <a:r>
              <a:rPr lang="en-DK" sz="1000" dirty="0"/>
              <a:t>(August 20, 2025), N Engl J Med 2025;393:786-797</a:t>
            </a:r>
            <a:r>
              <a:rPr lang="en-DK" sz="1000" b="1" dirty="0"/>
              <a:t>, DOI: 10.1056/NEJMra2503232</a:t>
            </a:r>
            <a:br>
              <a:rPr lang="en-DK" dirty="0"/>
            </a:br>
            <a:endParaRPr lang="en-DK" dirty="0"/>
          </a:p>
        </p:txBody>
      </p:sp>
    </p:spTree>
    <p:extLst>
      <p:ext uri="{BB962C8B-B14F-4D97-AF65-F5344CB8AC3E}">
        <p14:creationId xmlns:p14="http://schemas.microsoft.com/office/powerpoint/2010/main" val="294858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759C1-2E2B-33A0-F68E-1BADFAEFE355}"/>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EEEAD6F9-0C89-627A-FF17-D1DD96EE5FB1}"/>
              </a:ext>
            </a:extLst>
          </p:cNvPr>
          <p:cNvSpPr/>
          <p:nvPr/>
        </p:nvSpPr>
        <p:spPr>
          <a:xfrm>
            <a:off x="6921900" y="3190081"/>
            <a:ext cx="4444446" cy="3490119"/>
          </a:xfrm>
          <a:prstGeom prst="roundRect">
            <a:avLst/>
          </a:prstGeom>
          <a:solidFill>
            <a:srgbClr val="FAE9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17" name="Rounded Rectangle 16">
            <a:extLst>
              <a:ext uri="{FF2B5EF4-FFF2-40B4-BE49-F238E27FC236}">
                <a16:creationId xmlns:a16="http://schemas.microsoft.com/office/drawing/2014/main" id="{1D7381C7-18E8-841D-66B5-1CEDAB69FE1B}"/>
              </a:ext>
            </a:extLst>
          </p:cNvPr>
          <p:cNvSpPr/>
          <p:nvPr/>
        </p:nvSpPr>
        <p:spPr>
          <a:xfrm>
            <a:off x="474155" y="3190081"/>
            <a:ext cx="4444446" cy="3490118"/>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pic>
        <p:nvPicPr>
          <p:cNvPr id="8" name="Picture 7">
            <a:extLst>
              <a:ext uri="{FF2B5EF4-FFF2-40B4-BE49-F238E27FC236}">
                <a16:creationId xmlns:a16="http://schemas.microsoft.com/office/drawing/2014/main" id="{5185EF45-80C9-4F7A-1434-A3360FC61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300" y="1208288"/>
            <a:ext cx="1925817" cy="1568165"/>
          </a:xfrm>
          <a:prstGeom prst="rect">
            <a:avLst/>
          </a:prstGeom>
        </p:spPr>
      </p:pic>
      <p:pic>
        <p:nvPicPr>
          <p:cNvPr id="11" name="Picture 10">
            <a:extLst>
              <a:ext uri="{FF2B5EF4-FFF2-40B4-BE49-F238E27FC236}">
                <a16:creationId xmlns:a16="http://schemas.microsoft.com/office/drawing/2014/main" id="{C855EB6A-97CC-B88A-8E70-CBEC200527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704883" y="1249419"/>
            <a:ext cx="1229980" cy="1485900"/>
          </a:xfrm>
          <a:prstGeom prst="rect">
            <a:avLst/>
          </a:prstGeom>
        </p:spPr>
      </p:pic>
      <p:cxnSp>
        <p:nvCxnSpPr>
          <p:cNvPr id="14" name="Straight Connector 13">
            <a:extLst>
              <a:ext uri="{FF2B5EF4-FFF2-40B4-BE49-F238E27FC236}">
                <a16:creationId xmlns:a16="http://schemas.microsoft.com/office/drawing/2014/main" id="{9EC6E0AA-1AB1-6902-F126-3E1E07DDE829}"/>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05ED301-E026-C6C2-4B6E-66C8ACC236D5}"/>
              </a:ext>
            </a:extLst>
          </p:cNvPr>
          <p:cNvSpPr txBox="1"/>
          <p:nvPr/>
        </p:nvSpPr>
        <p:spPr>
          <a:xfrm>
            <a:off x="223366" y="36291"/>
            <a:ext cx="9809155"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Maintaining cognitive skills</a:t>
            </a:r>
          </a:p>
        </p:txBody>
      </p:sp>
      <p:sp>
        <p:nvSpPr>
          <p:cNvPr id="12" name="TextBox 11">
            <a:extLst>
              <a:ext uri="{FF2B5EF4-FFF2-40B4-BE49-F238E27FC236}">
                <a16:creationId xmlns:a16="http://schemas.microsoft.com/office/drawing/2014/main" id="{F229A7F8-DC69-B255-3E42-CC8FCF5F81DD}"/>
              </a:ext>
            </a:extLst>
          </p:cNvPr>
          <p:cNvSpPr txBox="1"/>
          <p:nvPr/>
        </p:nvSpPr>
        <p:spPr>
          <a:xfrm>
            <a:off x="756306" y="3496088"/>
            <a:ext cx="3625193" cy="923330"/>
          </a:xfrm>
          <a:prstGeom prst="rect">
            <a:avLst/>
          </a:prstGeom>
          <a:noFill/>
        </p:spPr>
        <p:txBody>
          <a:bodyPr wrap="square" rtlCol="0">
            <a:spAutoFit/>
          </a:bodyPr>
          <a:lstStyle/>
          <a:p>
            <a:r>
              <a:rPr lang="en-DK" b="1" dirty="0"/>
              <a:t>What: </a:t>
            </a:r>
          </a:p>
          <a:p>
            <a:r>
              <a:rPr lang="en-DK" dirty="0"/>
              <a:t>Divide tasks between user &amp; AI</a:t>
            </a:r>
          </a:p>
          <a:p>
            <a:r>
              <a:rPr lang="en-DK" dirty="0"/>
              <a:t>Critical oversight by user</a:t>
            </a:r>
          </a:p>
        </p:txBody>
      </p:sp>
      <p:sp>
        <p:nvSpPr>
          <p:cNvPr id="29" name="Left-right Arrow 28">
            <a:extLst>
              <a:ext uri="{FF2B5EF4-FFF2-40B4-BE49-F238E27FC236}">
                <a16:creationId xmlns:a16="http://schemas.microsoft.com/office/drawing/2014/main" id="{5CBA6C5E-5DD9-BFA4-6D8F-9CFC093353D7}"/>
              </a:ext>
            </a:extLst>
          </p:cNvPr>
          <p:cNvSpPr/>
          <p:nvPr/>
        </p:nvSpPr>
        <p:spPr>
          <a:xfrm>
            <a:off x="5567682" y="1817005"/>
            <a:ext cx="1056636" cy="350729"/>
          </a:xfrm>
          <a:prstGeom prst="leftRightArrow">
            <a:avLst/>
          </a:prstGeom>
          <a:solidFill>
            <a:srgbClr val="46B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7" name="TextBox 6">
            <a:extLst>
              <a:ext uri="{FF2B5EF4-FFF2-40B4-BE49-F238E27FC236}">
                <a16:creationId xmlns:a16="http://schemas.microsoft.com/office/drawing/2014/main" id="{A25FED0F-3F78-9A61-1D2C-1E83C24C229C}"/>
              </a:ext>
            </a:extLst>
          </p:cNvPr>
          <p:cNvSpPr txBox="1"/>
          <p:nvPr/>
        </p:nvSpPr>
        <p:spPr>
          <a:xfrm>
            <a:off x="5406205" y="763305"/>
            <a:ext cx="6654899" cy="369332"/>
          </a:xfrm>
          <a:prstGeom prst="rect">
            <a:avLst/>
          </a:prstGeom>
          <a:noFill/>
        </p:spPr>
        <p:txBody>
          <a:bodyPr wrap="none" rtlCol="0">
            <a:spAutoFit/>
          </a:bodyPr>
          <a:lstStyle/>
          <a:p>
            <a:r>
              <a:rPr lang="en-DK" dirty="0">
                <a:highlight>
                  <a:srgbClr val="FFFF00"/>
                </a:highlight>
              </a:rPr>
              <a:t>Those who use AI are able to recognise AI generated output better</a:t>
            </a:r>
          </a:p>
        </p:txBody>
      </p:sp>
      <p:sp>
        <p:nvSpPr>
          <p:cNvPr id="10" name="TextBox 9">
            <a:extLst>
              <a:ext uri="{FF2B5EF4-FFF2-40B4-BE49-F238E27FC236}">
                <a16:creationId xmlns:a16="http://schemas.microsoft.com/office/drawing/2014/main" id="{AB632E63-2F83-C2B5-3A75-63B425C230D7}"/>
              </a:ext>
            </a:extLst>
          </p:cNvPr>
          <p:cNvSpPr txBox="1"/>
          <p:nvPr/>
        </p:nvSpPr>
        <p:spPr>
          <a:xfrm>
            <a:off x="756307" y="4935140"/>
            <a:ext cx="3625193" cy="923330"/>
          </a:xfrm>
          <a:prstGeom prst="rect">
            <a:avLst/>
          </a:prstGeom>
          <a:noFill/>
        </p:spPr>
        <p:txBody>
          <a:bodyPr wrap="square" rtlCol="0">
            <a:spAutoFit/>
          </a:bodyPr>
          <a:lstStyle/>
          <a:p>
            <a:r>
              <a:rPr lang="en-DK" b="1" dirty="0"/>
              <a:t>Suitable for:</a:t>
            </a:r>
          </a:p>
          <a:p>
            <a:r>
              <a:rPr lang="en-DK" dirty="0"/>
              <a:t>Higher risk tasks, allocation based on strengths and capabilities</a:t>
            </a:r>
          </a:p>
        </p:txBody>
      </p:sp>
      <p:sp>
        <p:nvSpPr>
          <p:cNvPr id="15" name="TextBox 14">
            <a:extLst>
              <a:ext uri="{FF2B5EF4-FFF2-40B4-BE49-F238E27FC236}">
                <a16:creationId xmlns:a16="http://schemas.microsoft.com/office/drawing/2014/main" id="{1CA70F58-4329-A99B-4FA6-73311CD4B033}"/>
              </a:ext>
            </a:extLst>
          </p:cNvPr>
          <p:cNvSpPr txBox="1"/>
          <p:nvPr/>
        </p:nvSpPr>
        <p:spPr>
          <a:xfrm>
            <a:off x="7535743" y="6094695"/>
            <a:ext cx="3053593" cy="369332"/>
          </a:xfrm>
          <a:prstGeom prst="rect">
            <a:avLst/>
          </a:prstGeom>
          <a:noFill/>
        </p:spPr>
        <p:txBody>
          <a:bodyPr wrap="none" rtlCol="0">
            <a:spAutoFit/>
          </a:bodyPr>
          <a:lstStyle/>
          <a:p>
            <a:r>
              <a:rPr lang="en-GB" dirty="0">
                <a:solidFill>
                  <a:srgbClr val="FF0000"/>
                </a:solidFill>
              </a:rPr>
              <a:t>M</a:t>
            </a:r>
            <a:r>
              <a:rPr lang="en-DK" dirty="0">
                <a:solidFill>
                  <a:srgbClr val="FF0000"/>
                </a:solidFill>
              </a:rPr>
              <a:t>ore risk of never-skilling etc</a:t>
            </a:r>
          </a:p>
        </p:txBody>
      </p:sp>
      <p:sp>
        <p:nvSpPr>
          <p:cNvPr id="18" name="TextBox 17">
            <a:extLst>
              <a:ext uri="{FF2B5EF4-FFF2-40B4-BE49-F238E27FC236}">
                <a16:creationId xmlns:a16="http://schemas.microsoft.com/office/drawing/2014/main" id="{BC32D68C-7131-97D0-3387-595696554BAA}"/>
              </a:ext>
            </a:extLst>
          </p:cNvPr>
          <p:cNvSpPr txBox="1"/>
          <p:nvPr/>
        </p:nvSpPr>
        <p:spPr>
          <a:xfrm>
            <a:off x="1866900" y="2714753"/>
            <a:ext cx="996491" cy="369332"/>
          </a:xfrm>
          <a:prstGeom prst="rect">
            <a:avLst/>
          </a:prstGeom>
          <a:noFill/>
        </p:spPr>
        <p:txBody>
          <a:bodyPr wrap="none" rtlCol="0">
            <a:spAutoFit/>
          </a:bodyPr>
          <a:lstStyle/>
          <a:p>
            <a:r>
              <a:rPr lang="en-DK" i="1" dirty="0"/>
              <a:t>Centaur</a:t>
            </a:r>
          </a:p>
        </p:txBody>
      </p:sp>
      <p:sp>
        <p:nvSpPr>
          <p:cNvPr id="19" name="TextBox 18">
            <a:extLst>
              <a:ext uri="{FF2B5EF4-FFF2-40B4-BE49-F238E27FC236}">
                <a16:creationId xmlns:a16="http://schemas.microsoft.com/office/drawing/2014/main" id="{7D66B18B-D983-5D40-DC04-873841F1C96D}"/>
              </a:ext>
            </a:extLst>
          </p:cNvPr>
          <p:cNvSpPr txBox="1"/>
          <p:nvPr/>
        </p:nvSpPr>
        <p:spPr>
          <a:xfrm>
            <a:off x="8963394" y="2714753"/>
            <a:ext cx="890757" cy="369332"/>
          </a:xfrm>
          <a:prstGeom prst="rect">
            <a:avLst/>
          </a:prstGeom>
          <a:noFill/>
        </p:spPr>
        <p:txBody>
          <a:bodyPr wrap="none" rtlCol="0">
            <a:spAutoFit/>
          </a:bodyPr>
          <a:lstStyle/>
          <a:p>
            <a:r>
              <a:rPr lang="en-DK" i="1" dirty="0"/>
              <a:t>Cyborg</a:t>
            </a:r>
          </a:p>
        </p:txBody>
      </p:sp>
      <p:sp>
        <p:nvSpPr>
          <p:cNvPr id="21" name="TextBox 20">
            <a:extLst>
              <a:ext uri="{FF2B5EF4-FFF2-40B4-BE49-F238E27FC236}">
                <a16:creationId xmlns:a16="http://schemas.microsoft.com/office/drawing/2014/main" id="{46C5611A-6827-BA55-1B04-C3200D489990}"/>
              </a:ext>
            </a:extLst>
          </p:cNvPr>
          <p:cNvSpPr txBox="1"/>
          <p:nvPr/>
        </p:nvSpPr>
        <p:spPr>
          <a:xfrm>
            <a:off x="7165532" y="3429000"/>
            <a:ext cx="3926537" cy="923330"/>
          </a:xfrm>
          <a:prstGeom prst="rect">
            <a:avLst/>
          </a:prstGeom>
          <a:noFill/>
        </p:spPr>
        <p:txBody>
          <a:bodyPr wrap="square" rtlCol="0">
            <a:spAutoFit/>
          </a:bodyPr>
          <a:lstStyle/>
          <a:p>
            <a:r>
              <a:rPr lang="en-DK" b="1" dirty="0"/>
              <a:t>What: </a:t>
            </a:r>
          </a:p>
          <a:p>
            <a:r>
              <a:rPr lang="en-DK" dirty="0"/>
              <a:t>Mix between user &amp; AI for each task</a:t>
            </a:r>
          </a:p>
          <a:p>
            <a:r>
              <a:rPr lang="en-DK" dirty="0"/>
              <a:t>Integrated approach</a:t>
            </a:r>
          </a:p>
        </p:txBody>
      </p:sp>
      <p:sp>
        <p:nvSpPr>
          <p:cNvPr id="22" name="TextBox 21">
            <a:extLst>
              <a:ext uri="{FF2B5EF4-FFF2-40B4-BE49-F238E27FC236}">
                <a16:creationId xmlns:a16="http://schemas.microsoft.com/office/drawing/2014/main" id="{ED1F9F7A-863B-E87F-B550-C0C7B3BC710D}"/>
              </a:ext>
            </a:extLst>
          </p:cNvPr>
          <p:cNvSpPr txBox="1"/>
          <p:nvPr/>
        </p:nvSpPr>
        <p:spPr>
          <a:xfrm>
            <a:off x="7165533" y="4935140"/>
            <a:ext cx="3794015" cy="923330"/>
          </a:xfrm>
          <a:prstGeom prst="rect">
            <a:avLst/>
          </a:prstGeom>
          <a:noFill/>
        </p:spPr>
        <p:txBody>
          <a:bodyPr wrap="square" rtlCol="0">
            <a:spAutoFit/>
          </a:bodyPr>
          <a:lstStyle/>
          <a:p>
            <a:r>
              <a:rPr lang="en-DK" b="1" dirty="0"/>
              <a:t>Suitable for:</a:t>
            </a:r>
          </a:p>
          <a:p>
            <a:r>
              <a:rPr lang="en-DK" dirty="0"/>
              <a:t>Lower risk tasks with well-defined use-cases</a:t>
            </a:r>
          </a:p>
        </p:txBody>
      </p:sp>
      <p:sp>
        <p:nvSpPr>
          <p:cNvPr id="23" name="TextBox 22">
            <a:extLst>
              <a:ext uri="{FF2B5EF4-FFF2-40B4-BE49-F238E27FC236}">
                <a16:creationId xmlns:a16="http://schemas.microsoft.com/office/drawing/2014/main" id="{1EE02B38-4021-2C40-9E63-E3CB1FE2A944}"/>
              </a:ext>
            </a:extLst>
          </p:cNvPr>
          <p:cNvSpPr txBox="1"/>
          <p:nvPr/>
        </p:nvSpPr>
        <p:spPr>
          <a:xfrm>
            <a:off x="1597065" y="6094695"/>
            <a:ext cx="1943674" cy="369332"/>
          </a:xfrm>
          <a:prstGeom prst="rect">
            <a:avLst/>
          </a:prstGeom>
          <a:noFill/>
        </p:spPr>
        <p:txBody>
          <a:bodyPr wrap="none" rtlCol="0">
            <a:spAutoFit/>
          </a:bodyPr>
          <a:lstStyle/>
          <a:p>
            <a:r>
              <a:rPr lang="en-US" dirty="0">
                <a:solidFill>
                  <a:srgbClr val="FF0000"/>
                </a:solidFill>
              </a:rPr>
              <a:t>Best for upskilling</a:t>
            </a:r>
            <a:endParaRPr lang="en-DK" dirty="0">
              <a:solidFill>
                <a:srgbClr val="FF0000"/>
              </a:solidFill>
            </a:endParaRPr>
          </a:p>
        </p:txBody>
      </p:sp>
    </p:spTree>
    <p:extLst>
      <p:ext uri="{BB962C8B-B14F-4D97-AF65-F5344CB8AC3E}">
        <p14:creationId xmlns:p14="http://schemas.microsoft.com/office/powerpoint/2010/main" val="3153311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CAAD9-8F1B-57EB-FAEF-2479625F58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CA8513-85FF-C941-EB1B-743E301C3154}"/>
              </a:ext>
            </a:extLst>
          </p:cNvPr>
          <p:cNvSpPr/>
          <p:nvPr/>
        </p:nvSpPr>
        <p:spPr>
          <a:xfrm>
            <a:off x="0" y="0"/>
            <a:ext cx="12192000" cy="6858000"/>
          </a:xfrm>
          <a:prstGeom prst="rect">
            <a:avLst/>
          </a:prstGeom>
          <a:solidFill>
            <a:srgbClr val="C8E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4C6F0E5-C167-E837-30EC-634BC19F1812}"/>
              </a:ext>
            </a:extLst>
          </p:cNvPr>
          <p:cNvSpPr txBox="1"/>
          <p:nvPr/>
        </p:nvSpPr>
        <p:spPr>
          <a:xfrm>
            <a:off x="731518" y="2194560"/>
            <a:ext cx="14049193" cy="1268039"/>
          </a:xfrm>
          <a:prstGeom prst="rect">
            <a:avLst/>
          </a:prstGeom>
          <a:noFill/>
        </p:spPr>
        <p:txBody>
          <a:bodyPr wrap="square" lIns="45720" tIns="18288" rIns="45720" bIns="18288" anchor="t">
            <a:spAutoFit/>
          </a:bodyPr>
          <a:lstStyle/>
          <a:p>
            <a:pPr algn="l"/>
            <a:r>
              <a:rPr lang="en-US" sz="8000" b="1" dirty="0">
                <a:solidFill>
                  <a:srgbClr val="1A1A1A"/>
                </a:solidFill>
                <a:latin typeface="Aptos"/>
              </a:rPr>
              <a:t>Environmental impact</a:t>
            </a:r>
            <a:endParaRPr sz="8000" b="1" dirty="0">
              <a:solidFill>
                <a:srgbClr val="1A1A1A"/>
              </a:solidFill>
              <a:latin typeface="Aptos"/>
            </a:endParaRPr>
          </a:p>
        </p:txBody>
      </p:sp>
      <p:sp>
        <p:nvSpPr>
          <p:cNvPr id="4" name="TextBox 3">
            <a:extLst>
              <a:ext uri="{FF2B5EF4-FFF2-40B4-BE49-F238E27FC236}">
                <a16:creationId xmlns:a16="http://schemas.microsoft.com/office/drawing/2014/main" id="{E43C114C-3426-8AE8-A3C1-89F50FE9C6E5}"/>
              </a:ext>
            </a:extLst>
          </p:cNvPr>
          <p:cNvSpPr txBox="1"/>
          <p:nvPr/>
        </p:nvSpPr>
        <p:spPr>
          <a:xfrm>
            <a:off x="731519" y="3241215"/>
            <a:ext cx="7679708" cy="467820"/>
          </a:xfrm>
          <a:prstGeom prst="rect">
            <a:avLst/>
          </a:prstGeom>
          <a:noFill/>
        </p:spPr>
        <p:txBody>
          <a:bodyPr wrap="square" lIns="45720" tIns="18288" rIns="45720" bIns="18288" anchor="t">
            <a:spAutoFit/>
          </a:bodyPr>
          <a:lstStyle/>
          <a:p>
            <a:pPr algn="l"/>
            <a:r>
              <a:rPr lang="en-US" sz="2800" dirty="0">
                <a:solidFill>
                  <a:srgbClr val="67AB76"/>
                </a:solidFill>
                <a:latin typeface="Aptos"/>
              </a:rPr>
              <a:t>Increased consumption in the age of electricity</a:t>
            </a:r>
            <a:endParaRPr sz="2800" b="0" dirty="0">
              <a:solidFill>
                <a:srgbClr val="67AB76"/>
              </a:solidFill>
              <a:latin typeface="Aptos"/>
            </a:endParaRPr>
          </a:p>
        </p:txBody>
      </p:sp>
      <p:cxnSp>
        <p:nvCxnSpPr>
          <p:cNvPr id="8" name="Straight Connector 7">
            <a:extLst>
              <a:ext uri="{FF2B5EF4-FFF2-40B4-BE49-F238E27FC236}">
                <a16:creationId xmlns:a16="http://schemas.microsoft.com/office/drawing/2014/main" id="{23799EDB-0C00-23B3-8B08-C5FD4341BA99}"/>
              </a:ext>
            </a:extLst>
          </p:cNvPr>
          <p:cNvCxnSpPr>
            <a:cxnSpLocks/>
          </p:cNvCxnSpPr>
          <p:nvPr/>
        </p:nvCxnSpPr>
        <p:spPr>
          <a:xfrm>
            <a:off x="553067" y="2046968"/>
            <a:ext cx="3937605" cy="0"/>
          </a:xfrm>
          <a:prstGeom prst="line">
            <a:avLst/>
          </a:prstGeom>
          <a:ln w="101600">
            <a:solidFill>
              <a:srgbClr val="67AB76"/>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720230A9-CDDB-0AFA-E8B4-9434EE5A8D34}"/>
              </a:ext>
            </a:extLst>
          </p:cNvPr>
          <p:cNvGrpSpPr/>
          <p:nvPr/>
        </p:nvGrpSpPr>
        <p:grpSpPr>
          <a:xfrm>
            <a:off x="11181858" y="6035040"/>
            <a:ext cx="805760" cy="723478"/>
            <a:chOff x="11297920" y="5734798"/>
            <a:chExt cx="649058" cy="582778"/>
          </a:xfrm>
        </p:grpSpPr>
        <p:sp>
          <p:nvSpPr>
            <p:cNvPr id="6" name="Oval 5">
              <a:extLst>
                <a:ext uri="{FF2B5EF4-FFF2-40B4-BE49-F238E27FC236}">
                  <a16:creationId xmlns:a16="http://schemas.microsoft.com/office/drawing/2014/main" id="{E41FC405-BEBC-06E1-013E-D770570D2541}"/>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F750B97E-844F-D7A7-059E-E8FAE7A7FA35}"/>
                </a:ext>
              </a:extLst>
            </p:cNvPr>
            <p:cNvPicPr>
              <a:picLocks noChangeAspect="1"/>
            </p:cNvPicPr>
            <p:nvPr/>
          </p:nvPicPr>
          <p:blipFill>
            <a:blip r:embed="rId3"/>
            <a:stretch/>
          </p:blipFill>
          <p:spPr>
            <a:xfrm>
              <a:off x="11297920" y="5734798"/>
              <a:ext cx="649058" cy="582778"/>
            </a:xfrm>
            <a:prstGeom prst="rect">
              <a:avLst/>
            </a:prstGeom>
          </p:spPr>
        </p:pic>
      </p:grpSp>
    </p:spTree>
    <p:extLst>
      <p:ext uri="{BB962C8B-B14F-4D97-AF65-F5344CB8AC3E}">
        <p14:creationId xmlns:p14="http://schemas.microsoft.com/office/powerpoint/2010/main" val="4080841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3E84-E5FA-E247-F846-1F11E1BCA1D9}"/>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99FF86E5-4A39-7648-57E0-FCE680D76E17}"/>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7838DD7-87C0-85F2-3032-AD26FC19AA09}"/>
              </a:ext>
            </a:extLst>
          </p:cNvPr>
          <p:cNvSpPr txBox="1"/>
          <p:nvPr/>
        </p:nvSpPr>
        <p:spPr>
          <a:xfrm>
            <a:off x="223366" y="36291"/>
            <a:ext cx="9809155"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Environmental impacts</a:t>
            </a:r>
          </a:p>
        </p:txBody>
      </p:sp>
      <p:pic>
        <p:nvPicPr>
          <p:cNvPr id="9" name="Picture 8">
            <a:extLst>
              <a:ext uri="{FF2B5EF4-FFF2-40B4-BE49-F238E27FC236}">
                <a16:creationId xmlns:a16="http://schemas.microsoft.com/office/drawing/2014/main" id="{586E2BA2-EB8F-8295-4957-3395B324CB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7858" y="246008"/>
            <a:ext cx="5090259" cy="6365983"/>
          </a:xfrm>
          <a:prstGeom prst="rect">
            <a:avLst/>
          </a:prstGeom>
        </p:spPr>
      </p:pic>
      <p:sp>
        <p:nvSpPr>
          <p:cNvPr id="2" name="TextBox 1">
            <a:extLst>
              <a:ext uri="{FF2B5EF4-FFF2-40B4-BE49-F238E27FC236}">
                <a16:creationId xmlns:a16="http://schemas.microsoft.com/office/drawing/2014/main" id="{B19DD896-86EE-EA62-24EF-FF011B8A952F}"/>
              </a:ext>
            </a:extLst>
          </p:cNvPr>
          <p:cNvSpPr txBox="1"/>
          <p:nvPr/>
        </p:nvSpPr>
        <p:spPr>
          <a:xfrm>
            <a:off x="1134319" y="1539433"/>
            <a:ext cx="2621743" cy="369332"/>
          </a:xfrm>
          <a:prstGeom prst="rect">
            <a:avLst/>
          </a:prstGeom>
          <a:noFill/>
        </p:spPr>
        <p:txBody>
          <a:bodyPr wrap="none" rtlCol="0">
            <a:spAutoFit/>
          </a:bodyPr>
          <a:lstStyle/>
          <a:p>
            <a:r>
              <a:rPr lang="en-DK" dirty="0">
                <a:highlight>
                  <a:srgbClr val="FFFF00"/>
                </a:highlight>
              </a:rPr>
              <a:t>Socrative/Mentee option</a:t>
            </a:r>
          </a:p>
        </p:txBody>
      </p:sp>
    </p:spTree>
    <p:extLst>
      <p:ext uri="{BB962C8B-B14F-4D97-AF65-F5344CB8AC3E}">
        <p14:creationId xmlns:p14="http://schemas.microsoft.com/office/powerpoint/2010/main" val="3120765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7B5D-8252-2D62-895B-9FEA350397F4}"/>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78D3FACE-8FE4-F9F2-914A-ED2EBBD6015D}"/>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A969D20-5BD9-1C6D-FEAA-8B7C047F75F9}"/>
              </a:ext>
            </a:extLst>
          </p:cNvPr>
          <p:cNvSpPr txBox="1"/>
          <p:nvPr/>
        </p:nvSpPr>
        <p:spPr>
          <a:xfrm>
            <a:off x="223366" y="36291"/>
            <a:ext cx="5145468"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Why now?</a:t>
            </a:r>
          </a:p>
        </p:txBody>
      </p:sp>
      <p:sp>
        <p:nvSpPr>
          <p:cNvPr id="4" name="TextBox 3">
            <a:extLst>
              <a:ext uri="{FF2B5EF4-FFF2-40B4-BE49-F238E27FC236}">
                <a16:creationId xmlns:a16="http://schemas.microsoft.com/office/drawing/2014/main" id="{3F65B917-DD62-DA44-1446-E33F11F9DDBB}"/>
              </a:ext>
            </a:extLst>
          </p:cNvPr>
          <p:cNvSpPr txBox="1"/>
          <p:nvPr/>
        </p:nvSpPr>
        <p:spPr>
          <a:xfrm>
            <a:off x="6710375" y="5999985"/>
            <a:ext cx="4824975" cy="646331"/>
          </a:xfrm>
          <a:prstGeom prst="rect">
            <a:avLst/>
          </a:prstGeom>
          <a:noFill/>
        </p:spPr>
        <p:txBody>
          <a:bodyPr wrap="none" rtlCol="0">
            <a:spAutoFit/>
          </a:bodyPr>
          <a:lstStyle/>
          <a:p>
            <a:r>
              <a:rPr lang="en-US" dirty="0">
                <a:highlight>
                  <a:srgbClr val="00FFFF"/>
                </a:highlight>
              </a:rPr>
              <a:t>For today’s lecture we ignore the hardware part</a:t>
            </a:r>
          </a:p>
          <a:p>
            <a:r>
              <a:rPr lang="en-US" dirty="0">
                <a:highlight>
                  <a:srgbClr val="00FFFF"/>
                </a:highlight>
              </a:rPr>
              <a:t>(both building and waste)</a:t>
            </a:r>
            <a:endParaRPr lang="en-DK" dirty="0"/>
          </a:p>
        </p:txBody>
      </p:sp>
      <p:sp>
        <p:nvSpPr>
          <p:cNvPr id="6" name="Rounded Rectangle 5">
            <a:extLst>
              <a:ext uri="{FF2B5EF4-FFF2-40B4-BE49-F238E27FC236}">
                <a16:creationId xmlns:a16="http://schemas.microsoft.com/office/drawing/2014/main" id="{722A0987-A6B9-3094-0E42-044FA6F19E3E}"/>
              </a:ext>
            </a:extLst>
          </p:cNvPr>
          <p:cNvSpPr/>
          <p:nvPr/>
        </p:nvSpPr>
        <p:spPr>
          <a:xfrm>
            <a:off x="424051" y="2085107"/>
            <a:ext cx="2061177" cy="2098945"/>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Hardware</a:t>
            </a:r>
          </a:p>
          <a:p>
            <a:pPr algn="ctr"/>
            <a:r>
              <a:rPr lang="en-DK" dirty="0">
                <a:solidFill>
                  <a:schemeClr val="tx1"/>
                </a:solidFill>
              </a:rPr>
              <a:t>(chips etc)</a:t>
            </a:r>
          </a:p>
        </p:txBody>
      </p:sp>
      <p:sp>
        <p:nvSpPr>
          <p:cNvPr id="8" name="Rounded Rectangle 7">
            <a:extLst>
              <a:ext uri="{FF2B5EF4-FFF2-40B4-BE49-F238E27FC236}">
                <a16:creationId xmlns:a16="http://schemas.microsoft.com/office/drawing/2014/main" id="{46E18FBE-000C-D8D1-0811-5DCCDEFC8E08}"/>
              </a:ext>
            </a:extLst>
          </p:cNvPr>
          <p:cNvSpPr/>
          <p:nvPr/>
        </p:nvSpPr>
        <p:spPr>
          <a:xfrm>
            <a:off x="6191263" y="2085105"/>
            <a:ext cx="2061177" cy="20989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Training</a:t>
            </a:r>
          </a:p>
        </p:txBody>
      </p:sp>
      <p:sp>
        <p:nvSpPr>
          <p:cNvPr id="11" name="Rounded Rectangle 10">
            <a:extLst>
              <a:ext uri="{FF2B5EF4-FFF2-40B4-BE49-F238E27FC236}">
                <a16:creationId xmlns:a16="http://schemas.microsoft.com/office/drawing/2014/main" id="{B6B2CE9C-D37B-0C77-FDB2-B1724252F575}"/>
              </a:ext>
            </a:extLst>
          </p:cNvPr>
          <p:cNvSpPr/>
          <p:nvPr/>
        </p:nvSpPr>
        <p:spPr>
          <a:xfrm>
            <a:off x="9074869" y="2085104"/>
            <a:ext cx="2061176" cy="2098942"/>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Inference</a:t>
            </a:r>
          </a:p>
          <a:p>
            <a:pPr algn="ctr"/>
            <a:r>
              <a:rPr lang="en-DK" dirty="0">
                <a:solidFill>
                  <a:schemeClr val="tx1"/>
                </a:solidFill>
              </a:rPr>
              <a:t>(usage)</a:t>
            </a:r>
          </a:p>
        </p:txBody>
      </p:sp>
      <p:sp>
        <p:nvSpPr>
          <p:cNvPr id="12" name="Arrow: Right 35">
            <a:extLst>
              <a:ext uri="{FF2B5EF4-FFF2-40B4-BE49-F238E27FC236}">
                <a16:creationId xmlns:a16="http://schemas.microsoft.com/office/drawing/2014/main" id="{9BD9140F-F7E6-F254-1A43-2D7F12DC6B60}"/>
              </a:ext>
            </a:extLst>
          </p:cNvPr>
          <p:cNvSpPr/>
          <p:nvPr/>
        </p:nvSpPr>
        <p:spPr>
          <a:xfrm>
            <a:off x="5426861" y="2927863"/>
            <a:ext cx="706374" cy="413110"/>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Arrow: Right 35">
            <a:extLst>
              <a:ext uri="{FF2B5EF4-FFF2-40B4-BE49-F238E27FC236}">
                <a16:creationId xmlns:a16="http://schemas.microsoft.com/office/drawing/2014/main" id="{AB3738E4-861F-1E29-000F-C7AE7980A49F}"/>
              </a:ext>
            </a:extLst>
          </p:cNvPr>
          <p:cNvSpPr/>
          <p:nvPr/>
        </p:nvSpPr>
        <p:spPr>
          <a:xfrm>
            <a:off x="8310467" y="2928020"/>
            <a:ext cx="706374" cy="413110"/>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9" name="Graphic 28" descr="Database outline">
            <a:extLst>
              <a:ext uri="{FF2B5EF4-FFF2-40B4-BE49-F238E27FC236}">
                <a16:creationId xmlns:a16="http://schemas.microsoft.com/office/drawing/2014/main" id="{5440DDCE-25F9-4592-0289-FFCAA0153E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80054" y="4313055"/>
            <a:ext cx="914400" cy="914400"/>
          </a:xfrm>
          <a:prstGeom prst="rect">
            <a:avLst/>
          </a:prstGeom>
        </p:spPr>
      </p:pic>
      <p:sp>
        <p:nvSpPr>
          <p:cNvPr id="33" name="Arrow: Right 35">
            <a:extLst>
              <a:ext uri="{FF2B5EF4-FFF2-40B4-BE49-F238E27FC236}">
                <a16:creationId xmlns:a16="http://schemas.microsoft.com/office/drawing/2014/main" id="{70B178F2-AA51-B830-6CAE-FF1FD5BEF69B}"/>
              </a:ext>
            </a:extLst>
          </p:cNvPr>
          <p:cNvSpPr/>
          <p:nvPr/>
        </p:nvSpPr>
        <p:spPr>
          <a:xfrm rot="19799253">
            <a:off x="5898743" y="4130185"/>
            <a:ext cx="394513" cy="249192"/>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TextBox 33">
            <a:extLst>
              <a:ext uri="{FF2B5EF4-FFF2-40B4-BE49-F238E27FC236}">
                <a16:creationId xmlns:a16="http://schemas.microsoft.com/office/drawing/2014/main" id="{60B4F801-3702-90CC-D81C-D1F8A74105C6}"/>
              </a:ext>
            </a:extLst>
          </p:cNvPr>
          <p:cNvSpPr txBox="1"/>
          <p:nvPr/>
        </p:nvSpPr>
        <p:spPr>
          <a:xfrm>
            <a:off x="929033" y="1368042"/>
            <a:ext cx="1556195" cy="646331"/>
          </a:xfrm>
          <a:prstGeom prst="rect">
            <a:avLst/>
          </a:prstGeom>
          <a:noFill/>
        </p:spPr>
        <p:txBody>
          <a:bodyPr wrap="none" rtlCol="0">
            <a:spAutoFit/>
          </a:bodyPr>
          <a:lstStyle/>
          <a:p>
            <a:r>
              <a:rPr lang="en-GB" dirty="0"/>
              <a:t>R</a:t>
            </a:r>
            <a:r>
              <a:rPr lang="en-DK" dirty="0"/>
              <a:t>are minerals</a:t>
            </a:r>
          </a:p>
          <a:p>
            <a:r>
              <a:rPr lang="en-DK" dirty="0"/>
              <a:t>Water</a:t>
            </a:r>
          </a:p>
        </p:txBody>
      </p:sp>
      <p:sp>
        <p:nvSpPr>
          <p:cNvPr id="35" name="TextBox 34">
            <a:extLst>
              <a:ext uri="{FF2B5EF4-FFF2-40B4-BE49-F238E27FC236}">
                <a16:creationId xmlns:a16="http://schemas.microsoft.com/office/drawing/2014/main" id="{D3E1D39D-AE68-EAA0-A097-4780A5035C6C}"/>
              </a:ext>
            </a:extLst>
          </p:cNvPr>
          <p:cNvSpPr txBox="1"/>
          <p:nvPr/>
        </p:nvSpPr>
        <p:spPr>
          <a:xfrm>
            <a:off x="6654745" y="4313055"/>
            <a:ext cx="2008909" cy="1200329"/>
          </a:xfrm>
          <a:prstGeom prst="rect">
            <a:avLst/>
          </a:prstGeom>
          <a:noFill/>
        </p:spPr>
        <p:txBody>
          <a:bodyPr wrap="square" rtlCol="0">
            <a:spAutoFit/>
          </a:bodyPr>
          <a:lstStyle/>
          <a:p>
            <a:r>
              <a:rPr lang="en-DK" dirty="0"/>
              <a:t>Originally in ML main electricity consumption point</a:t>
            </a:r>
          </a:p>
        </p:txBody>
      </p:sp>
      <p:sp>
        <p:nvSpPr>
          <p:cNvPr id="37" name="TextBox 36">
            <a:extLst>
              <a:ext uri="{FF2B5EF4-FFF2-40B4-BE49-F238E27FC236}">
                <a16:creationId xmlns:a16="http://schemas.microsoft.com/office/drawing/2014/main" id="{4219167A-3B28-3E0D-8B88-458EBCD724C0}"/>
              </a:ext>
            </a:extLst>
          </p:cNvPr>
          <p:cNvSpPr txBox="1"/>
          <p:nvPr/>
        </p:nvSpPr>
        <p:spPr>
          <a:xfrm>
            <a:off x="6394816" y="1091043"/>
            <a:ext cx="1857624" cy="923330"/>
          </a:xfrm>
          <a:prstGeom prst="rect">
            <a:avLst/>
          </a:prstGeom>
          <a:noFill/>
        </p:spPr>
        <p:txBody>
          <a:bodyPr wrap="none" rtlCol="0">
            <a:spAutoFit/>
          </a:bodyPr>
          <a:lstStyle/>
          <a:p>
            <a:r>
              <a:rPr lang="en-US" dirty="0"/>
              <a:t>Data (a lot!)</a:t>
            </a:r>
          </a:p>
          <a:p>
            <a:r>
              <a:rPr lang="en-US" dirty="0"/>
              <a:t>Electricity (a lot!)</a:t>
            </a:r>
          </a:p>
          <a:p>
            <a:r>
              <a:rPr lang="en-US" dirty="0"/>
              <a:t>Water (cooling)</a:t>
            </a:r>
            <a:endParaRPr lang="en-DK" dirty="0"/>
          </a:p>
        </p:txBody>
      </p:sp>
      <p:sp>
        <p:nvSpPr>
          <p:cNvPr id="38" name="TextBox 37">
            <a:extLst>
              <a:ext uri="{FF2B5EF4-FFF2-40B4-BE49-F238E27FC236}">
                <a16:creationId xmlns:a16="http://schemas.microsoft.com/office/drawing/2014/main" id="{5EB73920-E5E4-1237-C72C-D23B74AD662E}"/>
              </a:ext>
            </a:extLst>
          </p:cNvPr>
          <p:cNvSpPr txBox="1"/>
          <p:nvPr/>
        </p:nvSpPr>
        <p:spPr>
          <a:xfrm>
            <a:off x="9178860" y="858015"/>
            <a:ext cx="2888534" cy="1200329"/>
          </a:xfrm>
          <a:prstGeom prst="rect">
            <a:avLst/>
          </a:prstGeom>
          <a:noFill/>
        </p:spPr>
        <p:txBody>
          <a:bodyPr wrap="square" rtlCol="0">
            <a:spAutoFit/>
          </a:bodyPr>
          <a:lstStyle/>
          <a:p>
            <a:r>
              <a:rPr lang="en-US" dirty="0"/>
              <a:t>Electricity (even more!)</a:t>
            </a:r>
          </a:p>
          <a:p>
            <a:r>
              <a:rPr lang="en-US" dirty="0"/>
              <a:t>Water (cooling)</a:t>
            </a:r>
          </a:p>
          <a:p>
            <a:r>
              <a:rPr lang="en-US" dirty="0"/>
              <a:t>Land (more data centers/power plants)</a:t>
            </a:r>
            <a:endParaRPr lang="en-DK" dirty="0"/>
          </a:p>
        </p:txBody>
      </p:sp>
      <p:sp>
        <p:nvSpPr>
          <p:cNvPr id="39" name="TextBox 38">
            <a:extLst>
              <a:ext uri="{FF2B5EF4-FFF2-40B4-BE49-F238E27FC236}">
                <a16:creationId xmlns:a16="http://schemas.microsoft.com/office/drawing/2014/main" id="{C6D953FB-5C86-BA71-EA6C-8820F928228D}"/>
              </a:ext>
            </a:extLst>
          </p:cNvPr>
          <p:cNvSpPr txBox="1"/>
          <p:nvPr/>
        </p:nvSpPr>
        <p:spPr>
          <a:xfrm>
            <a:off x="9389634" y="6488668"/>
            <a:ext cx="2729658" cy="369332"/>
          </a:xfrm>
          <a:prstGeom prst="rect">
            <a:avLst/>
          </a:prstGeom>
          <a:noFill/>
        </p:spPr>
        <p:txBody>
          <a:bodyPr wrap="none" rtlCol="0">
            <a:spAutoFit/>
          </a:bodyPr>
          <a:lstStyle/>
          <a:p>
            <a:r>
              <a:rPr lang="en-GB" dirty="0"/>
              <a:t>Add r</a:t>
            </a:r>
            <a:r>
              <a:rPr lang="en-DK" dirty="0"/>
              <a:t>eferences to slides? </a:t>
            </a:r>
          </a:p>
        </p:txBody>
      </p:sp>
      <p:sp>
        <p:nvSpPr>
          <p:cNvPr id="2" name="TextBox 1">
            <a:extLst>
              <a:ext uri="{FF2B5EF4-FFF2-40B4-BE49-F238E27FC236}">
                <a16:creationId xmlns:a16="http://schemas.microsoft.com/office/drawing/2014/main" id="{5BDEAF73-C3EE-44C3-E376-C298C7EF6F67}"/>
              </a:ext>
            </a:extLst>
          </p:cNvPr>
          <p:cNvSpPr txBox="1"/>
          <p:nvPr/>
        </p:nvSpPr>
        <p:spPr>
          <a:xfrm>
            <a:off x="4022903" y="5243682"/>
            <a:ext cx="1842877" cy="369332"/>
          </a:xfrm>
          <a:prstGeom prst="rect">
            <a:avLst/>
          </a:prstGeom>
          <a:noFill/>
        </p:spPr>
        <p:txBody>
          <a:bodyPr wrap="none" rtlCol="0">
            <a:spAutoFit/>
          </a:bodyPr>
          <a:lstStyle/>
          <a:p>
            <a:r>
              <a:rPr lang="en-DK" dirty="0"/>
              <a:t>Dataset curation</a:t>
            </a:r>
          </a:p>
        </p:txBody>
      </p:sp>
      <p:sp>
        <p:nvSpPr>
          <p:cNvPr id="3" name="Rounded Rectangle 2">
            <a:extLst>
              <a:ext uri="{FF2B5EF4-FFF2-40B4-BE49-F238E27FC236}">
                <a16:creationId xmlns:a16="http://schemas.microsoft.com/office/drawing/2014/main" id="{B25D4651-D86E-0EA3-B4C1-9F9E22828979}"/>
              </a:ext>
            </a:extLst>
          </p:cNvPr>
          <p:cNvSpPr/>
          <p:nvPr/>
        </p:nvSpPr>
        <p:spPr>
          <a:xfrm>
            <a:off x="3307657" y="2085104"/>
            <a:ext cx="2061177" cy="2098945"/>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Model selection (including hyperparameter optimization)</a:t>
            </a:r>
          </a:p>
        </p:txBody>
      </p:sp>
      <p:sp>
        <p:nvSpPr>
          <p:cNvPr id="5" name="Arrow: Right 35">
            <a:extLst>
              <a:ext uri="{FF2B5EF4-FFF2-40B4-BE49-F238E27FC236}">
                <a16:creationId xmlns:a16="http://schemas.microsoft.com/office/drawing/2014/main" id="{0B9C10D4-D65A-C03A-448F-2EE0F1FC3BC8}"/>
              </a:ext>
            </a:extLst>
          </p:cNvPr>
          <p:cNvSpPr/>
          <p:nvPr/>
        </p:nvSpPr>
        <p:spPr>
          <a:xfrm>
            <a:off x="2543255" y="2927863"/>
            <a:ext cx="706374" cy="413110"/>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D2F10CDD-AA3E-2627-9D40-381237051998}"/>
              </a:ext>
            </a:extLst>
          </p:cNvPr>
          <p:cNvSpPr txBox="1"/>
          <p:nvPr/>
        </p:nvSpPr>
        <p:spPr>
          <a:xfrm>
            <a:off x="9452619" y="4325130"/>
            <a:ext cx="1462067" cy="369332"/>
          </a:xfrm>
          <a:prstGeom prst="rect">
            <a:avLst/>
          </a:prstGeom>
          <a:noFill/>
        </p:spPr>
        <p:txBody>
          <a:bodyPr wrap="none" rtlCol="0">
            <a:spAutoFit/>
          </a:bodyPr>
          <a:lstStyle/>
          <a:p>
            <a:r>
              <a:rPr lang="en-DK" dirty="0">
                <a:highlight>
                  <a:srgbClr val="FFFF00"/>
                </a:highlight>
              </a:rPr>
              <a:t>Data centers</a:t>
            </a:r>
          </a:p>
        </p:txBody>
      </p:sp>
    </p:spTree>
    <p:extLst>
      <p:ext uri="{BB962C8B-B14F-4D97-AF65-F5344CB8AC3E}">
        <p14:creationId xmlns:p14="http://schemas.microsoft.com/office/powerpoint/2010/main" val="1120632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AB522-60FC-C089-ABD7-13EFB08034EE}"/>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3C8A2C5C-777A-CE3A-E49D-79088BBDFCB4}"/>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ED20B79-FA83-5336-2C8F-C0CCA460C7B9}"/>
              </a:ext>
            </a:extLst>
          </p:cNvPr>
          <p:cNvSpPr txBox="1"/>
          <p:nvPr/>
        </p:nvSpPr>
        <p:spPr>
          <a:xfrm>
            <a:off x="223366" y="36291"/>
            <a:ext cx="5145468"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Data </a:t>
            </a:r>
            <a:r>
              <a:rPr lang="en-GB" sz="3600" b="1" dirty="0" err="1">
                <a:ea typeface="Calibri" panose="020F0502020204030204" pitchFamily="34" charset="0"/>
                <a:cs typeface="Calibri" panose="020F0502020204030204" pitchFamily="34" charset="0"/>
              </a:rPr>
              <a:t>centers</a:t>
            </a:r>
            <a:endParaRPr lang="en-GB" sz="3600" b="1" dirty="0">
              <a:ea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09DA24E0-43F0-7A49-EC7B-781C0CA5C226}"/>
              </a:ext>
            </a:extLst>
          </p:cNvPr>
          <p:cNvGrpSpPr/>
          <p:nvPr/>
        </p:nvGrpSpPr>
        <p:grpSpPr>
          <a:xfrm>
            <a:off x="1823103" y="1954278"/>
            <a:ext cx="4362704" cy="369332"/>
            <a:chOff x="1151931" y="1863697"/>
            <a:chExt cx="4362704" cy="369332"/>
          </a:xfrm>
        </p:grpSpPr>
        <p:sp>
          <p:nvSpPr>
            <p:cNvPr id="9" name="TextBox 8">
              <a:extLst>
                <a:ext uri="{FF2B5EF4-FFF2-40B4-BE49-F238E27FC236}">
                  <a16:creationId xmlns:a16="http://schemas.microsoft.com/office/drawing/2014/main" id="{8512A208-97F0-24D9-77A6-8A3E85FA1ED0}"/>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You can use those dots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8151BCCE-C51D-C676-ED5E-7F50364EE46E}"/>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045F3DD8-A32F-83D1-84E9-EBCF2D7849BB}"/>
              </a:ext>
            </a:extLst>
          </p:cNvPr>
          <p:cNvGrpSpPr/>
          <p:nvPr/>
        </p:nvGrpSpPr>
        <p:grpSpPr>
          <a:xfrm>
            <a:off x="1823103" y="2591894"/>
            <a:ext cx="4362704" cy="369332"/>
            <a:chOff x="1151931" y="1863697"/>
            <a:chExt cx="4362704" cy="369332"/>
          </a:xfrm>
        </p:grpSpPr>
        <p:sp>
          <p:nvSpPr>
            <p:cNvPr id="17" name="TextBox 16">
              <a:extLst>
                <a:ext uri="{FF2B5EF4-FFF2-40B4-BE49-F238E27FC236}">
                  <a16:creationId xmlns:a16="http://schemas.microsoft.com/office/drawing/2014/main" id="{1A1D855E-63A3-CB03-FA6C-5D9BFF6AB673}"/>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are nice to organize stuff</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6A02D42F-07CD-AD52-E88A-BDAE75AE6C71}"/>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F6849CCA-0F20-6A2E-CD76-AC01C6A7F3B5}"/>
              </a:ext>
            </a:extLst>
          </p:cNvPr>
          <p:cNvGrpSpPr/>
          <p:nvPr/>
        </p:nvGrpSpPr>
        <p:grpSpPr>
          <a:xfrm>
            <a:off x="1823103" y="3197050"/>
            <a:ext cx="4362704" cy="369332"/>
            <a:chOff x="1151931" y="1863697"/>
            <a:chExt cx="4362704" cy="369332"/>
          </a:xfrm>
        </p:grpSpPr>
        <p:sp>
          <p:nvSpPr>
            <p:cNvPr id="20" name="TextBox 19">
              <a:extLst>
                <a:ext uri="{FF2B5EF4-FFF2-40B4-BE49-F238E27FC236}">
                  <a16:creationId xmlns:a16="http://schemas.microsoft.com/office/drawing/2014/main" id="{2A01AFB6-A96B-7CCE-0BDE-3A18B593EBAF}"/>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Probably 1-5 per slide is optimal</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2E011AF3-A5F7-B754-2DF8-CB74FFF73028}"/>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14698678-9301-ACAE-0695-C4D0D7558016}"/>
              </a:ext>
            </a:extLst>
          </p:cNvPr>
          <p:cNvGrpSpPr/>
          <p:nvPr/>
        </p:nvGrpSpPr>
        <p:grpSpPr>
          <a:xfrm>
            <a:off x="1823103" y="3833695"/>
            <a:ext cx="4362704" cy="369332"/>
            <a:chOff x="1151931" y="1863697"/>
            <a:chExt cx="4362704" cy="369332"/>
          </a:xfrm>
        </p:grpSpPr>
        <p:sp>
          <p:nvSpPr>
            <p:cNvPr id="23" name="TextBox 22">
              <a:extLst>
                <a:ext uri="{FF2B5EF4-FFF2-40B4-BE49-F238E27FC236}">
                  <a16:creationId xmlns:a16="http://schemas.microsoft.com/office/drawing/2014/main" id="{0D7C4DA1-BAAC-7952-6B70-A7D4BAF6E650}"/>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can also have numbers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37125CB8-7607-E0AA-1AF8-EB4ACB284DFF}"/>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a:t>
              </a:r>
            </a:p>
          </p:txBody>
        </p:sp>
      </p:grpSp>
      <p:grpSp>
        <p:nvGrpSpPr>
          <p:cNvPr id="26" name="Group 25">
            <a:extLst>
              <a:ext uri="{FF2B5EF4-FFF2-40B4-BE49-F238E27FC236}">
                <a16:creationId xmlns:a16="http://schemas.microsoft.com/office/drawing/2014/main" id="{FA147264-9797-79C2-671E-D186FF4FB71B}"/>
              </a:ext>
            </a:extLst>
          </p:cNvPr>
          <p:cNvGrpSpPr/>
          <p:nvPr/>
        </p:nvGrpSpPr>
        <p:grpSpPr>
          <a:xfrm>
            <a:off x="1823103" y="4470340"/>
            <a:ext cx="4362704" cy="369332"/>
            <a:chOff x="1151931" y="1863697"/>
            <a:chExt cx="4362704" cy="369332"/>
          </a:xfrm>
        </p:grpSpPr>
        <p:sp>
          <p:nvSpPr>
            <p:cNvPr id="30" name="TextBox 29">
              <a:extLst>
                <a:ext uri="{FF2B5EF4-FFF2-40B4-BE49-F238E27FC236}">
                  <a16:creationId xmlns:a16="http://schemas.microsoft.com/office/drawing/2014/main" id="{F78C88BC-E258-DB4C-F432-D4D416DE7DAE}"/>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If that’s your thing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87E7E72D-D02F-BD3E-4941-1B764EA4AB79}"/>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a:t>
              </a:r>
            </a:p>
          </p:txBody>
        </p:sp>
      </p:grpSp>
      <p:sp>
        <p:nvSpPr>
          <p:cNvPr id="4" name="TextBox 3">
            <a:extLst>
              <a:ext uri="{FF2B5EF4-FFF2-40B4-BE49-F238E27FC236}">
                <a16:creationId xmlns:a16="http://schemas.microsoft.com/office/drawing/2014/main" id="{8D0A423C-42A7-CFFD-BE6F-83ED0E90537B}"/>
              </a:ext>
            </a:extLst>
          </p:cNvPr>
          <p:cNvSpPr txBox="1"/>
          <p:nvPr/>
        </p:nvSpPr>
        <p:spPr>
          <a:xfrm>
            <a:off x="5734469" y="4193341"/>
            <a:ext cx="2521972" cy="369332"/>
          </a:xfrm>
          <a:prstGeom prst="rect">
            <a:avLst/>
          </a:prstGeom>
          <a:noFill/>
        </p:spPr>
        <p:txBody>
          <a:bodyPr wrap="none" rtlCol="0">
            <a:spAutoFit/>
          </a:bodyPr>
          <a:lstStyle/>
          <a:p>
            <a:r>
              <a:rPr lang="en-DK" dirty="0">
                <a:highlight>
                  <a:srgbClr val="FFFF00"/>
                </a:highlight>
              </a:rPr>
              <a:t>AI share of data centers</a:t>
            </a:r>
          </a:p>
        </p:txBody>
      </p:sp>
      <p:sp>
        <p:nvSpPr>
          <p:cNvPr id="6" name="TextBox 5">
            <a:extLst>
              <a:ext uri="{FF2B5EF4-FFF2-40B4-BE49-F238E27FC236}">
                <a16:creationId xmlns:a16="http://schemas.microsoft.com/office/drawing/2014/main" id="{943DB9BD-DA0C-5121-88B6-D41EE6697E2C}"/>
              </a:ext>
            </a:extLst>
          </p:cNvPr>
          <p:cNvSpPr txBox="1"/>
          <p:nvPr/>
        </p:nvSpPr>
        <p:spPr>
          <a:xfrm>
            <a:off x="3025422" y="5949244"/>
            <a:ext cx="2989921" cy="369332"/>
          </a:xfrm>
          <a:prstGeom prst="rect">
            <a:avLst/>
          </a:prstGeom>
          <a:noFill/>
        </p:spPr>
        <p:txBody>
          <a:bodyPr wrap="none" rtlCol="0">
            <a:spAutoFit/>
          </a:bodyPr>
          <a:lstStyle/>
          <a:p>
            <a:r>
              <a:rPr lang="en-DK" dirty="0">
                <a:highlight>
                  <a:srgbClr val="00FFFF"/>
                </a:highlight>
              </a:rPr>
              <a:t>Newspaper articles optional</a:t>
            </a:r>
          </a:p>
        </p:txBody>
      </p:sp>
      <p:sp>
        <p:nvSpPr>
          <p:cNvPr id="8" name="TextBox 7">
            <a:extLst>
              <a:ext uri="{FF2B5EF4-FFF2-40B4-BE49-F238E27FC236}">
                <a16:creationId xmlns:a16="http://schemas.microsoft.com/office/drawing/2014/main" id="{B0E86CE8-B038-37B4-773A-5EDC95CA15C9}"/>
              </a:ext>
            </a:extLst>
          </p:cNvPr>
          <p:cNvSpPr txBox="1"/>
          <p:nvPr/>
        </p:nvSpPr>
        <p:spPr>
          <a:xfrm>
            <a:off x="7346535" y="500022"/>
            <a:ext cx="4622099" cy="3416320"/>
          </a:xfrm>
          <a:prstGeom prst="rect">
            <a:avLst/>
          </a:prstGeom>
          <a:noFill/>
        </p:spPr>
        <p:txBody>
          <a:bodyPr wrap="none" rtlCol="0">
            <a:spAutoFit/>
          </a:bodyPr>
          <a:lstStyle/>
          <a:p>
            <a:r>
              <a:rPr lang="en-DK" dirty="0"/>
              <a:t>In 2024, global data center electricity</a:t>
            </a:r>
          </a:p>
          <a:p>
            <a:r>
              <a:rPr lang="en-DK" dirty="0"/>
              <a:t>consumption was estimated at about 415</a:t>
            </a:r>
          </a:p>
          <a:p>
            <a:r>
              <a:rPr lang="en-DK" dirty="0"/>
              <a:t>TWh (415 billion kWh), roughly 1.5% of global</a:t>
            </a:r>
          </a:p>
          <a:p>
            <a:r>
              <a:rPr lang="en-DK" dirty="0"/>
              <a:t>electricity demand57. In 2025, global data</a:t>
            </a:r>
          </a:p>
          <a:p>
            <a:r>
              <a:rPr lang="en-DK" dirty="0"/>
              <a:t>centers were estimated to consume 448</a:t>
            </a:r>
          </a:p>
          <a:p>
            <a:r>
              <a:rPr lang="en-DK" dirty="0"/>
              <a:t>TWh of electricity. </a:t>
            </a:r>
          </a:p>
          <a:p>
            <a:r>
              <a:rPr lang="en-DK" dirty="0"/>
              <a:t>If current trends hold, data center electricity</a:t>
            </a:r>
          </a:p>
          <a:p>
            <a:r>
              <a:rPr lang="en-DK" dirty="0"/>
              <a:t>consumption could exceed 945 TWh by</a:t>
            </a:r>
          </a:p>
          <a:p>
            <a:r>
              <a:rPr lang="en-DK" dirty="0"/>
              <a:t>2030, roughly doubling the 2025 figure and</a:t>
            </a:r>
          </a:p>
          <a:p>
            <a:r>
              <a:rPr lang="en-DK" dirty="0"/>
              <a:t>accounting for almost 3% of projected global</a:t>
            </a:r>
          </a:p>
          <a:p>
            <a:r>
              <a:rPr lang="en-DK" dirty="0"/>
              <a:t>electricity56.</a:t>
            </a:r>
          </a:p>
          <a:p>
            <a:endParaRPr lang="en-DK" dirty="0"/>
          </a:p>
        </p:txBody>
      </p:sp>
      <p:sp>
        <p:nvSpPr>
          <p:cNvPr id="10" name="TextBox 9">
            <a:extLst>
              <a:ext uri="{FF2B5EF4-FFF2-40B4-BE49-F238E27FC236}">
                <a16:creationId xmlns:a16="http://schemas.microsoft.com/office/drawing/2014/main" id="{29976C03-4F9D-4396-636D-2C20BD3C1BCE}"/>
              </a:ext>
            </a:extLst>
          </p:cNvPr>
          <p:cNvSpPr txBox="1"/>
          <p:nvPr/>
        </p:nvSpPr>
        <p:spPr>
          <a:xfrm>
            <a:off x="7398327" y="5320145"/>
            <a:ext cx="5347939" cy="246221"/>
          </a:xfrm>
          <a:prstGeom prst="rect">
            <a:avLst/>
          </a:prstGeom>
          <a:noFill/>
        </p:spPr>
        <p:txBody>
          <a:bodyPr wrap="none" rtlCol="0">
            <a:spAutoFit/>
          </a:bodyPr>
          <a:lstStyle/>
          <a:p>
            <a:r>
              <a:rPr lang="en-GB" sz="1000" dirty="0"/>
              <a:t>https://</a:t>
            </a:r>
            <a:r>
              <a:rPr lang="en-GB" sz="1000" dirty="0" err="1"/>
              <a:t>www.politico.eu</a:t>
            </a:r>
            <a:r>
              <a:rPr lang="en-GB" sz="1000" dirty="0"/>
              <a:t>/article/eu-launches-e30-billion-push-build-7-giga-ai-compute-hubs/</a:t>
            </a:r>
            <a:endParaRPr lang="en-DK" sz="1000" dirty="0"/>
          </a:p>
        </p:txBody>
      </p:sp>
      <p:pic>
        <p:nvPicPr>
          <p:cNvPr id="12" name="Picture 11">
            <a:extLst>
              <a:ext uri="{FF2B5EF4-FFF2-40B4-BE49-F238E27FC236}">
                <a16:creationId xmlns:a16="http://schemas.microsoft.com/office/drawing/2014/main" id="{BBD89227-E147-E2BB-ED29-D0008C8CD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440" y="1069020"/>
            <a:ext cx="4546600" cy="1905000"/>
          </a:xfrm>
          <a:prstGeom prst="rect">
            <a:avLst/>
          </a:prstGeom>
        </p:spPr>
      </p:pic>
      <p:pic>
        <p:nvPicPr>
          <p:cNvPr id="28" name="Picture 27">
            <a:extLst>
              <a:ext uri="{FF2B5EF4-FFF2-40B4-BE49-F238E27FC236}">
                <a16:creationId xmlns:a16="http://schemas.microsoft.com/office/drawing/2014/main" id="{7C27B081-FAA6-D295-9D32-1D04AFF90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6082" y="240400"/>
            <a:ext cx="3408675" cy="3584274"/>
          </a:xfrm>
          <a:prstGeom prst="rect">
            <a:avLst/>
          </a:prstGeom>
        </p:spPr>
      </p:pic>
      <p:pic>
        <p:nvPicPr>
          <p:cNvPr id="32" name="Picture 31">
            <a:extLst>
              <a:ext uri="{FF2B5EF4-FFF2-40B4-BE49-F238E27FC236}">
                <a16:creationId xmlns:a16="http://schemas.microsoft.com/office/drawing/2014/main" id="{55098F76-2F31-A287-0747-D0E2C4933C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46600" y="3595207"/>
            <a:ext cx="3217366" cy="3128270"/>
          </a:xfrm>
          <a:prstGeom prst="rect">
            <a:avLst/>
          </a:prstGeom>
        </p:spPr>
      </p:pic>
      <p:sp>
        <p:nvSpPr>
          <p:cNvPr id="33" name="TextBox 32">
            <a:extLst>
              <a:ext uri="{FF2B5EF4-FFF2-40B4-BE49-F238E27FC236}">
                <a16:creationId xmlns:a16="http://schemas.microsoft.com/office/drawing/2014/main" id="{347170DE-D71A-CD16-31C3-16ADBFFF4D23}"/>
              </a:ext>
            </a:extLst>
          </p:cNvPr>
          <p:cNvSpPr txBox="1"/>
          <p:nvPr/>
        </p:nvSpPr>
        <p:spPr>
          <a:xfrm>
            <a:off x="9067800" y="4565073"/>
            <a:ext cx="5339923" cy="246221"/>
          </a:xfrm>
          <a:prstGeom prst="rect">
            <a:avLst/>
          </a:prstGeom>
          <a:noFill/>
        </p:spPr>
        <p:txBody>
          <a:bodyPr wrap="none" rtlCol="0">
            <a:spAutoFit/>
          </a:bodyPr>
          <a:lstStyle/>
          <a:p>
            <a:r>
              <a:rPr lang="en-GB" sz="1000" dirty="0"/>
              <a:t>https://</a:t>
            </a:r>
            <a:r>
              <a:rPr lang="en-GB" sz="1000" dirty="0" err="1"/>
              <a:t>ourworldindata.org</a:t>
            </a:r>
            <a:r>
              <a:rPr lang="en-GB" sz="1000" dirty="0"/>
              <a:t>/how-much-energy-do-data-</a:t>
            </a:r>
            <a:r>
              <a:rPr lang="en-GB" sz="1000" dirty="0" err="1"/>
              <a:t>centers</a:t>
            </a:r>
            <a:r>
              <a:rPr lang="en-GB" sz="1000" dirty="0"/>
              <a:t>-and-artificial-intelligence-use</a:t>
            </a:r>
            <a:endParaRPr lang="en-DK" sz="1000" dirty="0"/>
          </a:p>
        </p:txBody>
      </p:sp>
      <p:pic>
        <p:nvPicPr>
          <p:cNvPr id="35" name="Picture 34">
            <a:extLst>
              <a:ext uri="{FF2B5EF4-FFF2-40B4-BE49-F238E27FC236}">
                <a16:creationId xmlns:a16="http://schemas.microsoft.com/office/drawing/2014/main" id="{80CA66F0-9713-E1F6-CD2E-388F7505D4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8453" y="1721838"/>
            <a:ext cx="5312338" cy="5312338"/>
          </a:xfrm>
          <a:prstGeom prst="rect">
            <a:avLst/>
          </a:prstGeom>
        </p:spPr>
      </p:pic>
      <p:sp>
        <p:nvSpPr>
          <p:cNvPr id="37" name="TextBox 36">
            <a:extLst>
              <a:ext uri="{FF2B5EF4-FFF2-40B4-BE49-F238E27FC236}">
                <a16:creationId xmlns:a16="http://schemas.microsoft.com/office/drawing/2014/main" id="{05B16068-805A-D773-449D-045F2C03940D}"/>
              </a:ext>
            </a:extLst>
          </p:cNvPr>
          <p:cNvSpPr txBox="1"/>
          <p:nvPr/>
        </p:nvSpPr>
        <p:spPr>
          <a:xfrm>
            <a:off x="8132618" y="6400800"/>
            <a:ext cx="3852914" cy="369332"/>
          </a:xfrm>
          <a:prstGeom prst="rect">
            <a:avLst/>
          </a:prstGeom>
          <a:noFill/>
        </p:spPr>
        <p:txBody>
          <a:bodyPr wrap="none" rtlCol="0">
            <a:spAutoFit/>
          </a:bodyPr>
          <a:lstStyle/>
          <a:p>
            <a:r>
              <a:rPr lang="en-GB" dirty="0">
                <a:highlight>
                  <a:srgbClr val="FFFF00"/>
                </a:highlight>
              </a:rPr>
              <a:t>U</a:t>
            </a:r>
            <a:r>
              <a:rPr lang="en-DK" dirty="0">
                <a:highlight>
                  <a:srgbClr val="FFFF00"/>
                </a:highlight>
              </a:rPr>
              <a:t>pdate figure to match slide properly</a:t>
            </a:r>
          </a:p>
        </p:txBody>
      </p:sp>
    </p:spTree>
    <p:extLst>
      <p:ext uri="{BB962C8B-B14F-4D97-AF65-F5344CB8AC3E}">
        <p14:creationId xmlns:p14="http://schemas.microsoft.com/office/powerpoint/2010/main" val="1353230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8508-3C56-3A31-B147-A0A38B554788}"/>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8E142B3D-297B-707E-16E9-660A7D745828}"/>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F7DC0E5-F941-BA76-EC9F-3F11A09BA700}"/>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Electricity use</a:t>
            </a:r>
          </a:p>
        </p:txBody>
      </p:sp>
      <p:pic>
        <p:nvPicPr>
          <p:cNvPr id="5" name="Picture 4">
            <a:extLst>
              <a:ext uri="{FF2B5EF4-FFF2-40B4-BE49-F238E27FC236}">
                <a16:creationId xmlns:a16="http://schemas.microsoft.com/office/drawing/2014/main" id="{DC8118C9-96F3-DF5C-D33F-2BF57A600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0774" y="1072462"/>
            <a:ext cx="8110452" cy="4627945"/>
          </a:xfrm>
          <a:prstGeom prst="rect">
            <a:avLst/>
          </a:prstGeom>
        </p:spPr>
      </p:pic>
      <p:sp>
        <p:nvSpPr>
          <p:cNvPr id="6" name="TextBox 5">
            <a:extLst>
              <a:ext uri="{FF2B5EF4-FFF2-40B4-BE49-F238E27FC236}">
                <a16:creationId xmlns:a16="http://schemas.microsoft.com/office/drawing/2014/main" id="{B83A1549-F61B-E3A2-788E-9F73C406CC0A}"/>
              </a:ext>
            </a:extLst>
          </p:cNvPr>
          <p:cNvSpPr txBox="1"/>
          <p:nvPr/>
        </p:nvSpPr>
        <p:spPr>
          <a:xfrm>
            <a:off x="810883" y="6090249"/>
            <a:ext cx="5588774" cy="646331"/>
          </a:xfrm>
          <a:prstGeom prst="rect">
            <a:avLst/>
          </a:prstGeom>
          <a:noFill/>
        </p:spPr>
        <p:txBody>
          <a:bodyPr wrap="none" rtlCol="0">
            <a:spAutoFit/>
          </a:bodyPr>
          <a:lstStyle/>
          <a:p>
            <a:r>
              <a:rPr lang="en-GB" dirty="0"/>
              <a:t>R</a:t>
            </a:r>
            <a:r>
              <a:rPr lang="en-DK" dirty="0"/>
              <a:t>efs: </a:t>
            </a:r>
            <a:r>
              <a:rPr lang="en-GB" dirty="0">
                <a:hlinkClick r:id="rId4"/>
              </a:rPr>
              <a:t>https://arxiv.org/pdf/2311.16863</a:t>
            </a:r>
            <a:endParaRPr lang="en-GB" dirty="0"/>
          </a:p>
          <a:p>
            <a:r>
              <a:rPr lang="en-GB" dirty="0">
                <a:hlinkClick r:id="rId5"/>
              </a:rPr>
              <a:t>https://www.nature.com/articles/d41586-024-02680-3</a:t>
            </a:r>
            <a:r>
              <a:rPr lang="en-GB" dirty="0"/>
              <a:t> </a:t>
            </a:r>
            <a:endParaRPr lang="en-DK" dirty="0"/>
          </a:p>
        </p:txBody>
      </p:sp>
    </p:spTree>
    <p:extLst>
      <p:ext uri="{BB962C8B-B14F-4D97-AF65-F5344CB8AC3E}">
        <p14:creationId xmlns:p14="http://schemas.microsoft.com/office/powerpoint/2010/main" val="952548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9544F-DB0E-3210-E663-B708212ABAD0}"/>
            </a:ext>
          </a:extLst>
        </p:cNvPr>
        <p:cNvGrpSpPr/>
        <p:nvPr/>
      </p:nvGrpSpPr>
      <p:grpSpPr>
        <a:xfrm>
          <a:off x="0" y="0"/>
          <a:ext cx="0" cy="0"/>
          <a:chOff x="0" y="0"/>
          <a:chExt cx="0" cy="0"/>
        </a:xfrm>
      </p:grpSpPr>
      <p:sp>
        <p:nvSpPr>
          <p:cNvPr id="43" name="Rounded Rectangle 42">
            <a:extLst>
              <a:ext uri="{FF2B5EF4-FFF2-40B4-BE49-F238E27FC236}">
                <a16:creationId xmlns:a16="http://schemas.microsoft.com/office/drawing/2014/main" id="{89F9B4E8-05C2-2500-474E-6CF39C4240A6}"/>
              </a:ext>
            </a:extLst>
          </p:cNvPr>
          <p:cNvSpPr/>
          <p:nvPr/>
        </p:nvSpPr>
        <p:spPr>
          <a:xfrm>
            <a:off x="532207" y="1219523"/>
            <a:ext cx="3310128" cy="4955855"/>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Cooling</a:t>
            </a:r>
          </a:p>
          <a:p>
            <a:pPr algn="ctr"/>
            <a:endParaRPr lang="en-DK" dirty="0"/>
          </a:p>
          <a:p>
            <a:pPr algn="ctr"/>
            <a:r>
              <a:rPr lang="en-DK" dirty="0">
                <a:solidFill>
                  <a:schemeClr val="tx1"/>
                </a:solidFill>
              </a:rPr>
              <a:t>Electricity generation</a:t>
            </a:r>
          </a:p>
        </p:txBody>
      </p:sp>
      <p:sp>
        <p:nvSpPr>
          <p:cNvPr id="44" name="Rounded Rectangle 43">
            <a:extLst>
              <a:ext uri="{FF2B5EF4-FFF2-40B4-BE49-F238E27FC236}">
                <a16:creationId xmlns:a16="http://schemas.microsoft.com/office/drawing/2014/main" id="{FB4BB266-C817-0EB2-F1DB-1929BBEA04C2}"/>
              </a:ext>
            </a:extLst>
          </p:cNvPr>
          <p:cNvSpPr/>
          <p:nvPr/>
        </p:nvSpPr>
        <p:spPr>
          <a:xfrm>
            <a:off x="4443746" y="1219524"/>
            <a:ext cx="3310128" cy="4955854"/>
          </a:xfrm>
          <a:prstGeom prst="roundRect">
            <a:avLst/>
          </a:prstGeom>
          <a:solidFill>
            <a:srgbClr val="C8E4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Mix of sources, </a:t>
            </a:r>
          </a:p>
          <a:p>
            <a:pPr algn="ctr"/>
            <a:r>
              <a:rPr lang="en-GB" dirty="0">
                <a:solidFill>
                  <a:schemeClr val="tx1"/>
                </a:solidFill>
              </a:rPr>
              <a:t>R</a:t>
            </a:r>
            <a:r>
              <a:rPr lang="en-DK" dirty="0">
                <a:solidFill>
                  <a:schemeClr val="tx1"/>
                </a:solidFill>
              </a:rPr>
              <a:t>enewables and fossil fuel</a:t>
            </a:r>
          </a:p>
        </p:txBody>
      </p:sp>
      <p:sp>
        <p:nvSpPr>
          <p:cNvPr id="45" name="Rounded Rectangle 44">
            <a:extLst>
              <a:ext uri="{FF2B5EF4-FFF2-40B4-BE49-F238E27FC236}">
                <a16:creationId xmlns:a16="http://schemas.microsoft.com/office/drawing/2014/main" id="{6AD350DA-7A88-8C72-81CB-06BFE99F0C1F}"/>
              </a:ext>
            </a:extLst>
          </p:cNvPr>
          <p:cNvSpPr/>
          <p:nvPr/>
        </p:nvSpPr>
        <p:spPr>
          <a:xfrm>
            <a:off x="8349665" y="1219524"/>
            <a:ext cx="3310128" cy="4955854"/>
          </a:xfrm>
          <a:prstGeom prst="roundRect">
            <a:avLst/>
          </a:prstGeom>
          <a:solidFill>
            <a:srgbClr val="FAE9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K" dirty="0">
                <a:solidFill>
                  <a:schemeClr val="tx1"/>
                </a:solidFill>
              </a:rPr>
              <a:t>The land footprint of the energy produced to run data centers (2025) was </a:t>
            </a:r>
            <a:r>
              <a:rPr lang="en-GB" dirty="0">
                <a:solidFill>
                  <a:schemeClr val="tx1"/>
                </a:solidFill>
              </a:rPr>
              <a:t>6,900 km² (2.5*Copenhagen Metropolitan Area/</a:t>
            </a:r>
            <a:r>
              <a:rPr lang="en-GB" dirty="0" err="1">
                <a:solidFill>
                  <a:schemeClr val="tx1"/>
                </a:solidFill>
              </a:rPr>
              <a:t>Hovedstadsområdet</a:t>
            </a:r>
            <a:r>
              <a:rPr lang="en-GB" dirty="0">
                <a:solidFill>
                  <a:schemeClr val="tx1"/>
                </a:solidFill>
              </a:rPr>
              <a:t>)</a:t>
            </a:r>
            <a:endParaRPr lang="en-DK" dirty="0">
              <a:solidFill>
                <a:schemeClr val="tx1"/>
              </a:solidFill>
            </a:endParaRPr>
          </a:p>
        </p:txBody>
      </p:sp>
      <p:cxnSp>
        <p:nvCxnSpPr>
          <p:cNvPr id="14" name="Straight Connector 13">
            <a:extLst>
              <a:ext uri="{FF2B5EF4-FFF2-40B4-BE49-F238E27FC236}">
                <a16:creationId xmlns:a16="http://schemas.microsoft.com/office/drawing/2014/main" id="{89D5F797-C63D-BB42-14F9-EAC1634B5C4F}"/>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28F1B2F-626E-CE40-C24F-97D73929BF4A}"/>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Electricity</a:t>
            </a:r>
          </a:p>
        </p:txBody>
      </p:sp>
      <p:sp>
        <p:nvSpPr>
          <p:cNvPr id="10" name="Text 5">
            <a:extLst>
              <a:ext uri="{FF2B5EF4-FFF2-40B4-BE49-F238E27FC236}">
                <a16:creationId xmlns:a16="http://schemas.microsoft.com/office/drawing/2014/main" id="{79D8A971-3CAD-688B-03FE-49028185142C}"/>
              </a:ext>
            </a:extLst>
          </p:cNvPr>
          <p:cNvSpPr/>
          <p:nvPr/>
        </p:nvSpPr>
        <p:spPr>
          <a:xfrm>
            <a:off x="696799" y="1535658"/>
            <a:ext cx="2980944" cy="210312"/>
          </a:xfrm>
          <a:prstGeom prst="rect">
            <a:avLst/>
          </a:prstGeom>
          <a:noFill/>
          <a:ln/>
        </p:spPr>
        <p:txBody>
          <a:bodyPr wrap="square" lIns="0" tIns="0" rIns="0" bIns="0" rtlCol="0" anchor="ctr">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kern="0" spc="90" dirty="0">
                <a:solidFill>
                  <a:srgbClr val="092735"/>
                </a:solidFill>
                <a:latin typeface="Aptos" pitchFamily="34" charset="0"/>
                <a:ea typeface="Aptos" pitchFamily="34" charset="-122"/>
                <a:cs typeface="Aptos" pitchFamily="34" charset="-120"/>
              </a:rPr>
              <a:t>WATER</a:t>
            </a:r>
            <a:endParaRPr lang="en-US" sz="1400" dirty="0">
              <a:solidFill>
                <a:srgbClr val="092735"/>
              </a:solidFill>
            </a:endParaRPr>
          </a:p>
        </p:txBody>
      </p:sp>
      <p:sp>
        <p:nvSpPr>
          <p:cNvPr id="11" name="Text 17">
            <a:extLst>
              <a:ext uri="{FF2B5EF4-FFF2-40B4-BE49-F238E27FC236}">
                <a16:creationId xmlns:a16="http://schemas.microsoft.com/office/drawing/2014/main" id="{EE5AB31E-C3F0-4C2A-604E-33D3E70F2063}"/>
              </a:ext>
            </a:extLst>
          </p:cNvPr>
          <p:cNvSpPr/>
          <p:nvPr/>
        </p:nvSpPr>
        <p:spPr>
          <a:xfrm>
            <a:off x="4605528" y="1538653"/>
            <a:ext cx="2980944" cy="210312"/>
          </a:xfrm>
          <a:prstGeom prst="rect">
            <a:avLst/>
          </a:prstGeom>
          <a:noFill/>
          <a:ln/>
        </p:spPr>
        <p:txBody>
          <a:bodyPr wrap="square" lIns="0" tIns="0" rIns="0" bIns="0" rtlCol="0" anchor="ctr">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kern="0" spc="90" dirty="0">
                <a:solidFill>
                  <a:srgbClr val="142918"/>
                </a:solidFill>
                <a:latin typeface="Aptos" pitchFamily="34" charset="0"/>
                <a:ea typeface="Aptos" pitchFamily="34" charset="-122"/>
                <a:cs typeface="Aptos" pitchFamily="34" charset="-120"/>
              </a:rPr>
              <a:t>CARBON</a:t>
            </a:r>
            <a:endParaRPr lang="en-US" sz="1400" dirty="0">
              <a:solidFill>
                <a:srgbClr val="142918"/>
              </a:solidFill>
            </a:endParaRPr>
          </a:p>
        </p:txBody>
      </p:sp>
      <p:sp>
        <p:nvSpPr>
          <p:cNvPr id="12" name="Text 29">
            <a:extLst>
              <a:ext uri="{FF2B5EF4-FFF2-40B4-BE49-F238E27FC236}">
                <a16:creationId xmlns:a16="http://schemas.microsoft.com/office/drawing/2014/main" id="{D25D984B-581C-3D55-0660-E0E89C3E449D}"/>
              </a:ext>
            </a:extLst>
          </p:cNvPr>
          <p:cNvSpPr/>
          <p:nvPr/>
        </p:nvSpPr>
        <p:spPr>
          <a:xfrm>
            <a:off x="8514257" y="1535658"/>
            <a:ext cx="2980944" cy="210312"/>
          </a:xfrm>
          <a:prstGeom prst="rect">
            <a:avLst/>
          </a:prstGeom>
          <a:noFill/>
          <a:ln/>
        </p:spPr>
        <p:txBody>
          <a:bodyPr wrap="square" lIns="0" tIns="0" rIns="0" bIns="0" rtlCol="0" anchor="ctr">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kern="0" spc="90" dirty="0">
                <a:solidFill>
                  <a:srgbClr val="272002"/>
                </a:solidFill>
                <a:latin typeface="Aptos" pitchFamily="34" charset="0"/>
                <a:ea typeface="Aptos" pitchFamily="34" charset="-122"/>
                <a:cs typeface="Aptos" pitchFamily="34" charset="-120"/>
              </a:rPr>
              <a:t>LAND</a:t>
            </a:r>
            <a:endParaRPr lang="en-US" sz="1400" dirty="0">
              <a:solidFill>
                <a:srgbClr val="272002"/>
              </a:solidFill>
            </a:endParaRPr>
          </a:p>
        </p:txBody>
      </p:sp>
      <p:pic>
        <p:nvPicPr>
          <p:cNvPr id="47" name="Graphic 46" descr="Wave outline">
            <a:extLst>
              <a:ext uri="{FF2B5EF4-FFF2-40B4-BE49-F238E27FC236}">
                <a16:creationId xmlns:a16="http://schemas.microsoft.com/office/drawing/2014/main" id="{CA0E5099-3CA8-FA82-4549-46C9657237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6984" y="1419139"/>
            <a:ext cx="653662" cy="653662"/>
          </a:xfrm>
          <a:prstGeom prst="rect">
            <a:avLst/>
          </a:prstGeom>
        </p:spPr>
      </p:pic>
      <p:pic>
        <p:nvPicPr>
          <p:cNvPr id="51" name="Graphic 50" descr="Agriculture outline">
            <a:extLst>
              <a:ext uri="{FF2B5EF4-FFF2-40B4-BE49-F238E27FC236}">
                <a16:creationId xmlns:a16="http://schemas.microsoft.com/office/drawing/2014/main" id="{A1B068A2-1F54-7489-96C6-81D4F5CC7C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51172" y="1495831"/>
            <a:ext cx="692782" cy="692782"/>
          </a:xfrm>
          <a:prstGeom prst="rect">
            <a:avLst/>
          </a:prstGeom>
        </p:spPr>
      </p:pic>
      <p:pic>
        <p:nvPicPr>
          <p:cNvPr id="52" name="Picture 51" descr="Copenhagen Metropolitan Area (in blue)">
            <a:extLst>
              <a:ext uri="{FF2B5EF4-FFF2-40B4-BE49-F238E27FC236}">
                <a16:creationId xmlns:a16="http://schemas.microsoft.com/office/drawing/2014/main" id="{87FFBBCA-73CE-836F-0698-A4C1C60C27AB}"/>
              </a:ext>
            </a:extLst>
          </p:cNvPr>
          <p:cNvPicPr>
            <a:picLocks noChangeAspect="1"/>
          </p:cNvPicPr>
          <p:nvPr/>
        </p:nvPicPr>
        <p:blipFill>
          <a:blip r:embed="rId5"/>
          <a:stretch>
            <a:fillRect/>
          </a:stretch>
        </p:blipFill>
        <p:spPr>
          <a:xfrm>
            <a:off x="9277001" y="4558757"/>
            <a:ext cx="1455456" cy="1606823"/>
          </a:xfrm>
          <a:prstGeom prst="rect">
            <a:avLst/>
          </a:prstGeom>
        </p:spPr>
      </p:pic>
      <p:pic>
        <p:nvPicPr>
          <p:cNvPr id="5" name="Graphic 4" descr="Power Plant outline">
            <a:extLst>
              <a:ext uri="{FF2B5EF4-FFF2-40B4-BE49-F238E27FC236}">
                <a16:creationId xmlns:a16="http://schemas.microsoft.com/office/drawing/2014/main" id="{F6BD255D-077D-E0C3-6A2B-DB529C47BB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87675" y="1530523"/>
            <a:ext cx="664360" cy="664360"/>
          </a:xfrm>
          <a:prstGeom prst="rect">
            <a:avLst/>
          </a:prstGeom>
        </p:spPr>
      </p:pic>
    </p:spTree>
    <p:extLst>
      <p:ext uri="{BB962C8B-B14F-4D97-AF65-F5344CB8AC3E}">
        <p14:creationId xmlns:p14="http://schemas.microsoft.com/office/powerpoint/2010/main" val="118355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99927-FE8B-BC4D-0679-D89E6B7F0835}"/>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6AB8D996-2224-C447-E313-B2EC7193463E}"/>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09D8804-3C2D-5742-6506-54C81D180C65}"/>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Electricity use</a:t>
            </a:r>
          </a:p>
        </p:txBody>
      </p:sp>
      <p:sp>
        <p:nvSpPr>
          <p:cNvPr id="2" name="TextBox 1">
            <a:extLst>
              <a:ext uri="{FF2B5EF4-FFF2-40B4-BE49-F238E27FC236}">
                <a16:creationId xmlns:a16="http://schemas.microsoft.com/office/drawing/2014/main" id="{AC0685C9-DC30-50B2-4C3E-A7E287468A39}"/>
              </a:ext>
            </a:extLst>
          </p:cNvPr>
          <p:cNvSpPr txBox="1"/>
          <p:nvPr/>
        </p:nvSpPr>
        <p:spPr>
          <a:xfrm>
            <a:off x="8730090" y="1902491"/>
            <a:ext cx="2968226" cy="2031325"/>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Electricity source; renewables vs fossil fuels</a:t>
            </a:r>
          </a:p>
          <a:p>
            <a:r>
              <a:rPr lang="en-GB" dirty="0">
                <a:ea typeface="Calibri" panose="020F0502020204030204" pitchFamily="34" charset="0"/>
                <a:cs typeface="Calibri" panose="020F0502020204030204" pitchFamily="34" charset="0"/>
              </a:rPr>
              <a:t>Data </a:t>
            </a:r>
            <a:r>
              <a:rPr lang="en-GB" dirty="0" err="1">
                <a:ea typeface="Calibri" panose="020F0502020204030204" pitchFamily="34" charset="0"/>
                <a:cs typeface="Calibri" panose="020F0502020204030204" pitchFamily="34" charset="0"/>
              </a:rPr>
              <a:t>centers</a:t>
            </a:r>
            <a:r>
              <a:rPr lang="en-GB" dirty="0">
                <a:ea typeface="Calibri" panose="020F0502020204030204" pitchFamily="34" charset="0"/>
                <a:cs typeface="Calibri" panose="020F0502020204030204" pitchFamily="34" charset="0"/>
              </a:rPr>
              <a:t> need to keep running so need to keep a base consistent electricity source which is harder with wind and solar</a:t>
            </a:r>
          </a:p>
        </p:txBody>
      </p:sp>
      <p:sp>
        <p:nvSpPr>
          <p:cNvPr id="36" name="Arrow: Right 35">
            <a:extLst>
              <a:ext uri="{FF2B5EF4-FFF2-40B4-BE49-F238E27FC236}">
                <a16:creationId xmlns:a16="http://schemas.microsoft.com/office/drawing/2014/main" id="{71C340D7-1961-E998-869A-98F309C6028E}"/>
              </a:ext>
            </a:extLst>
          </p:cNvPr>
          <p:cNvSpPr/>
          <p:nvPr/>
        </p:nvSpPr>
        <p:spPr>
          <a:xfrm>
            <a:off x="6669804" y="2806148"/>
            <a:ext cx="473456" cy="244754"/>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Isosceles Triangle 40">
            <a:extLst>
              <a:ext uri="{FF2B5EF4-FFF2-40B4-BE49-F238E27FC236}">
                <a16:creationId xmlns:a16="http://schemas.microsoft.com/office/drawing/2014/main" id="{B0ECCE6E-3FDA-3CB9-8C9B-E20A739022E5}"/>
              </a:ext>
            </a:extLst>
          </p:cNvPr>
          <p:cNvSpPr/>
          <p:nvPr/>
        </p:nvSpPr>
        <p:spPr>
          <a:xfrm rot="5400000">
            <a:off x="6712749" y="3330008"/>
            <a:ext cx="347688" cy="298704"/>
          </a:xfrm>
          <a:prstGeom prst="triangl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C16AE6A-7F6D-9B80-207F-AAA96CCFD25A}"/>
              </a:ext>
            </a:extLst>
          </p:cNvPr>
          <p:cNvSpPr txBox="1"/>
          <p:nvPr/>
        </p:nvSpPr>
        <p:spPr>
          <a:xfrm>
            <a:off x="6963707" y="253496"/>
            <a:ext cx="4035657" cy="646331"/>
          </a:xfrm>
          <a:prstGeom prst="rect">
            <a:avLst/>
          </a:prstGeom>
          <a:noFill/>
        </p:spPr>
        <p:txBody>
          <a:bodyPr wrap="none" rtlCol="0">
            <a:spAutoFit/>
          </a:bodyPr>
          <a:lstStyle/>
          <a:p>
            <a:r>
              <a:rPr lang="en-DK" dirty="0"/>
              <a:t>AI tasks and energy consumption chart</a:t>
            </a:r>
          </a:p>
          <a:p>
            <a:r>
              <a:rPr lang="en-GB" dirty="0"/>
              <a:t>P</a:t>
            </a:r>
            <a:r>
              <a:rPr lang="en-DK" dirty="0"/>
              <a:t>lus Google search vs AI question</a:t>
            </a:r>
          </a:p>
        </p:txBody>
      </p:sp>
      <p:pic>
        <p:nvPicPr>
          <p:cNvPr id="5" name="Picture 4">
            <a:extLst>
              <a:ext uri="{FF2B5EF4-FFF2-40B4-BE49-F238E27FC236}">
                <a16:creationId xmlns:a16="http://schemas.microsoft.com/office/drawing/2014/main" id="{3CFCF56C-D60E-B59A-BE12-BC20B5E89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3707" y="3907818"/>
            <a:ext cx="4675496" cy="2667908"/>
          </a:xfrm>
          <a:prstGeom prst="rect">
            <a:avLst/>
          </a:prstGeom>
        </p:spPr>
      </p:pic>
      <p:sp>
        <p:nvSpPr>
          <p:cNvPr id="6" name="TextBox 5">
            <a:extLst>
              <a:ext uri="{FF2B5EF4-FFF2-40B4-BE49-F238E27FC236}">
                <a16:creationId xmlns:a16="http://schemas.microsoft.com/office/drawing/2014/main" id="{B7B646A5-20F0-21F4-538A-ED128CD878EC}"/>
              </a:ext>
            </a:extLst>
          </p:cNvPr>
          <p:cNvSpPr txBox="1"/>
          <p:nvPr/>
        </p:nvSpPr>
        <p:spPr>
          <a:xfrm>
            <a:off x="810883" y="6090249"/>
            <a:ext cx="5588774" cy="646331"/>
          </a:xfrm>
          <a:prstGeom prst="rect">
            <a:avLst/>
          </a:prstGeom>
          <a:noFill/>
        </p:spPr>
        <p:txBody>
          <a:bodyPr wrap="none" rtlCol="0">
            <a:spAutoFit/>
          </a:bodyPr>
          <a:lstStyle/>
          <a:p>
            <a:r>
              <a:rPr lang="en-GB" dirty="0"/>
              <a:t>R</a:t>
            </a:r>
            <a:r>
              <a:rPr lang="en-DK" dirty="0"/>
              <a:t>efs: </a:t>
            </a:r>
            <a:r>
              <a:rPr lang="en-GB" dirty="0">
                <a:hlinkClick r:id="rId4"/>
              </a:rPr>
              <a:t>https://arxiv.org/pdf/2311.16863</a:t>
            </a:r>
            <a:endParaRPr lang="en-GB" dirty="0"/>
          </a:p>
          <a:p>
            <a:r>
              <a:rPr lang="en-GB" dirty="0">
                <a:hlinkClick r:id="rId5"/>
              </a:rPr>
              <a:t>https://www.nature.com/articles/d41586-024-02680-3</a:t>
            </a:r>
            <a:r>
              <a:rPr lang="en-GB" dirty="0"/>
              <a:t> </a:t>
            </a:r>
            <a:endParaRPr lang="en-DK" dirty="0"/>
          </a:p>
        </p:txBody>
      </p:sp>
      <p:sp>
        <p:nvSpPr>
          <p:cNvPr id="7" name="TextBox 6">
            <a:extLst>
              <a:ext uri="{FF2B5EF4-FFF2-40B4-BE49-F238E27FC236}">
                <a16:creationId xmlns:a16="http://schemas.microsoft.com/office/drawing/2014/main" id="{69DB0DA6-E84C-2524-1975-0CD9469CFB18}"/>
              </a:ext>
            </a:extLst>
          </p:cNvPr>
          <p:cNvSpPr txBox="1"/>
          <p:nvPr/>
        </p:nvSpPr>
        <p:spPr>
          <a:xfrm>
            <a:off x="4435777" y="1025902"/>
            <a:ext cx="4602927" cy="923330"/>
          </a:xfrm>
          <a:prstGeom prst="rect">
            <a:avLst/>
          </a:prstGeom>
          <a:noFill/>
        </p:spPr>
        <p:txBody>
          <a:bodyPr wrap="none" rtlCol="0">
            <a:spAutoFit/>
          </a:bodyPr>
          <a:lstStyle/>
          <a:p>
            <a:r>
              <a:rPr lang="en-DK" dirty="0"/>
              <a:t>Global vs local effects (increased </a:t>
            </a:r>
          </a:p>
          <a:p>
            <a:r>
              <a:rPr lang="en-DK" dirty="0"/>
              <a:t>greenhouse gas emissions vs overloaded </a:t>
            </a:r>
          </a:p>
          <a:p>
            <a:r>
              <a:rPr lang="en-DK" dirty="0"/>
              <a:t>power grid (households / new building strop)</a:t>
            </a:r>
          </a:p>
        </p:txBody>
      </p:sp>
      <p:sp>
        <p:nvSpPr>
          <p:cNvPr id="4" name="TextBox 3">
            <a:extLst>
              <a:ext uri="{FF2B5EF4-FFF2-40B4-BE49-F238E27FC236}">
                <a16:creationId xmlns:a16="http://schemas.microsoft.com/office/drawing/2014/main" id="{8C9233C3-11C0-1AA1-8EA3-50ACEC3625E1}"/>
              </a:ext>
            </a:extLst>
          </p:cNvPr>
          <p:cNvSpPr txBox="1"/>
          <p:nvPr/>
        </p:nvSpPr>
        <p:spPr>
          <a:xfrm>
            <a:off x="552797" y="3498707"/>
            <a:ext cx="1091581" cy="923330"/>
          </a:xfrm>
          <a:prstGeom prst="rect">
            <a:avLst/>
          </a:prstGeom>
          <a:noFill/>
        </p:spPr>
        <p:txBody>
          <a:bodyPr wrap="none" rtlCol="0">
            <a:spAutoFit/>
          </a:bodyPr>
          <a:lstStyle/>
          <a:p>
            <a:r>
              <a:rPr lang="en-DK" b="1" dirty="0"/>
              <a:t>Carbon</a:t>
            </a:r>
          </a:p>
          <a:p>
            <a:r>
              <a:rPr lang="en-DK" dirty="0"/>
              <a:t>Water</a:t>
            </a:r>
          </a:p>
          <a:p>
            <a:r>
              <a:rPr lang="en-DK" dirty="0"/>
              <a:t>Land use</a:t>
            </a:r>
          </a:p>
        </p:txBody>
      </p:sp>
      <p:sp>
        <p:nvSpPr>
          <p:cNvPr id="8" name="TextBox 7">
            <a:extLst>
              <a:ext uri="{FF2B5EF4-FFF2-40B4-BE49-F238E27FC236}">
                <a16:creationId xmlns:a16="http://schemas.microsoft.com/office/drawing/2014/main" id="{7A4D090B-B990-BA3C-B5D8-D805EC80D4D3}"/>
              </a:ext>
            </a:extLst>
          </p:cNvPr>
          <p:cNvSpPr txBox="1"/>
          <p:nvPr/>
        </p:nvSpPr>
        <p:spPr>
          <a:xfrm>
            <a:off x="838265" y="2479935"/>
            <a:ext cx="4038157" cy="369332"/>
          </a:xfrm>
          <a:prstGeom prst="rect">
            <a:avLst/>
          </a:prstGeom>
          <a:noFill/>
        </p:spPr>
        <p:txBody>
          <a:bodyPr wrap="none" rtlCol="0">
            <a:spAutoFit/>
          </a:bodyPr>
          <a:lstStyle/>
          <a:p>
            <a:r>
              <a:rPr lang="en-DK" dirty="0"/>
              <a:t>Water use in already dry areas. Texas??</a:t>
            </a:r>
          </a:p>
        </p:txBody>
      </p:sp>
    </p:spTree>
    <p:extLst>
      <p:ext uri="{BB962C8B-B14F-4D97-AF65-F5344CB8AC3E}">
        <p14:creationId xmlns:p14="http://schemas.microsoft.com/office/powerpoint/2010/main" val="1718691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1B32E-EEDB-A8E1-CDD4-A5FD7BE786B9}"/>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6520FE3-4412-A75A-DCA4-9C0746A21131}"/>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A805D91-FF57-911C-8131-2EE339C765AE}"/>
              </a:ext>
            </a:extLst>
          </p:cNvPr>
          <p:cNvSpPr txBox="1"/>
          <p:nvPr/>
        </p:nvSpPr>
        <p:spPr>
          <a:xfrm>
            <a:off x="223365" y="36291"/>
            <a:ext cx="478858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Water consumption</a:t>
            </a:r>
          </a:p>
        </p:txBody>
      </p:sp>
      <p:sp>
        <p:nvSpPr>
          <p:cNvPr id="4" name="TextBox 3">
            <a:extLst>
              <a:ext uri="{FF2B5EF4-FFF2-40B4-BE49-F238E27FC236}">
                <a16:creationId xmlns:a16="http://schemas.microsoft.com/office/drawing/2014/main" id="{6DFE0AB2-BCEC-6978-A407-0DDD728E2C8F}"/>
              </a:ext>
            </a:extLst>
          </p:cNvPr>
          <p:cNvSpPr txBox="1"/>
          <p:nvPr/>
        </p:nvSpPr>
        <p:spPr>
          <a:xfrm>
            <a:off x="6906532" y="1135626"/>
            <a:ext cx="3738716" cy="369332"/>
          </a:xfrm>
          <a:prstGeom prst="rect">
            <a:avLst/>
          </a:prstGeom>
          <a:noFill/>
        </p:spPr>
        <p:txBody>
          <a:bodyPr wrap="none" rtlCol="0">
            <a:spAutoFit/>
          </a:bodyPr>
          <a:lstStyle/>
          <a:p>
            <a:r>
              <a:rPr lang="en-DK" dirty="0"/>
              <a:t>Add numbers of water consumption</a:t>
            </a:r>
          </a:p>
        </p:txBody>
      </p:sp>
      <p:sp>
        <p:nvSpPr>
          <p:cNvPr id="5" name="TextBox 4">
            <a:extLst>
              <a:ext uri="{FF2B5EF4-FFF2-40B4-BE49-F238E27FC236}">
                <a16:creationId xmlns:a16="http://schemas.microsoft.com/office/drawing/2014/main" id="{3087FDEB-5FC0-F113-9EB1-E0DE880901A2}"/>
              </a:ext>
            </a:extLst>
          </p:cNvPr>
          <p:cNvSpPr txBox="1"/>
          <p:nvPr/>
        </p:nvSpPr>
        <p:spPr>
          <a:xfrm>
            <a:off x="6906532" y="1759572"/>
            <a:ext cx="3938322" cy="369332"/>
          </a:xfrm>
          <a:prstGeom prst="rect">
            <a:avLst/>
          </a:prstGeom>
          <a:noFill/>
        </p:spPr>
        <p:txBody>
          <a:bodyPr wrap="none" rtlCol="0">
            <a:spAutoFit/>
          </a:bodyPr>
          <a:lstStyle/>
          <a:p>
            <a:r>
              <a:rPr lang="en-DK" dirty="0"/>
              <a:t>Global vs local effects, </a:t>
            </a:r>
            <a:r>
              <a:rPr lang="en-DK" dirty="0">
                <a:highlight>
                  <a:srgbClr val="FFFF00"/>
                </a:highlight>
              </a:rPr>
              <a:t>vis. two blocks</a:t>
            </a:r>
          </a:p>
        </p:txBody>
      </p:sp>
      <p:sp>
        <p:nvSpPr>
          <p:cNvPr id="3" name="TextBox 2">
            <a:extLst>
              <a:ext uri="{FF2B5EF4-FFF2-40B4-BE49-F238E27FC236}">
                <a16:creationId xmlns:a16="http://schemas.microsoft.com/office/drawing/2014/main" id="{5B738A8E-3F0D-989D-9651-B64EC2C0180D}"/>
              </a:ext>
            </a:extLst>
          </p:cNvPr>
          <p:cNvSpPr txBox="1"/>
          <p:nvPr/>
        </p:nvSpPr>
        <p:spPr>
          <a:xfrm>
            <a:off x="8249720" y="2334385"/>
            <a:ext cx="2595134" cy="369332"/>
          </a:xfrm>
          <a:prstGeom prst="rect">
            <a:avLst/>
          </a:prstGeom>
          <a:noFill/>
        </p:spPr>
        <p:txBody>
          <a:bodyPr wrap="none" rtlCol="0">
            <a:spAutoFit/>
          </a:bodyPr>
          <a:lstStyle/>
          <a:p>
            <a:r>
              <a:rPr lang="en-GB" dirty="0"/>
              <a:t>S</a:t>
            </a:r>
            <a:r>
              <a:rPr lang="en-DK" dirty="0"/>
              <a:t>ome water background</a:t>
            </a:r>
          </a:p>
        </p:txBody>
      </p:sp>
      <p:sp>
        <p:nvSpPr>
          <p:cNvPr id="6" name="TextBox 5">
            <a:extLst>
              <a:ext uri="{FF2B5EF4-FFF2-40B4-BE49-F238E27FC236}">
                <a16:creationId xmlns:a16="http://schemas.microsoft.com/office/drawing/2014/main" id="{6BA4FE1A-362B-E641-02C2-84B4D0E2CE0A}"/>
              </a:ext>
            </a:extLst>
          </p:cNvPr>
          <p:cNvSpPr txBox="1"/>
          <p:nvPr/>
        </p:nvSpPr>
        <p:spPr>
          <a:xfrm>
            <a:off x="6814478" y="4244725"/>
            <a:ext cx="4835939" cy="369332"/>
          </a:xfrm>
          <a:prstGeom prst="rect">
            <a:avLst/>
          </a:prstGeom>
          <a:noFill/>
        </p:spPr>
        <p:txBody>
          <a:bodyPr wrap="none" rtlCol="0">
            <a:spAutoFit/>
          </a:bodyPr>
          <a:lstStyle/>
          <a:p>
            <a:r>
              <a:rPr lang="en-DK" dirty="0">
                <a:highlight>
                  <a:srgbClr val="00FFFF"/>
                </a:highlight>
              </a:rPr>
              <a:t>Water use for cooling and electricity generation</a:t>
            </a:r>
          </a:p>
        </p:txBody>
      </p:sp>
      <p:sp>
        <p:nvSpPr>
          <p:cNvPr id="8" name="TextBox 7">
            <a:extLst>
              <a:ext uri="{FF2B5EF4-FFF2-40B4-BE49-F238E27FC236}">
                <a16:creationId xmlns:a16="http://schemas.microsoft.com/office/drawing/2014/main" id="{B6273AA6-2498-6A9A-BBEF-5B7CC8363A61}"/>
              </a:ext>
            </a:extLst>
          </p:cNvPr>
          <p:cNvSpPr txBox="1"/>
          <p:nvPr/>
        </p:nvSpPr>
        <p:spPr>
          <a:xfrm>
            <a:off x="558459" y="1457222"/>
            <a:ext cx="6256019" cy="1754326"/>
          </a:xfrm>
          <a:prstGeom prst="rect">
            <a:avLst/>
          </a:prstGeom>
          <a:noFill/>
        </p:spPr>
        <p:txBody>
          <a:bodyPr wrap="square" rtlCol="0">
            <a:spAutoFit/>
          </a:bodyPr>
          <a:lstStyle/>
          <a:p>
            <a:r>
              <a:rPr lang="en-DK" dirty="0"/>
              <a:t>“The water footprint associated with training GPT-4 was about 600 million liters,</a:t>
            </a:r>
          </a:p>
          <a:p>
            <a:r>
              <a:rPr lang="en-DK" dirty="0"/>
              <a:t>enough to meet the minimum annual domestic water needs of 81,000 people in</a:t>
            </a:r>
          </a:p>
          <a:p>
            <a:r>
              <a:rPr lang="en-DK" dirty="0"/>
              <a:t>Sub-Saharan Africa, or to fill 237 Olympic-sized pools.” (UN report)</a:t>
            </a:r>
          </a:p>
        </p:txBody>
      </p:sp>
      <p:sp>
        <p:nvSpPr>
          <p:cNvPr id="10" name="TextBox 9">
            <a:extLst>
              <a:ext uri="{FF2B5EF4-FFF2-40B4-BE49-F238E27FC236}">
                <a16:creationId xmlns:a16="http://schemas.microsoft.com/office/drawing/2014/main" id="{51D2CBFB-E859-9495-CC00-2023A6E424DF}"/>
              </a:ext>
            </a:extLst>
          </p:cNvPr>
          <p:cNvSpPr txBox="1"/>
          <p:nvPr/>
        </p:nvSpPr>
        <p:spPr>
          <a:xfrm>
            <a:off x="583007" y="3620779"/>
            <a:ext cx="7809895" cy="923330"/>
          </a:xfrm>
          <a:prstGeom prst="rect">
            <a:avLst/>
          </a:prstGeom>
          <a:noFill/>
        </p:spPr>
        <p:txBody>
          <a:bodyPr wrap="none" rtlCol="0">
            <a:spAutoFit/>
          </a:bodyPr>
          <a:lstStyle/>
          <a:p>
            <a:r>
              <a:rPr lang="en-DK" dirty="0"/>
              <a:t>“The water footprint of GPT-5 training is estimated at 1 billion liters, enough to</a:t>
            </a:r>
          </a:p>
          <a:p>
            <a:r>
              <a:rPr lang="en-DK" dirty="0"/>
              <a:t>meet the annual domestic water needs of more than 135,000 people in Sub-</a:t>
            </a:r>
          </a:p>
          <a:p>
            <a:r>
              <a:rPr lang="en-DK" dirty="0"/>
              <a:t>Saharan Africa.”</a:t>
            </a:r>
          </a:p>
        </p:txBody>
      </p:sp>
      <p:sp>
        <p:nvSpPr>
          <p:cNvPr id="11" name="TextBox 10">
            <a:extLst>
              <a:ext uri="{FF2B5EF4-FFF2-40B4-BE49-F238E27FC236}">
                <a16:creationId xmlns:a16="http://schemas.microsoft.com/office/drawing/2014/main" id="{86166D61-DEA8-D3BC-B059-FCB06737704E}"/>
              </a:ext>
            </a:extLst>
          </p:cNvPr>
          <p:cNvSpPr txBox="1"/>
          <p:nvPr/>
        </p:nvSpPr>
        <p:spPr>
          <a:xfrm>
            <a:off x="223365" y="4826675"/>
            <a:ext cx="7958397" cy="2031325"/>
          </a:xfrm>
          <a:prstGeom prst="rect">
            <a:avLst/>
          </a:prstGeom>
          <a:noFill/>
        </p:spPr>
        <p:txBody>
          <a:bodyPr wrap="none" rtlCol="0">
            <a:spAutoFit/>
          </a:bodyPr>
          <a:lstStyle/>
          <a:p>
            <a:r>
              <a:rPr lang="en-DK" dirty="0"/>
              <a:t>“The energy required to generate a typical AI image is enough to power a 10-</a:t>
            </a:r>
          </a:p>
          <a:p>
            <a:r>
              <a:rPr lang="en-DK" dirty="0"/>
              <a:t>watt LED bulb for 17 minutes, and the energy required for a high-complexity AI</a:t>
            </a:r>
          </a:p>
          <a:p>
            <a:r>
              <a:rPr lang="en-DK" dirty="0"/>
              <a:t>video is sufficient to run that same bulb for 42 hours. Similarly, the electricity-</a:t>
            </a:r>
          </a:p>
          <a:p>
            <a:r>
              <a:rPr lang="en-DK" dirty="0"/>
              <a:t>associated water footprint is about two tablespoons (29 mL) for a single image,</a:t>
            </a:r>
          </a:p>
          <a:p>
            <a:r>
              <a:rPr lang="en-DK" dirty="0"/>
              <a:t>but jumps to 4.1 liters for a complex video—almost equivalent to a two-day</a:t>
            </a:r>
          </a:p>
          <a:p>
            <a:r>
              <a:rPr lang="en-DK" dirty="0"/>
              <a:t>drinking water need for one person.</a:t>
            </a:r>
          </a:p>
          <a:p>
            <a:r>
              <a:rPr lang="en-DK" dirty="0"/>
              <a:t>“</a:t>
            </a:r>
          </a:p>
        </p:txBody>
      </p:sp>
    </p:spTree>
    <p:extLst>
      <p:ext uri="{BB962C8B-B14F-4D97-AF65-F5344CB8AC3E}">
        <p14:creationId xmlns:p14="http://schemas.microsoft.com/office/powerpoint/2010/main" val="3400407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8B44-CC9B-69D7-E513-AC850CECC1F4}"/>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0B5FF6E-458C-DE1E-5F5C-A7AECB3CA453}"/>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DC9A83D-71AD-6C74-05FB-64B908C8FB9A}"/>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In perspective</a:t>
            </a:r>
          </a:p>
        </p:txBody>
      </p:sp>
      <p:sp>
        <p:nvSpPr>
          <p:cNvPr id="2" name="TextBox 1">
            <a:extLst>
              <a:ext uri="{FF2B5EF4-FFF2-40B4-BE49-F238E27FC236}">
                <a16:creationId xmlns:a16="http://schemas.microsoft.com/office/drawing/2014/main" id="{5E3EA3C3-BFE8-5A6A-0683-62B10ED37A3F}"/>
              </a:ext>
            </a:extLst>
          </p:cNvPr>
          <p:cNvSpPr txBox="1"/>
          <p:nvPr/>
        </p:nvSpPr>
        <p:spPr>
          <a:xfrm>
            <a:off x="7587379" y="2909198"/>
            <a:ext cx="2968226" cy="646331"/>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Is AI use ‘the’ problem here or part of a bigger trend?</a:t>
            </a:r>
          </a:p>
        </p:txBody>
      </p:sp>
      <p:grpSp>
        <p:nvGrpSpPr>
          <p:cNvPr id="15" name="Group 14">
            <a:extLst>
              <a:ext uri="{FF2B5EF4-FFF2-40B4-BE49-F238E27FC236}">
                <a16:creationId xmlns:a16="http://schemas.microsoft.com/office/drawing/2014/main" id="{C1FF2411-9021-2907-EA45-8F47CA220629}"/>
              </a:ext>
            </a:extLst>
          </p:cNvPr>
          <p:cNvGrpSpPr/>
          <p:nvPr/>
        </p:nvGrpSpPr>
        <p:grpSpPr>
          <a:xfrm>
            <a:off x="1823103" y="1954278"/>
            <a:ext cx="4362704" cy="369332"/>
            <a:chOff x="1151931" y="1863697"/>
            <a:chExt cx="4362704" cy="369332"/>
          </a:xfrm>
        </p:grpSpPr>
        <p:sp>
          <p:nvSpPr>
            <p:cNvPr id="9" name="TextBox 8">
              <a:extLst>
                <a:ext uri="{FF2B5EF4-FFF2-40B4-BE49-F238E27FC236}">
                  <a16:creationId xmlns:a16="http://schemas.microsoft.com/office/drawing/2014/main" id="{9ECBC9FC-646F-FB29-0EB6-D4AB97DBC615}"/>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You can use those dots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ADF519EF-7736-5E17-9031-4922D15BBB81}"/>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B1475F52-933F-758C-F521-A899CF03C7B9}"/>
              </a:ext>
            </a:extLst>
          </p:cNvPr>
          <p:cNvGrpSpPr/>
          <p:nvPr/>
        </p:nvGrpSpPr>
        <p:grpSpPr>
          <a:xfrm>
            <a:off x="1823103" y="2591894"/>
            <a:ext cx="4362704" cy="369332"/>
            <a:chOff x="1151931" y="1863697"/>
            <a:chExt cx="4362704" cy="369332"/>
          </a:xfrm>
        </p:grpSpPr>
        <p:sp>
          <p:nvSpPr>
            <p:cNvPr id="17" name="TextBox 16">
              <a:extLst>
                <a:ext uri="{FF2B5EF4-FFF2-40B4-BE49-F238E27FC236}">
                  <a16:creationId xmlns:a16="http://schemas.microsoft.com/office/drawing/2014/main" id="{25FEE06F-ED3C-7EDB-D98C-A5F3B301DB55}"/>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are nice to organize stuff</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01CF7EA7-670A-EE89-0268-73E09259ABEF}"/>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E8F5C1EC-FCA1-F057-9E9D-20BCF7E52AEA}"/>
              </a:ext>
            </a:extLst>
          </p:cNvPr>
          <p:cNvGrpSpPr/>
          <p:nvPr/>
        </p:nvGrpSpPr>
        <p:grpSpPr>
          <a:xfrm>
            <a:off x="1823103" y="3197050"/>
            <a:ext cx="4362704" cy="369332"/>
            <a:chOff x="1151931" y="1863697"/>
            <a:chExt cx="4362704" cy="369332"/>
          </a:xfrm>
        </p:grpSpPr>
        <p:sp>
          <p:nvSpPr>
            <p:cNvPr id="20" name="TextBox 19">
              <a:extLst>
                <a:ext uri="{FF2B5EF4-FFF2-40B4-BE49-F238E27FC236}">
                  <a16:creationId xmlns:a16="http://schemas.microsoft.com/office/drawing/2014/main" id="{5689AE83-0AAE-AA0D-EA44-6000F5384C76}"/>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Probably 1-5 per slide is optimal</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091F0FF2-1EA8-22EE-6F1C-C0184B91B95A}"/>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E7754742-FAC4-089A-8FCC-10258D77A48E}"/>
              </a:ext>
            </a:extLst>
          </p:cNvPr>
          <p:cNvGrpSpPr/>
          <p:nvPr/>
        </p:nvGrpSpPr>
        <p:grpSpPr>
          <a:xfrm>
            <a:off x="1823103" y="3833695"/>
            <a:ext cx="4362704" cy="369332"/>
            <a:chOff x="1151931" y="1863697"/>
            <a:chExt cx="4362704" cy="369332"/>
          </a:xfrm>
        </p:grpSpPr>
        <p:sp>
          <p:nvSpPr>
            <p:cNvPr id="23" name="TextBox 22">
              <a:extLst>
                <a:ext uri="{FF2B5EF4-FFF2-40B4-BE49-F238E27FC236}">
                  <a16:creationId xmlns:a16="http://schemas.microsoft.com/office/drawing/2014/main" id="{3973539E-A470-9E73-97A6-F86AE1682797}"/>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can also have numbers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38C6A1D0-52E4-737D-D612-ABC8BE043E45}"/>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a:t>
              </a:r>
            </a:p>
          </p:txBody>
        </p:sp>
      </p:grpSp>
      <p:grpSp>
        <p:nvGrpSpPr>
          <p:cNvPr id="26" name="Group 25">
            <a:extLst>
              <a:ext uri="{FF2B5EF4-FFF2-40B4-BE49-F238E27FC236}">
                <a16:creationId xmlns:a16="http://schemas.microsoft.com/office/drawing/2014/main" id="{3BBE1231-1C62-F2DC-250C-BDD17BB6986F}"/>
              </a:ext>
            </a:extLst>
          </p:cNvPr>
          <p:cNvGrpSpPr/>
          <p:nvPr/>
        </p:nvGrpSpPr>
        <p:grpSpPr>
          <a:xfrm>
            <a:off x="1823103" y="4470340"/>
            <a:ext cx="4362704" cy="369332"/>
            <a:chOff x="1151931" y="1863697"/>
            <a:chExt cx="4362704" cy="369332"/>
          </a:xfrm>
        </p:grpSpPr>
        <p:sp>
          <p:nvSpPr>
            <p:cNvPr id="30" name="TextBox 29">
              <a:extLst>
                <a:ext uri="{FF2B5EF4-FFF2-40B4-BE49-F238E27FC236}">
                  <a16:creationId xmlns:a16="http://schemas.microsoft.com/office/drawing/2014/main" id="{ADB0BA88-318E-EC92-72C1-8F8649180989}"/>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If that’s your thing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A3170D24-8F08-7A47-A740-DCD888D75911}"/>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a:t>
              </a:r>
            </a:p>
          </p:txBody>
        </p:sp>
      </p:grpSp>
      <p:sp>
        <p:nvSpPr>
          <p:cNvPr id="36" name="Arrow: Right 35">
            <a:extLst>
              <a:ext uri="{FF2B5EF4-FFF2-40B4-BE49-F238E27FC236}">
                <a16:creationId xmlns:a16="http://schemas.microsoft.com/office/drawing/2014/main" id="{AE5B3C24-7A9B-1649-7E08-9F5782194EE2}"/>
              </a:ext>
            </a:extLst>
          </p:cNvPr>
          <p:cNvSpPr/>
          <p:nvPr/>
        </p:nvSpPr>
        <p:spPr>
          <a:xfrm>
            <a:off x="6669804" y="2806148"/>
            <a:ext cx="473456" cy="244754"/>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Isosceles Triangle 40">
            <a:extLst>
              <a:ext uri="{FF2B5EF4-FFF2-40B4-BE49-F238E27FC236}">
                <a16:creationId xmlns:a16="http://schemas.microsoft.com/office/drawing/2014/main" id="{17A063B9-7C15-C3B5-5FAB-4450F621BD63}"/>
              </a:ext>
            </a:extLst>
          </p:cNvPr>
          <p:cNvSpPr/>
          <p:nvPr/>
        </p:nvSpPr>
        <p:spPr>
          <a:xfrm rot="5400000">
            <a:off x="6712749" y="3330008"/>
            <a:ext cx="347688" cy="298704"/>
          </a:xfrm>
          <a:prstGeom prst="triangl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B1BDF4BA-4B22-3048-D109-E78F6E6CDBAB}"/>
              </a:ext>
            </a:extLst>
          </p:cNvPr>
          <p:cNvSpPr txBox="1"/>
          <p:nvPr/>
        </p:nvSpPr>
        <p:spPr>
          <a:xfrm>
            <a:off x="4443299" y="245562"/>
            <a:ext cx="4019627" cy="646331"/>
          </a:xfrm>
          <a:prstGeom prst="rect">
            <a:avLst/>
          </a:prstGeom>
          <a:noFill/>
        </p:spPr>
        <p:txBody>
          <a:bodyPr wrap="none" rtlCol="0">
            <a:spAutoFit/>
          </a:bodyPr>
          <a:lstStyle/>
          <a:p>
            <a:r>
              <a:rPr lang="en-DK" dirty="0"/>
              <a:t>Electricty use vs other industries</a:t>
            </a:r>
          </a:p>
          <a:p>
            <a:r>
              <a:rPr lang="en-DK" dirty="0"/>
              <a:t>Water consumption vs other industries</a:t>
            </a:r>
          </a:p>
        </p:txBody>
      </p:sp>
      <p:sp>
        <p:nvSpPr>
          <p:cNvPr id="6" name="TextBox 5">
            <a:extLst>
              <a:ext uri="{FF2B5EF4-FFF2-40B4-BE49-F238E27FC236}">
                <a16:creationId xmlns:a16="http://schemas.microsoft.com/office/drawing/2014/main" id="{FD7B28AB-1A20-769C-C207-22035FB7D83E}"/>
              </a:ext>
            </a:extLst>
          </p:cNvPr>
          <p:cNvSpPr txBox="1"/>
          <p:nvPr/>
        </p:nvSpPr>
        <p:spPr>
          <a:xfrm>
            <a:off x="7211961" y="5147187"/>
            <a:ext cx="4107535" cy="646331"/>
          </a:xfrm>
          <a:prstGeom prst="rect">
            <a:avLst/>
          </a:prstGeom>
          <a:noFill/>
        </p:spPr>
        <p:txBody>
          <a:bodyPr wrap="none" rtlCol="0">
            <a:spAutoFit/>
          </a:bodyPr>
          <a:lstStyle/>
          <a:p>
            <a:r>
              <a:rPr lang="en-GB" dirty="0"/>
              <a:t>T</a:t>
            </a:r>
            <a:r>
              <a:rPr lang="en-DK" dirty="0"/>
              <a:t>hrow in article about AI ‘more efficient’</a:t>
            </a:r>
          </a:p>
          <a:p>
            <a:r>
              <a:rPr lang="en-GB" dirty="0"/>
              <a:t>t</a:t>
            </a:r>
            <a:r>
              <a:rPr lang="en-DK" dirty="0"/>
              <a:t>han a human?</a:t>
            </a:r>
          </a:p>
        </p:txBody>
      </p:sp>
      <p:sp>
        <p:nvSpPr>
          <p:cNvPr id="4" name="TextBox 3">
            <a:extLst>
              <a:ext uri="{FF2B5EF4-FFF2-40B4-BE49-F238E27FC236}">
                <a16:creationId xmlns:a16="http://schemas.microsoft.com/office/drawing/2014/main" id="{D79B7B47-2025-A6A7-4910-65E31AF69B08}"/>
              </a:ext>
            </a:extLst>
          </p:cNvPr>
          <p:cNvSpPr txBox="1"/>
          <p:nvPr/>
        </p:nvSpPr>
        <p:spPr>
          <a:xfrm>
            <a:off x="374352" y="6339431"/>
            <a:ext cx="5457328" cy="369332"/>
          </a:xfrm>
          <a:prstGeom prst="rect">
            <a:avLst/>
          </a:prstGeom>
          <a:noFill/>
        </p:spPr>
        <p:txBody>
          <a:bodyPr wrap="none" rtlCol="0">
            <a:spAutoFit/>
          </a:bodyPr>
          <a:lstStyle/>
          <a:p>
            <a:r>
              <a:rPr lang="en-GB" dirty="0"/>
              <a:t>https://</a:t>
            </a:r>
            <a:r>
              <a:rPr lang="en-GB" dirty="0" err="1"/>
              <a:t>www.iea.org</a:t>
            </a:r>
            <a:r>
              <a:rPr lang="en-GB" dirty="0"/>
              <a:t>/reports/electricity-2026/demand</a:t>
            </a:r>
            <a:endParaRPr lang="en-DK" dirty="0"/>
          </a:p>
        </p:txBody>
      </p:sp>
      <p:pic>
        <p:nvPicPr>
          <p:cNvPr id="7" name="Picture 6">
            <a:extLst>
              <a:ext uri="{FF2B5EF4-FFF2-40B4-BE49-F238E27FC236}">
                <a16:creationId xmlns:a16="http://schemas.microsoft.com/office/drawing/2014/main" id="{B4F45864-561B-8AAC-32B8-61BB0C808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4506" y="2124966"/>
            <a:ext cx="4665262" cy="3887718"/>
          </a:xfrm>
          <a:prstGeom prst="rect">
            <a:avLst/>
          </a:prstGeom>
        </p:spPr>
      </p:pic>
      <p:pic>
        <p:nvPicPr>
          <p:cNvPr id="10" name="Picture 9">
            <a:extLst>
              <a:ext uri="{FF2B5EF4-FFF2-40B4-BE49-F238E27FC236}">
                <a16:creationId xmlns:a16="http://schemas.microsoft.com/office/drawing/2014/main" id="{88B2980D-ED6C-1CA0-6F4C-AC9B3054CA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192" y="1672799"/>
            <a:ext cx="4089534" cy="3407946"/>
          </a:xfrm>
          <a:prstGeom prst="rect">
            <a:avLst/>
          </a:prstGeom>
        </p:spPr>
      </p:pic>
      <p:sp>
        <p:nvSpPr>
          <p:cNvPr id="11" name="TextBox 10">
            <a:extLst>
              <a:ext uri="{FF2B5EF4-FFF2-40B4-BE49-F238E27FC236}">
                <a16:creationId xmlns:a16="http://schemas.microsoft.com/office/drawing/2014/main" id="{77014013-9C77-2E8E-4E09-F71826D87AF6}"/>
              </a:ext>
            </a:extLst>
          </p:cNvPr>
          <p:cNvSpPr txBox="1"/>
          <p:nvPr/>
        </p:nvSpPr>
        <p:spPr>
          <a:xfrm>
            <a:off x="1798115" y="1110781"/>
            <a:ext cx="471604" cy="369332"/>
          </a:xfrm>
          <a:prstGeom prst="rect">
            <a:avLst/>
          </a:prstGeom>
          <a:noFill/>
        </p:spPr>
        <p:txBody>
          <a:bodyPr wrap="none" rtlCol="0">
            <a:spAutoFit/>
          </a:bodyPr>
          <a:lstStyle/>
          <a:p>
            <a:r>
              <a:rPr lang="en-DK" dirty="0"/>
              <a:t>US</a:t>
            </a:r>
          </a:p>
        </p:txBody>
      </p:sp>
      <p:sp>
        <p:nvSpPr>
          <p:cNvPr id="12" name="TextBox 11">
            <a:extLst>
              <a:ext uri="{FF2B5EF4-FFF2-40B4-BE49-F238E27FC236}">
                <a16:creationId xmlns:a16="http://schemas.microsoft.com/office/drawing/2014/main" id="{C2B7466B-5C7E-A0C0-7943-B219BEACFB22}"/>
              </a:ext>
            </a:extLst>
          </p:cNvPr>
          <p:cNvSpPr txBox="1"/>
          <p:nvPr/>
        </p:nvSpPr>
        <p:spPr>
          <a:xfrm>
            <a:off x="8223463" y="1540365"/>
            <a:ext cx="470000" cy="369332"/>
          </a:xfrm>
          <a:prstGeom prst="rect">
            <a:avLst/>
          </a:prstGeom>
          <a:noFill/>
        </p:spPr>
        <p:txBody>
          <a:bodyPr wrap="none" rtlCol="0">
            <a:spAutoFit/>
          </a:bodyPr>
          <a:lstStyle/>
          <a:p>
            <a:r>
              <a:rPr lang="en-DK" dirty="0"/>
              <a:t>EU</a:t>
            </a:r>
          </a:p>
        </p:txBody>
      </p:sp>
      <p:pic>
        <p:nvPicPr>
          <p:cNvPr id="28" name="Picture 27">
            <a:extLst>
              <a:ext uri="{FF2B5EF4-FFF2-40B4-BE49-F238E27FC236}">
                <a16:creationId xmlns:a16="http://schemas.microsoft.com/office/drawing/2014/main" id="{037060A5-54EE-7CBC-1767-7B72DB0A41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0457" y="2533393"/>
            <a:ext cx="4254926" cy="3545772"/>
          </a:xfrm>
          <a:prstGeom prst="rect">
            <a:avLst/>
          </a:prstGeom>
        </p:spPr>
      </p:pic>
      <p:sp>
        <p:nvSpPr>
          <p:cNvPr id="29" name="TextBox 28">
            <a:extLst>
              <a:ext uri="{FF2B5EF4-FFF2-40B4-BE49-F238E27FC236}">
                <a16:creationId xmlns:a16="http://schemas.microsoft.com/office/drawing/2014/main" id="{9959E9DC-5FD2-A775-A1F2-FF30CF5142DE}"/>
              </a:ext>
            </a:extLst>
          </p:cNvPr>
          <p:cNvSpPr txBox="1"/>
          <p:nvPr/>
        </p:nvSpPr>
        <p:spPr>
          <a:xfrm>
            <a:off x="4633370" y="5873041"/>
            <a:ext cx="776175" cy="369332"/>
          </a:xfrm>
          <a:prstGeom prst="rect">
            <a:avLst/>
          </a:prstGeom>
          <a:noFill/>
        </p:spPr>
        <p:txBody>
          <a:bodyPr wrap="none" rtlCol="0">
            <a:spAutoFit/>
          </a:bodyPr>
          <a:lstStyle/>
          <a:p>
            <a:r>
              <a:rPr lang="en-DK" dirty="0"/>
              <a:t>China</a:t>
            </a:r>
          </a:p>
        </p:txBody>
      </p:sp>
      <p:pic>
        <p:nvPicPr>
          <p:cNvPr id="33" name="Picture 32">
            <a:extLst>
              <a:ext uri="{FF2B5EF4-FFF2-40B4-BE49-F238E27FC236}">
                <a16:creationId xmlns:a16="http://schemas.microsoft.com/office/drawing/2014/main" id="{DFC5800D-C7DE-6E4C-00C4-8A9878A19A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59526" y="-98870"/>
            <a:ext cx="4831796" cy="4026496"/>
          </a:xfrm>
          <a:prstGeom prst="rect">
            <a:avLst/>
          </a:prstGeom>
        </p:spPr>
      </p:pic>
      <p:sp>
        <p:nvSpPr>
          <p:cNvPr id="34" name="TextBox 33">
            <a:extLst>
              <a:ext uri="{FF2B5EF4-FFF2-40B4-BE49-F238E27FC236}">
                <a16:creationId xmlns:a16="http://schemas.microsoft.com/office/drawing/2014/main" id="{B4DE44BE-5385-874A-C62E-0E6880B86D26}"/>
              </a:ext>
            </a:extLst>
          </p:cNvPr>
          <p:cNvSpPr txBox="1"/>
          <p:nvPr/>
        </p:nvSpPr>
        <p:spPr>
          <a:xfrm>
            <a:off x="399426" y="1559895"/>
            <a:ext cx="6743834" cy="646331"/>
          </a:xfrm>
          <a:prstGeom prst="rect">
            <a:avLst/>
          </a:prstGeom>
          <a:noFill/>
        </p:spPr>
        <p:txBody>
          <a:bodyPr wrap="none" rtlCol="0">
            <a:spAutoFit/>
          </a:bodyPr>
          <a:lstStyle/>
          <a:p>
            <a:r>
              <a:rPr lang="en-DK" b="1" dirty="0"/>
              <a:t>Increase in electricity demand by sector, Base Case, 2024-2030</a:t>
            </a:r>
          </a:p>
          <a:p>
            <a:endParaRPr lang="en-DK" dirty="0"/>
          </a:p>
        </p:txBody>
      </p:sp>
      <p:sp>
        <p:nvSpPr>
          <p:cNvPr id="35" name="TextBox 34">
            <a:extLst>
              <a:ext uri="{FF2B5EF4-FFF2-40B4-BE49-F238E27FC236}">
                <a16:creationId xmlns:a16="http://schemas.microsoft.com/office/drawing/2014/main" id="{48516541-8703-41F8-4A3A-1E4B7C5C5706}"/>
              </a:ext>
            </a:extLst>
          </p:cNvPr>
          <p:cNvSpPr txBox="1"/>
          <p:nvPr/>
        </p:nvSpPr>
        <p:spPr>
          <a:xfrm>
            <a:off x="282298" y="6044720"/>
            <a:ext cx="11257056" cy="369332"/>
          </a:xfrm>
          <a:prstGeom prst="rect">
            <a:avLst/>
          </a:prstGeom>
          <a:noFill/>
        </p:spPr>
        <p:txBody>
          <a:bodyPr wrap="none" rtlCol="0">
            <a:spAutoFit/>
          </a:bodyPr>
          <a:lstStyle/>
          <a:p>
            <a:r>
              <a:rPr lang="en-GB" dirty="0"/>
              <a:t>https://</a:t>
            </a:r>
            <a:r>
              <a:rPr lang="en-GB" dirty="0" err="1"/>
              <a:t>www.iea.org</a:t>
            </a:r>
            <a:r>
              <a:rPr lang="en-GB" dirty="0"/>
              <a:t>/data-and-statistics/charts/increase-in-electricity-demand-by-sector-base-case-2024-2030</a:t>
            </a:r>
            <a:endParaRPr lang="en-DK" dirty="0"/>
          </a:p>
        </p:txBody>
      </p:sp>
    </p:spTree>
    <p:extLst>
      <p:ext uri="{BB962C8B-B14F-4D97-AF65-F5344CB8AC3E}">
        <p14:creationId xmlns:p14="http://schemas.microsoft.com/office/powerpoint/2010/main" val="4145404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7CAD-82D4-2B8A-D0B4-FBB13CC06F89}"/>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5A992E1-3168-D652-758F-FFF5B4D72A43}"/>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84A8E64-5AE2-FC0E-5E9D-8E790C859B0D}"/>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What can you do?</a:t>
            </a:r>
          </a:p>
        </p:txBody>
      </p:sp>
      <p:sp>
        <p:nvSpPr>
          <p:cNvPr id="2" name="TextBox 1">
            <a:extLst>
              <a:ext uri="{FF2B5EF4-FFF2-40B4-BE49-F238E27FC236}">
                <a16:creationId xmlns:a16="http://schemas.microsoft.com/office/drawing/2014/main" id="{51069335-82EC-90BA-D9CA-284AE334A767}"/>
              </a:ext>
            </a:extLst>
          </p:cNvPr>
          <p:cNvSpPr txBox="1"/>
          <p:nvPr/>
        </p:nvSpPr>
        <p:spPr>
          <a:xfrm>
            <a:off x="815518" y="2815983"/>
            <a:ext cx="2968226" cy="923330"/>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As individual Limit / avoid using it for video and image creation</a:t>
            </a:r>
          </a:p>
        </p:txBody>
      </p:sp>
      <p:sp>
        <p:nvSpPr>
          <p:cNvPr id="4" name="TextBox 3">
            <a:extLst>
              <a:ext uri="{FF2B5EF4-FFF2-40B4-BE49-F238E27FC236}">
                <a16:creationId xmlns:a16="http://schemas.microsoft.com/office/drawing/2014/main" id="{4F0B4006-A4BA-C8C2-E0B5-802227B76D9C}"/>
              </a:ext>
            </a:extLst>
          </p:cNvPr>
          <p:cNvSpPr txBox="1"/>
          <p:nvPr/>
        </p:nvSpPr>
        <p:spPr>
          <a:xfrm>
            <a:off x="815518" y="3740480"/>
            <a:ext cx="2584105" cy="369332"/>
          </a:xfrm>
          <a:prstGeom prst="rect">
            <a:avLst/>
          </a:prstGeom>
          <a:noFill/>
        </p:spPr>
        <p:txBody>
          <a:bodyPr wrap="none" rtlCol="0">
            <a:spAutoFit/>
          </a:bodyPr>
          <a:lstStyle/>
          <a:p>
            <a:r>
              <a:rPr lang="en-DK" dirty="0"/>
              <a:t>Think before you prompt</a:t>
            </a:r>
          </a:p>
        </p:txBody>
      </p:sp>
      <p:sp>
        <p:nvSpPr>
          <p:cNvPr id="5" name="TextBox 4">
            <a:extLst>
              <a:ext uri="{FF2B5EF4-FFF2-40B4-BE49-F238E27FC236}">
                <a16:creationId xmlns:a16="http://schemas.microsoft.com/office/drawing/2014/main" id="{BEE56236-D9F1-C5BA-DF64-988CDFBFB08C}"/>
              </a:ext>
            </a:extLst>
          </p:cNvPr>
          <p:cNvSpPr txBox="1"/>
          <p:nvPr/>
        </p:nvSpPr>
        <p:spPr>
          <a:xfrm>
            <a:off x="5606008" y="4228373"/>
            <a:ext cx="4652427" cy="646331"/>
          </a:xfrm>
          <a:prstGeom prst="rect">
            <a:avLst/>
          </a:prstGeom>
          <a:noFill/>
        </p:spPr>
        <p:txBody>
          <a:bodyPr wrap="none" rtlCol="0">
            <a:spAutoFit/>
          </a:bodyPr>
          <a:lstStyle/>
          <a:p>
            <a:r>
              <a:rPr lang="en-DK" dirty="0"/>
              <a:t>Systemic: i.e.</a:t>
            </a:r>
          </a:p>
          <a:p>
            <a:r>
              <a:rPr lang="en-DK" dirty="0"/>
              <a:t>E</a:t>
            </a:r>
            <a:r>
              <a:rPr lang="en-GB" dirty="0"/>
              <a:t>n</a:t>
            </a:r>
            <a:r>
              <a:rPr lang="en-DK" dirty="0"/>
              <a:t>gage in the discussion, voice your opinions</a:t>
            </a:r>
          </a:p>
        </p:txBody>
      </p:sp>
      <p:sp>
        <p:nvSpPr>
          <p:cNvPr id="3" name="TextBox 2">
            <a:extLst>
              <a:ext uri="{FF2B5EF4-FFF2-40B4-BE49-F238E27FC236}">
                <a16:creationId xmlns:a16="http://schemas.microsoft.com/office/drawing/2014/main" id="{4BECE557-F7E7-E7BA-DB41-2B0F1EDE0E86}"/>
              </a:ext>
            </a:extLst>
          </p:cNvPr>
          <p:cNvSpPr txBox="1"/>
          <p:nvPr/>
        </p:nvSpPr>
        <p:spPr>
          <a:xfrm>
            <a:off x="4418110" y="2631317"/>
            <a:ext cx="4840684" cy="369332"/>
          </a:xfrm>
          <a:prstGeom prst="rect">
            <a:avLst/>
          </a:prstGeom>
          <a:noFill/>
        </p:spPr>
        <p:txBody>
          <a:bodyPr wrap="none" rtlCol="0">
            <a:spAutoFit/>
          </a:bodyPr>
          <a:lstStyle/>
          <a:p>
            <a:r>
              <a:rPr lang="en-DK" dirty="0"/>
              <a:t>As organisation , renewable electricity sources </a:t>
            </a:r>
          </a:p>
        </p:txBody>
      </p:sp>
      <p:sp>
        <p:nvSpPr>
          <p:cNvPr id="6" name="TextBox 5">
            <a:extLst>
              <a:ext uri="{FF2B5EF4-FFF2-40B4-BE49-F238E27FC236}">
                <a16:creationId xmlns:a16="http://schemas.microsoft.com/office/drawing/2014/main" id="{503BDFEE-CAFB-EF2E-4F98-52E00217BE35}"/>
              </a:ext>
            </a:extLst>
          </p:cNvPr>
          <p:cNvSpPr txBox="1"/>
          <p:nvPr/>
        </p:nvSpPr>
        <p:spPr>
          <a:xfrm>
            <a:off x="4994895" y="242395"/>
            <a:ext cx="184731" cy="646331"/>
          </a:xfrm>
          <a:prstGeom prst="rect">
            <a:avLst/>
          </a:prstGeom>
          <a:noFill/>
        </p:spPr>
        <p:txBody>
          <a:bodyPr wrap="none" rtlCol="0">
            <a:spAutoFit/>
          </a:bodyPr>
          <a:lstStyle/>
          <a:p>
            <a:endParaRPr lang="en-DK" dirty="0"/>
          </a:p>
          <a:p>
            <a:endParaRPr lang="en-DK" dirty="0"/>
          </a:p>
        </p:txBody>
      </p:sp>
      <p:sp>
        <p:nvSpPr>
          <p:cNvPr id="7" name="TextBox 6">
            <a:extLst>
              <a:ext uri="{FF2B5EF4-FFF2-40B4-BE49-F238E27FC236}">
                <a16:creationId xmlns:a16="http://schemas.microsoft.com/office/drawing/2014/main" id="{03EC0223-2A8D-434F-7DAC-271F073F2F29}"/>
              </a:ext>
            </a:extLst>
          </p:cNvPr>
          <p:cNvSpPr txBox="1"/>
          <p:nvPr/>
        </p:nvSpPr>
        <p:spPr>
          <a:xfrm>
            <a:off x="512547" y="1292488"/>
            <a:ext cx="4356962" cy="1200329"/>
          </a:xfrm>
          <a:prstGeom prst="rect">
            <a:avLst/>
          </a:prstGeom>
          <a:noFill/>
        </p:spPr>
        <p:txBody>
          <a:bodyPr wrap="none" rtlCol="0">
            <a:spAutoFit/>
          </a:bodyPr>
          <a:lstStyle/>
          <a:p>
            <a:r>
              <a:rPr lang="en-DK" dirty="0"/>
              <a:t>UN report, page 48</a:t>
            </a:r>
          </a:p>
          <a:p>
            <a:r>
              <a:rPr lang="en-DK" dirty="0"/>
              <a:t>Make the invisible visible, </a:t>
            </a:r>
          </a:p>
          <a:p>
            <a:r>
              <a:rPr lang="en-DK" dirty="0"/>
              <a:t>Design for efficiency and manage rebound</a:t>
            </a:r>
          </a:p>
          <a:p>
            <a:r>
              <a:rPr lang="en-DK" dirty="0"/>
              <a:t>Use AI intelligently</a:t>
            </a:r>
          </a:p>
        </p:txBody>
      </p:sp>
      <p:sp>
        <p:nvSpPr>
          <p:cNvPr id="10" name="TextBox 9">
            <a:extLst>
              <a:ext uri="{FF2B5EF4-FFF2-40B4-BE49-F238E27FC236}">
                <a16:creationId xmlns:a16="http://schemas.microsoft.com/office/drawing/2014/main" id="{878D04D1-DCB0-9BE0-1FD5-2D19D19F9C21}"/>
              </a:ext>
            </a:extLst>
          </p:cNvPr>
          <p:cNvSpPr txBox="1"/>
          <p:nvPr/>
        </p:nvSpPr>
        <p:spPr>
          <a:xfrm>
            <a:off x="3473292" y="969322"/>
            <a:ext cx="2712515" cy="923330"/>
          </a:xfrm>
          <a:prstGeom prst="rect">
            <a:avLst/>
          </a:prstGeom>
          <a:noFill/>
        </p:spPr>
        <p:txBody>
          <a:bodyPr wrap="square" rtlCol="0">
            <a:spAutoFit/>
          </a:bodyPr>
          <a:lstStyle/>
          <a:p>
            <a:r>
              <a:rPr lang="en-DK" dirty="0"/>
              <a:t>e.g. measure electricy use and related carbon footprint</a:t>
            </a:r>
          </a:p>
        </p:txBody>
      </p:sp>
      <p:sp>
        <p:nvSpPr>
          <p:cNvPr id="11" name="TextBox 10">
            <a:extLst>
              <a:ext uri="{FF2B5EF4-FFF2-40B4-BE49-F238E27FC236}">
                <a16:creationId xmlns:a16="http://schemas.microsoft.com/office/drawing/2014/main" id="{CEA3B316-EC4C-D37D-826C-4A86E321979D}"/>
              </a:ext>
            </a:extLst>
          </p:cNvPr>
          <p:cNvSpPr txBox="1"/>
          <p:nvPr/>
        </p:nvSpPr>
        <p:spPr>
          <a:xfrm>
            <a:off x="1885005" y="5565512"/>
            <a:ext cx="3109890" cy="369332"/>
          </a:xfrm>
          <a:prstGeom prst="rect">
            <a:avLst/>
          </a:prstGeom>
          <a:noFill/>
        </p:spPr>
        <p:txBody>
          <a:bodyPr wrap="none" rtlCol="0">
            <a:spAutoFit/>
          </a:bodyPr>
          <a:lstStyle/>
          <a:p>
            <a:r>
              <a:rPr lang="en-DK" b="1" dirty="0">
                <a:highlight>
                  <a:srgbClr val="FFFF00"/>
                </a:highlight>
              </a:rPr>
              <a:t>We need more transparancy</a:t>
            </a:r>
          </a:p>
        </p:txBody>
      </p:sp>
    </p:spTree>
    <p:extLst>
      <p:ext uri="{BB962C8B-B14F-4D97-AF65-F5344CB8AC3E}">
        <p14:creationId xmlns:p14="http://schemas.microsoft.com/office/powerpoint/2010/main" val="2083567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CB13-D217-04FE-3104-8EA4471412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9591C7-E88F-CCBC-A90C-6888E2DC7DDD}"/>
              </a:ext>
            </a:extLst>
          </p:cNvPr>
          <p:cNvSpPr/>
          <p:nvPr/>
        </p:nvSpPr>
        <p:spPr>
          <a:xfrm>
            <a:off x="0" y="0"/>
            <a:ext cx="12192000" cy="6858000"/>
          </a:xfrm>
          <a:prstGeom prst="rect">
            <a:avLst/>
          </a:prstGeom>
          <a:solidFill>
            <a:srgbClr val="FAE9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EA00742-B7FE-D1CC-3EB2-FAB3CBFC6AB7}"/>
              </a:ext>
            </a:extLst>
          </p:cNvPr>
          <p:cNvSpPr txBox="1"/>
          <p:nvPr/>
        </p:nvSpPr>
        <p:spPr>
          <a:xfrm>
            <a:off x="731520" y="2194560"/>
            <a:ext cx="10698480" cy="1268039"/>
          </a:xfrm>
          <a:prstGeom prst="rect">
            <a:avLst/>
          </a:prstGeom>
          <a:noFill/>
        </p:spPr>
        <p:txBody>
          <a:bodyPr wrap="square" lIns="45720" tIns="18288" rIns="45720" bIns="18288" anchor="t">
            <a:spAutoFit/>
          </a:bodyPr>
          <a:lstStyle/>
          <a:p>
            <a:pPr algn="l"/>
            <a:r>
              <a:rPr lang="en-US" sz="8000" b="1" dirty="0">
                <a:solidFill>
                  <a:srgbClr val="1A1A1A"/>
                </a:solidFill>
                <a:latin typeface="Aptos"/>
              </a:rPr>
              <a:t>Societal impact</a:t>
            </a:r>
            <a:endParaRPr sz="8000" b="1" dirty="0">
              <a:solidFill>
                <a:srgbClr val="1A1A1A"/>
              </a:solidFill>
              <a:latin typeface="Aptos"/>
            </a:endParaRPr>
          </a:p>
        </p:txBody>
      </p:sp>
      <p:sp>
        <p:nvSpPr>
          <p:cNvPr id="4" name="TextBox 3">
            <a:extLst>
              <a:ext uri="{FF2B5EF4-FFF2-40B4-BE49-F238E27FC236}">
                <a16:creationId xmlns:a16="http://schemas.microsoft.com/office/drawing/2014/main" id="{3381AC6F-1812-EB77-8FE2-1A9ACC29A449}"/>
              </a:ext>
            </a:extLst>
          </p:cNvPr>
          <p:cNvSpPr txBox="1"/>
          <p:nvPr/>
        </p:nvSpPr>
        <p:spPr>
          <a:xfrm>
            <a:off x="761999" y="3303845"/>
            <a:ext cx="7931063" cy="467820"/>
          </a:xfrm>
          <a:prstGeom prst="rect">
            <a:avLst/>
          </a:prstGeom>
          <a:noFill/>
        </p:spPr>
        <p:txBody>
          <a:bodyPr wrap="square" lIns="45720" tIns="18288" rIns="45720" bIns="18288" anchor="t">
            <a:spAutoFit/>
          </a:bodyPr>
          <a:lstStyle/>
          <a:p>
            <a:pPr algn="l"/>
            <a:r>
              <a:rPr lang="en-US" sz="2800" dirty="0">
                <a:solidFill>
                  <a:srgbClr val="E5B600"/>
                </a:solidFill>
                <a:latin typeface="Aptos"/>
              </a:rPr>
              <a:t>International dependency and trust in science</a:t>
            </a:r>
            <a:endParaRPr sz="2800" b="0" dirty="0">
              <a:solidFill>
                <a:srgbClr val="E5B600"/>
              </a:solidFill>
              <a:latin typeface="Aptos"/>
            </a:endParaRPr>
          </a:p>
        </p:txBody>
      </p:sp>
      <p:cxnSp>
        <p:nvCxnSpPr>
          <p:cNvPr id="8" name="Straight Connector 7">
            <a:extLst>
              <a:ext uri="{FF2B5EF4-FFF2-40B4-BE49-F238E27FC236}">
                <a16:creationId xmlns:a16="http://schemas.microsoft.com/office/drawing/2014/main" id="{6EC26929-775C-1557-A098-8D7BA5A6718F}"/>
              </a:ext>
            </a:extLst>
          </p:cNvPr>
          <p:cNvCxnSpPr>
            <a:cxnSpLocks/>
          </p:cNvCxnSpPr>
          <p:nvPr/>
        </p:nvCxnSpPr>
        <p:spPr>
          <a:xfrm>
            <a:off x="553067" y="2046968"/>
            <a:ext cx="3937605" cy="0"/>
          </a:xfrm>
          <a:prstGeom prst="line">
            <a:avLst/>
          </a:prstGeom>
          <a:ln w="101600">
            <a:solidFill>
              <a:srgbClr val="DDB83D"/>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E96327FB-0EA1-B5FA-CB6F-0D352A2602BF}"/>
              </a:ext>
            </a:extLst>
          </p:cNvPr>
          <p:cNvGrpSpPr/>
          <p:nvPr/>
        </p:nvGrpSpPr>
        <p:grpSpPr>
          <a:xfrm>
            <a:off x="11181858" y="6035040"/>
            <a:ext cx="805760" cy="723478"/>
            <a:chOff x="11297920" y="5734798"/>
            <a:chExt cx="649058" cy="582778"/>
          </a:xfrm>
        </p:grpSpPr>
        <p:sp>
          <p:nvSpPr>
            <p:cNvPr id="6" name="Oval 5">
              <a:extLst>
                <a:ext uri="{FF2B5EF4-FFF2-40B4-BE49-F238E27FC236}">
                  <a16:creationId xmlns:a16="http://schemas.microsoft.com/office/drawing/2014/main" id="{C6BE0447-3B23-9075-F574-476EDAF412A2}"/>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290B4B79-6E50-1035-6B36-1B6EBA51819F}"/>
                </a:ext>
              </a:extLst>
            </p:cNvPr>
            <p:cNvPicPr>
              <a:picLocks noChangeAspect="1"/>
            </p:cNvPicPr>
            <p:nvPr/>
          </p:nvPicPr>
          <p:blipFill>
            <a:blip r:embed="rId3"/>
            <a:stretch/>
          </p:blipFill>
          <p:spPr>
            <a:xfrm>
              <a:off x="11297920" y="5734798"/>
              <a:ext cx="649058" cy="582778"/>
            </a:xfrm>
            <a:prstGeom prst="rect">
              <a:avLst/>
            </a:prstGeom>
          </p:spPr>
        </p:pic>
      </p:grpSp>
    </p:spTree>
    <p:extLst>
      <p:ext uri="{BB962C8B-B14F-4D97-AF65-F5344CB8AC3E}">
        <p14:creationId xmlns:p14="http://schemas.microsoft.com/office/powerpoint/2010/main" val="331533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38000-05ED-8A08-B72C-98CA9399543D}"/>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D1371570-83EA-E974-88DA-46E52C524BFE}"/>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59BEF2F-E400-D157-AF3A-23384B6D63CA}"/>
              </a:ext>
            </a:extLst>
          </p:cNvPr>
          <p:cNvSpPr txBox="1"/>
          <p:nvPr/>
        </p:nvSpPr>
        <p:spPr>
          <a:xfrm>
            <a:off x="223366" y="36291"/>
            <a:ext cx="5415434"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Trust in a changing world</a:t>
            </a:r>
          </a:p>
        </p:txBody>
      </p:sp>
      <p:sp>
        <p:nvSpPr>
          <p:cNvPr id="3" name="TextBox 2">
            <a:extLst>
              <a:ext uri="{FF2B5EF4-FFF2-40B4-BE49-F238E27FC236}">
                <a16:creationId xmlns:a16="http://schemas.microsoft.com/office/drawing/2014/main" id="{F7F1955E-4241-C05F-B914-B4C25E94DE75}"/>
              </a:ext>
            </a:extLst>
          </p:cNvPr>
          <p:cNvSpPr txBox="1"/>
          <p:nvPr/>
        </p:nvSpPr>
        <p:spPr>
          <a:xfrm>
            <a:off x="7118008" y="1349622"/>
            <a:ext cx="3907416" cy="1200329"/>
          </a:xfrm>
          <a:prstGeom prst="rect">
            <a:avLst/>
          </a:prstGeom>
          <a:noFill/>
        </p:spPr>
        <p:txBody>
          <a:bodyPr wrap="none" rtlCol="0">
            <a:spAutoFit/>
          </a:bodyPr>
          <a:lstStyle/>
          <a:p>
            <a:r>
              <a:rPr lang="en-DK" dirty="0"/>
              <a:t>Open weight vs closed weight models</a:t>
            </a:r>
          </a:p>
          <a:p>
            <a:r>
              <a:rPr lang="en-DK" dirty="0"/>
              <a:t>Companies or gover</a:t>
            </a:r>
            <a:r>
              <a:rPr lang="en-GB" dirty="0"/>
              <a:t>n</a:t>
            </a:r>
            <a:r>
              <a:rPr lang="en-DK" dirty="0"/>
              <a:t>ment-led</a:t>
            </a:r>
          </a:p>
          <a:p>
            <a:r>
              <a:rPr lang="en-DK" dirty="0"/>
              <a:t>Who holds the power?</a:t>
            </a:r>
          </a:p>
          <a:p>
            <a:endParaRPr lang="en-DK" dirty="0"/>
          </a:p>
        </p:txBody>
      </p:sp>
      <p:sp>
        <p:nvSpPr>
          <p:cNvPr id="4" name="TextBox 3">
            <a:extLst>
              <a:ext uri="{FF2B5EF4-FFF2-40B4-BE49-F238E27FC236}">
                <a16:creationId xmlns:a16="http://schemas.microsoft.com/office/drawing/2014/main" id="{06E55F32-9A8C-8FA9-A03B-EFD0377CE97D}"/>
              </a:ext>
            </a:extLst>
          </p:cNvPr>
          <p:cNvSpPr txBox="1"/>
          <p:nvPr/>
        </p:nvSpPr>
        <p:spPr>
          <a:xfrm>
            <a:off x="7118008" y="3156483"/>
            <a:ext cx="5002395" cy="1754326"/>
          </a:xfrm>
          <a:prstGeom prst="rect">
            <a:avLst/>
          </a:prstGeom>
          <a:noFill/>
        </p:spPr>
        <p:txBody>
          <a:bodyPr wrap="square" rtlCol="0">
            <a:spAutoFit/>
          </a:bodyPr>
          <a:lstStyle/>
          <a:p>
            <a:r>
              <a:rPr lang="en-DK" dirty="0"/>
              <a:t>Generated scientific ‘articles’</a:t>
            </a:r>
          </a:p>
          <a:p>
            <a:r>
              <a:rPr lang="en-DK" dirty="0"/>
              <a:t>Hallucinated citations</a:t>
            </a:r>
          </a:p>
          <a:p>
            <a:r>
              <a:rPr lang="en-DK" dirty="0"/>
              <a:t>Eroding trust in publications?</a:t>
            </a:r>
          </a:p>
          <a:p>
            <a:r>
              <a:rPr lang="en-DK" dirty="0"/>
              <a:t>If anyone can make something that looks like a scientific article, </a:t>
            </a:r>
          </a:p>
          <a:p>
            <a:r>
              <a:rPr lang="en-GB" dirty="0"/>
              <a:t>T</a:t>
            </a:r>
            <a:r>
              <a:rPr lang="en-DK" dirty="0"/>
              <a:t>hen what is a scientific article?</a:t>
            </a:r>
          </a:p>
        </p:txBody>
      </p:sp>
      <p:sp>
        <p:nvSpPr>
          <p:cNvPr id="5" name="TextBox 4">
            <a:extLst>
              <a:ext uri="{FF2B5EF4-FFF2-40B4-BE49-F238E27FC236}">
                <a16:creationId xmlns:a16="http://schemas.microsoft.com/office/drawing/2014/main" id="{0E0DE24D-D5EF-FEA3-B151-72C2C71DAF68}"/>
              </a:ext>
            </a:extLst>
          </p:cNvPr>
          <p:cNvSpPr txBox="1"/>
          <p:nvPr/>
        </p:nvSpPr>
        <p:spPr>
          <a:xfrm>
            <a:off x="1298452" y="5508378"/>
            <a:ext cx="3480825" cy="369332"/>
          </a:xfrm>
          <a:prstGeom prst="rect">
            <a:avLst/>
          </a:prstGeom>
          <a:noFill/>
        </p:spPr>
        <p:txBody>
          <a:bodyPr wrap="none" rtlCol="0">
            <a:spAutoFit/>
          </a:bodyPr>
          <a:lstStyle/>
          <a:p>
            <a:r>
              <a:rPr lang="en-DK" dirty="0"/>
              <a:t>AI considered a strategic industry</a:t>
            </a:r>
          </a:p>
        </p:txBody>
      </p:sp>
      <p:sp>
        <p:nvSpPr>
          <p:cNvPr id="6" name="TextBox 5">
            <a:extLst>
              <a:ext uri="{FF2B5EF4-FFF2-40B4-BE49-F238E27FC236}">
                <a16:creationId xmlns:a16="http://schemas.microsoft.com/office/drawing/2014/main" id="{3AE8EEE4-F2B2-2616-DF80-FB7E1FA160B0}"/>
              </a:ext>
            </a:extLst>
          </p:cNvPr>
          <p:cNvSpPr txBox="1"/>
          <p:nvPr/>
        </p:nvSpPr>
        <p:spPr>
          <a:xfrm>
            <a:off x="5713364" y="5794340"/>
            <a:ext cx="6180731" cy="646331"/>
          </a:xfrm>
          <a:prstGeom prst="rect">
            <a:avLst/>
          </a:prstGeom>
          <a:noFill/>
        </p:spPr>
        <p:txBody>
          <a:bodyPr wrap="none" rtlCol="0">
            <a:spAutoFit/>
          </a:bodyPr>
          <a:lstStyle/>
          <a:p>
            <a:r>
              <a:rPr lang="en-GB" dirty="0"/>
              <a:t>E.g. L</a:t>
            </a:r>
            <a:r>
              <a:rPr lang="en-DK" dirty="0"/>
              <a:t>imited acces to Fable/Mythos</a:t>
            </a:r>
          </a:p>
          <a:p>
            <a:r>
              <a:rPr lang="en-DK" dirty="0"/>
              <a:t>GPT-5.6 models only to partners approved by US government</a:t>
            </a:r>
          </a:p>
        </p:txBody>
      </p:sp>
      <p:sp>
        <p:nvSpPr>
          <p:cNvPr id="8" name="TextBox 7">
            <a:extLst>
              <a:ext uri="{FF2B5EF4-FFF2-40B4-BE49-F238E27FC236}">
                <a16:creationId xmlns:a16="http://schemas.microsoft.com/office/drawing/2014/main" id="{A8DC6B00-CD40-6F6A-BBEC-097AD5EDA3E4}"/>
              </a:ext>
            </a:extLst>
          </p:cNvPr>
          <p:cNvSpPr txBox="1"/>
          <p:nvPr/>
        </p:nvSpPr>
        <p:spPr>
          <a:xfrm>
            <a:off x="540990" y="1349622"/>
            <a:ext cx="5271443" cy="923330"/>
          </a:xfrm>
          <a:prstGeom prst="rect">
            <a:avLst/>
          </a:prstGeom>
          <a:noFill/>
        </p:spPr>
        <p:txBody>
          <a:bodyPr wrap="none" rtlCol="0">
            <a:spAutoFit/>
          </a:bodyPr>
          <a:lstStyle/>
          <a:p>
            <a:r>
              <a:rPr lang="en-GB" dirty="0"/>
              <a:t>T</a:t>
            </a:r>
            <a:r>
              <a:rPr lang="en-DK" dirty="0"/>
              <a:t>his is not just relevant for use of the models, but </a:t>
            </a:r>
          </a:p>
          <a:p>
            <a:r>
              <a:rPr lang="en-GB" dirty="0"/>
              <a:t>especially</a:t>
            </a:r>
            <a:r>
              <a:rPr lang="en-DK" dirty="0"/>
              <a:t> if researchers are building tools on top of</a:t>
            </a:r>
          </a:p>
          <a:p>
            <a:r>
              <a:rPr lang="en-DK" dirty="0"/>
              <a:t>(non-EU) models </a:t>
            </a:r>
          </a:p>
        </p:txBody>
      </p:sp>
      <p:sp>
        <p:nvSpPr>
          <p:cNvPr id="10" name="TextBox 9">
            <a:extLst>
              <a:ext uri="{FF2B5EF4-FFF2-40B4-BE49-F238E27FC236}">
                <a16:creationId xmlns:a16="http://schemas.microsoft.com/office/drawing/2014/main" id="{B8AAA281-7390-5A9C-ECB5-12A32B8F510A}"/>
              </a:ext>
            </a:extLst>
          </p:cNvPr>
          <p:cNvSpPr txBox="1"/>
          <p:nvPr/>
        </p:nvSpPr>
        <p:spPr>
          <a:xfrm>
            <a:off x="633044" y="4048569"/>
            <a:ext cx="4945308" cy="923330"/>
          </a:xfrm>
          <a:prstGeom prst="rect">
            <a:avLst/>
          </a:prstGeom>
          <a:noFill/>
        </p:spPr>
        <p:txBody>
          <a:bodyPr wrap="square" rtlCol="0">
            <a:spAutoFit/>
          </a:bodyPr>
          <a:lstStyle/>
          <a:p>
            <a:r>
              <a:rPr lang="en-US" dirty="0"/>
              <a:t>If the EU gets locked out of non-EU models, what research/</a:t>
            </a:r>
            <a:r>
              <a:rPr lang="en-DK" dirty="0"/>
              <a:t>tools can one not use anymore?</a:t>
            </a:r>
          </a:p>
          <a:p>
            <a:r>
              <a:rPr lang="en-DK" dirty="0"/>
              <a:t>Can one easily switch to another EU model?</a:t>
            </a:r>
            <a:endParaRPr lang="en-US" dirty="0"/>
          </a:p>
        </p:txBody>
      </p:sp>
      <p:sp>
        <p:nvSpPr>
          <p:cNvPr id="7" name="TextBox 6">
            <a:extLst>
              <a:ext uri="{FF2B5EF4-FFF2-40B4-BE49-F238E27FC236}">
                <a16:creationId xmlns:a16="http://schemas.microsoft.com/office/drawing/2014/main" id="{881415BB-5D03-89B6-3E62-7E9AC2FCBE96}"/>
              </a:ext>
            </a:extLst>
          </p:cNvPr>
          <p:cNvSpPr txBox="1"/>
          <p:nvPr/>
        </p:nvSpPr>
        <p:spPr>
          <a:xfrm>
            <a:off x="8603087" y="476518"/>
            <a:ext cx="2040110" cy="369332"/>
          </a:xfrm>
          <a:prstGeom prst="rect">
            <a:avLst/>
          </a:prstGeom>
          <a:noFill/>
        </p:spPr>
        <p:txBody>
          <a:bodyPr wrap="none" rtlCol="0">
            <a:spAutoFit/>
          </a:bodyPr>
          <a:lstStyle/>
          <a:p>
            <a:r>
              <a:rPr lang="en-DK" dirty="0">
                <a:highlight>
                  <a:srgbClr val="FFFF00"/>
                </a:highlight>
              </a:rPr>
              <a:t>Intro slide for topic</a:t>
            </a:r>
          </a:p>
        </p:txBody>
      </p:sp>
    </p:spTree>
    <p:extLst>
      <p:ext uri="{BB962C8B-B14F-4D97-AF65-F5344CB8AC3E}">
        <p14:creationId xmlns:p14="http://schemas.microsoft.com/office/powerpoint/2010/main" val="3324836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6C45-565B-BAC4-2A4E-084E6510A07F}"/>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76DDA471-942F-C28A-47D8-D3334A3AE37E}"/>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710A3D7-9B76-D4CF-C185-89438DD42A12}"/>
              </a:ext>
            </a:extLst>
          </p:cNvPr>
          <p:cNvSpPr txBox="1"/>
          <p:nvPr/>
        </p:nvSpPr>
        <p:spPr>
          <a:xfrm>
            <a:off x="223365" y="36291"/>
            <a:ext cx="5241263"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AI misuse in science</a:t>
            </a:r>
          </a:p>
        </p:txBody>
      </p:sp>
      <p:pic>
        <p:nvPicPr>
          <p:cNvPr id="3" name="Picture 2">
            <a:extLst>
              <a:ext uri="{FF2B5EF4-FFF2-40B4-BE49-F238E27FC236}">
                <a16:creationId xmlns:a16="http://schemas.microsoft.com/office/drawing/2014/main" id="{0E39F149-B8F5-2498-4EFB-446942191C04}"/>
              </a:ext>
            </a:extLst>
          </p:cNvPr>
          <p:cNvPicPr>
            <a:picLocks noChangeAspect="1"/>
          </p:cNvPicPr>
          <p:nvPr/>
        </p:nvPicPr>
        <p:blipFill>
          <a:blip r:embed="rId3"/>
          <a:stretch>
            <a:fillRect/>
          </a:stretch>
        </p:blipFill>
        <p:spPr>
          <a:xfrm>
            <a:off x="7275822" y="682622"/>
            <a:ext cx="4394200" cy="3556000"/>
          </a:xfrm>
          <a:prstGeom prst="rect">
            <a:avLst/>
          </a:prstGeom>
        </p:spPr>
      </p:pic>
      <p:pic>
        <p:nvPicPr>
          <p:cNvPr id="5" name="Picture 4" descr="1780646858155.jpg">
            <a:extLst>
              <a:ext uri="{FF2B5EF4-FFF2-40B4-BE49-F238E27FC236}">
                <a16:creationId xmlns:a16="http://schemas.microsoft.com/office/drawing/2014/main" id="{470D5BB5-C6CF-2A98-4950-57514F81361F}"/>
              </a:ext>
            </a:extLst>
          </p:cNvPr>
          <p:cNvPicPr>
            <a:picLocks noChangeAspect="1"/>
          </p:cNvPicPr>
          <p:nvPr/>
        </p:nvPicPr>
        <p:blipFill>
          <a:blip r:embed="rId4"/>
          <a:stretch>
            <a:fillRect/>
          </a:stretch>
        </p:blipFill>
        <p:spPr>
          <a:xfrm>
            <a:off x="609245" y="921967"/>
            <a:ext cx="4469502" cy="5899742"/>
          </a:xfrm>
          <a:prstGeom prst="rect">
            <a:avLst/>
          </a:prstGeom>
        </p:spPr>
      </p:pic>
      <p:pic>
        <p:nvPicPr>
          <p:cNvPr id="6" name="Picture 5">
            <a:extLst>
              <a:ext uri="{FF2B5EF4-FFF2-40B4-BE49-F238E27FC236}">
                <a16:creationId xmlns:a16="http://schemas.microsoft.com/office/drawing/2014/main" id="{09803EB4-B551-6102-F386-2E80EB2A26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4371" y="3712180"/>
            <a:ext cx="7772400" cy="2347066"/>
          </a:xfrm>
          <a:prstGeom prst="rect">
            <a:avLst/>
          </a:prstGeom>
        </p:spPr>
      </p:pic>
      <p:sp>
        <p:nvSpPr>
          <p:cNvPr id="7" name="TextBox 6">
            <a:extLst>
              <a:ext uri="{FF2B5EF4-FFF2-40B4-BE49-F238E27FC236}">
                <a16:creationId xmlns:a16="http://schemas.microsoft.com/office/drawing/2014/main" id="{958AB2CF-14E0-8CA4-85EC-C5484A104BBF}"/>
              </a:ext>
            </a:extLst>
          </p:cNvPr>
          <p:cNvSpPr txBox="1"/>
          <p:nvPr/>
        </p:nvSpPr>
        <p:spPr>
          <a:xfrm>
            <a:off x="9546771" y="4572000"/>
            <a:ext cx="4717958" cy="246221"/>
          </a:xfrm>
          <a:prstGeom prst="rect">
            <a:avLst/>
          </a:prstGeom>
          <a:noFill/>
        </p:spPr>
        <p:txBody>
          <a:bodyPr wrap="none" rtlCol="0">
            <a:spAutoFit/>
          </a:bodyPr>
          <a:lstStyle/>
          <a:p>
            <a:r>
              <a:rPr lang="en-GB" sz="1000" dirty="0"/>
              <a:t>https://</a:t>
            </a:r>
            <a:r>
              <a:rPr lang="en-GB" sz="1000" dirty="0" err="1"/>
              <a:t>cdn.arstechnica.net</a:t>
            </a:r>
            <a:r>
              <a:rPr lang="en-GB" sz="1000" dirty="0"/>
              <a:t>/</a:t>
            </a:r>
            <a:r>
              <a:rPr lang="en-GB" sz="1000" dirty="0" err="1"/>
              <a:t>wp</a:t>
            </a:r>
            <a:r>
              <a:rPr lang="en-GB" sz="1000" dirty="0"/>
              <a:t>-content/uploads/2024/02/fcell-11-1339390-1.pdf</a:t>
            </a:r>
            <a:endParaRPr lang="en-DK" sz="1000" dirty="0"/>
          </a:p>
        </p:txBody>
      </p:sp>
      <p:sp>
        <p:nvSpPr>
          <p:cNvPr id="8" name="TextBox 7">
            <a:extLst>
              <a:ext uri="{FF2B5EF4-FFF2-40B4-BE49-F238E27FC236}">
                <a16:creationId xmlns:a16="http://schemas.microsoft.com/office/drawing/2014/main" id="{D7AD92E0-BAD9-9B54-E45E-8723686D8A0E}"/>
              </a:ext>
            </a:extLst>
          </p:cNvPr>
          <p:cNvSpPr txBox="1"/>
          <p:nvPr/>
        </p:nvSpPr>
        <p:spPr>
          <a:xfrm>
            <a:off x="8257230" y="6392624"/>
            <a:ext cx="3836563" cy="369332"/>
          </a:xfrm>
          <a:prstGeom prst="rect">
            <a:avLst/>
          </a:prstGeom>
          <a:noFill/>
        </p:spPr>
        <p:txBody>
          <a:bodyPr wrap="none" rtlCol="0">
            <a:spAutoFit/>
          </a:bodyPr>
          <a:lstStyle/>
          <a:p>
            <a:r>
              <a:rPr lang="en-DK" dirty="0">
                <a:highlight>
                  <a:srgbClr val="00FFFF"/>
                </a:highlight>
              </a:rPr>
              <a:t>Don’t outsource your critical thinking</a:t>
            </a:r>
          </a:p>
        </p:txBody>
      </p:sp>
      <p:sp>
        <p:nvSpPr>
          <p:cNvPr id="10" name="TextBox 9">
            <a:extLst>
              <a:ext uri="{FF2B5EF4-FFF2-40B4-BE49-F238E27FC236}">
                <a16:creationId xmlns:a16="http://schemas.microsoft.com/office/drawing/2014/main" id="{ADC0FEFB-EB49-26F4-FFEF-2217CC4D2AF2}"/>
              </a:ext>
            </a:extLst>
          </p:cNvPr>
          <p:cNvSpPr txBox="1"/>
          <p:nvPr/>
        </p:nvSpPr>
        <p:spPr>
          <a:xfrm>
            <a:off x="9700517" y="5254067"/>
            <a:ext cx="2382640" cy="369332"/>
          </a:xfrm>
          <a:prstGeom prst="rect">
            <a:avLst/>
          </a:prstGeom>
          <a:noFill/>
        </p:spPr>
        <p:txBody>
          <a:bodyPr wrap="none" rtlCol="0">
            <a:spAutoFit/>
          </a:bodyPr>
          <a:lstStyle/>
          <a:p>
            <a:r>
              <a:rPr lang="en-DK" dirty="0">
                <a:highlight>
                  <a:srgbClr val="FFFF00"/>
                </a:highlight>
              </a:rPr>
              <a:t>Hallucinated citations</a:t>
            </a:r>
          </a:p>
        </p:txBody>
      </p:sp>
    </p:spTree>
    <p:extLst>
      <p:ext uri="{BB962C8B-B14F-4D97-AF65-F5344CB8AC3E}">
        <p14:creationId xmlns:p14="http://schemas.microsoft.com/office/powerpoint/2010/main" val="2330489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7081-E48C-B225-B93F-0BC51893BCE1}"/>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A702B2E-13BA-2E34-DFD8-1630A467AF99}"/>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29AADC5-ADA6-B5CC-8370-199104314444}"/>
              </a:ext>
            </a:extLst>
          </p:cNvPr>
          <p:cNvSpPr txBox="1"/>
          <p:nvPr/>
        </p:nvSpPr>
        <p:spPr>
          <a:xfrm>
            <a:off x="223365" y="36291"/>
            <a:ext cx="5241263"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AI misuse in science</a:t>
            </a:r>
          </a:p>
        </p:txBody>
      </p:sp>
      <p:pic>
        <p:nvPicPr>
          <p:cNvPr id="3" name="Picture 2">
            <a:extLst>
              <a:ext uri="{FF2B5EF4-FFF2-40B4-BE49-F238E27FC236}">
                <a16:creationId xmlns:a16="http://schemas.microsoft.com/office/drawing/2014/main" id="{368ABF4E-FDB4-D041-D9E9-E0C4B0B69E9F}"/>
              </a:ext>
            </a:extLst>
          </p:cNvPr>
          <p:cNvPicPr>
            <a:picLocks noChangeAspect="1"/>
          </p:cNvPicPr>
          <p:nvPr/>
        </p:nvPicPr>
        <p:blipFill>
          <a:blip r:embed="rId3"/>
          <a:stretch>
            <a:fillRect/>
          </a:stretch>
        </p:blipFill>
        <p:spPr>
          <a:xfrm>
            <a:off x="7275822" y="682622"/>
            <a:ext cx="4394200" cy="3556000"/>
          </a:xfrm>
          <a:prstGeom prst="rect">
            <a:avLst/>
          </a:prstGeom>
        </p:spPr>
      </p:pic>
      <p:pic>
        <p:nvPicPr>
          <p:cNvPr id="5" name="Picture 4" descr="1780646858155.jpg">
            <a:extLst>
              <a:ext uri="{FF2B5EF4-FFF2-40B4-BE49-F238E27FC236}">
                <a16:creationId xmlns:a16="http://schemas.microsoft.com/office/drawing/2014/main" id="{D9BE0B18-7000-028E-E1BA-936EF183E5E8}"/>
              </a:ext>
            </a:extLst>
          </p:cNvPr>
          <p:cNvPicPr>
            <a:picLocks noChangeAspect="1"/>
          </p:cNvPicPr>
          <p:nvPr/>
        </p:nvPicPr>
        <p:blipFill>
          <a:blip r:embed="rId4"/>
          <a:stretch>
            <a:fillRect/>
          </a:stretch>
        </p:blipFill>
        <p:spPr>
          <a:xfrm>
            <a:off x="609245" y="921967"/>
            <a:ext cx="4469502" cy="5899742"/>
          </a:xfrm>
          <a:prstGeom prst="rect">
            <a:avLst/>
          </a:prstGeom>
        </p:spPr>
      </p:pic>
      <p:pic>
        <p:nvPicPr>
          <p:cNvPr id="6" name="Picture 5">
            <a:extLst>
              <a:ext uri="{FF2B5EF4-FFF2-40B4-BE49-F238E27FC236}">
                <a16:creationId xmlns:a16="http://schemas.microsoft.com/office/drawing/2014/main" id="{EBDA6980-288E-E65C-C420-CD57848326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4371" y="3712180"/>
            <a:ext cx="7772400" cy="2347066"/>
          </a:xfrm>
          <a:prstGeom prst="rect">
            <a:avLst/>
          </a:prstGeom>
        </p:spPr>
      </p:pic>
      <p:sp>
        <p:nvSpPr>
          <p:cNvPr id="7" name="TextBox 6">
            <a:extLst>
              <a:ext uri="{FF2B5EF4-FFF2-40B4-BE49-F238E27FC236}">
                <a16:creationId xmlns:a16="http://schemas.microsoft.com/office/drawing/2014/main" id="{56F9B3D8-A0AB-D42B-0482-766FB7D6FA06}"/>
              </a:ext>
            </a:extLst>
          </p:cNvPr>
          <p:cNvSpPr txBox="1"/>
          <p:nvPr/>
        </p:nvSpPr>
        <p:spPr>
          <a:xfrm>
            <a:off x="9546771" y="4572000"/>
            <a:ext cx="4717958" cy="246221"/>
          </a:xfrm>
          <a:prstGeom prst="rect">
            <a:avLst/>
          </a:prstGeom>
          <a:noFill/>
        </p:spPr>
        <p:txBody>
          <a:bodyPr wrap="none" rtlCol="0">
            <a:spAutoFit/>
          </a:bodyPr>
          <a:lstStyle/>
          <a:p>
            <a:r>
              <a:rPr lang="en-GB" sz="1000" dirty="0"/>
              <a:t>https://</a:t>
            </a:r>
            <a:r>
              <a:rPr lang="en-GB" sz="1000" dirty="0" err="1"/>
              <a:t>cdn.arstechnica.net</a:t>
            </a:r>
            <a:r>
              <a:rPr lang="en-GB" sz="1000" dirty="0"/>
              <a:t>/</a:t>
            </a:r>
            <a:r>
              <a:rPr lang="en-GB" sz="1000" dirty="0" err="1"/>
              <a:t>wp</a:t>
            </a:r>
            <a:r>
              <a:rPr lang="en-GB" sz="1000" dirty="0"/>
              <a:t>-content/uploads/2024/02/fcell-11-1339390-1.pdf</a:t>
            </a:r>
            <a:endParaRPr lang="en-DK" sz="1000" dirty="0"/>
          </a:p>
        </p:txBody>
      </p:sp>
      <p:sp>
        <p:nvSpPr>
          <p:cNvPr id="8" name="TextBox 7">
            <a:extLst>
              <a:ext uri="{FF2B5EF4-FFF2-40B4-BE49-F238E27FC236}">
                <a16:creationId xmlns:a16="http://schemas.microsoft.com/office/drawing/2014/main" id="{5AF18E29-615F-97CE-CAE6-376AEF4F6FAE}"/>
              </a:ext>
            </a:extLst>
          </p:cNvPr>
          <p:cNvSpPr txBox="1"/>
          <p:nvPr/>
        </p:nvSpPr>
        <p:spPr>
          <a:xfrm>
            <a:off x="8257230" y="6392624"/>
            <a:ext cx="3836563" cy="369332"/>
          </a:xfrm>
          <a:prstGeom prst="rect">
            <a:avLst/>
          </a:prstGeom>
          <a:noFill/>
        </p:spPr>
        <p:txBody>
          <a:bodyPr wrap="none" rtlCol="0">
            <a:spAutoFit/>
          </a:bodyPr>
          <a:lstStyle/>
          <a:p>
            <a:r>
              <a:rPr lang="en-DK" dirty="0">
                <a:highlight>
                  <a:srgbClr val="00FFFF"/>
                </a:highlight>
              </a:rPr>
              <a:t>Don’t outsource your critical thinking</a:t>
            </a:r>
          </a:p>
        </p:txBody>
      </p:sp>
      <p:sp>
        <p:nvSpPr>
          <p:cNvPr id="10" name="TextBox 9">
            <a:extLst>
              <a:ext uri="{FF2B5EF4-FFF2-40B4-BE49-F238E27FC236}">
                <a16:creationId xmlns:a16="http://schemas.microsoft.com/office/drawing/2014/main" id="{11748F99-CFE5-C319-7B6E-896CF286681F}"/>
              </a:ext>
            </a:extLst>
          </p:cNvPr>
          <p:cNvSpPr txBox="1"/>
          <p:nvPr/>
        </p:nvSpPr>
        <p:spPr>
          <a:xfrm>
            <a:off x="9700517" y="5254067"/>
            <a:ext cx="2382640" cy="369332"/>
          </a:xfrm>
          <a:prstGeom prst="rect">
            <a:avLst/>
          </a:prstGeom>
          <a:noFill/>
        </p:spPr>
        <p:txBody>
          <a:bodyPr wrap="none" rtlCol="0">
            <a:spAutoFit/>
          </a:bodyPr>
          <a:lstStyle/>
          <a:p>
            <a:r>
              <a:rPr lang="en-DK" dirty="0">
                <a:highlight>
                  <a:srgbClr val="FFFF00"/>
                </a:highlight>
              </a:rPr>
              <a:t>Hallucinated citations</a:t>
            </a:r>
          </a:p>
        </p:txBody>
      </p:sp>
      <p:sp>
        <p:nvSpPr>
          <p:cNvPr id="2" name="TextBox 1">
            <a:extLst>
              <a:ext uri="{FF2B5EF4-FFF2-40B4-BE49-F238E27FC236}">
                <a16:creationId xmlns:a16="http://schemas.microsoft.com/office/drawing/2014/main" id="{5B35EFA8-ADFE-F189-B700-ACB96D0C9B0B}"/>
              </a:ext>
            </a:extLst>
          </p:cNvPr>
          <p:cNvSpPr txBox="1"/>
          <p:nvPr/>
        </p:nvSpPr>
        <p:spPr>
          <a:xfrm>
            <a:off x="5266746" y="359456"/>
            <a:ext cx="3776483" cy="646331"/>
          </a:xfrm>
          <a:prstGeom prst="rect">
            <a:avLst/>
          </a:prstGeom>
          <a:noFill/>
        </p:spPr>
        <p:txBody>
          <a:bodyPr wrap="none" rtlCol="0">
            <a:spAutoFit/>
          </a:bodyPr>
          <a:lstStyle/>
          <a:p>
            <a:r>
              <a:rPr lang="en-DK" dirty="0">
                <a:highlight>
                  <a:srgbClr val="FFFF00"/>
                </a:highlight>
              </a:rPr>
              <a:t>Mention new tool?</a:t>
            </a:r>
          </a:p>
          <a:p>
            <a:r>
              <a:rPr lang="en-DK" dirty="0">
                <a:highlight>
                  <a:srgbClr val="FFFF00"/>
                </a:highlight>
              </a:rPr>
              <a:t>AI checkers getting better and better</a:t>
            </a:r>
          </a:p>
        </p:txBody>
      </p:sp>
    </p:spTree>
    <p:extLst>
      <p:ext uri="{BB962C8B-B14F-4D97-AF65-F5344CB8AC3E}">
        <p14:creationId xmlns:p14="http://schemas.microsoft.com/office/powerpoint/2010/main" val="1502251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2CC0B-F1C5-D959-9DA6-D36DBE88A2B4}"/>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1FBC055-AF05-85BD-8BDD-5968A280D134}"/>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65AB445-CD36-90DA-B1DE-D8B2F20096DE}"/>
              </a:ext>
            </a:extLst>
          </p:cNvPr>
          <p:cNvSpPr txBox="1"/>
          <p:nvPr/>
        </p:nvSpPr>
        <p:spPr>
          <a:xfrm>
            <a:off x="223365" y="36291"/>
            <a:ext cx="5241263"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AI misuse in science</a:t>
            </a:r>
          </a:p>
        </p:txBody>
      </p:sp>
      <p:sp>
        <p:nvSpPr>
          <p:cNvPr id="7" name="TextBox 6">
            <a:extLst>
              <a:ext uri="{FF2B5EF4-FFF2-40B4-BE49-F238E27FC236}">
                <a16:creationId xmlns:a16="http://schemas.microsoft.com/office/drawing/2014/main" id="{D3823A75-D135-646C-DF9D-977513D78513}"/>
              </a:ext>
            </a:extLst>
          </p:cNvPr>
          <p:cNvSpPr txBox="1"/>
          <p:nvPr/>
        </p:nvSpPr>
        <p:spPr>
          <a:xfrm>
            <a:off x="746670" y="3729431"/>
            <a:ext cx="4717958" cy="246221"/>
          </a:xfrm>
          <a:prstGeom prst="rect">
            <a:avLst/>
          </a:prstGeom>
          <a:noFill/>
        </p:spPr>
        <p:txBody>
          <a:bodyPr wrap="none" rtlCol="0">
            <a:spAutoFit/>
          </a:bodyPr>
          <a:lstStyle/>
          <a:p>
            <a:r>
              <a:rPr lang="en-GB" sz="1000" dirty="0"/>
              <a:t>https://</a:t>
            </a:r>
            <a:r>
              <a:rPr lang="en-GB" sz="1000" dirty="0" err="1"/>
              <a:t>cdn.arstechnica.net</a:t>
            </a:r>
            <a:r>
              <a:rPr lang="en-GB" sz="1000" dirty="0"/>
              <a:t>/</a:t>
            </a:r>
            <a:r>
              <a:rPr lang="en-GB" sz="1000" dirty="0" err="1"/>
              <a:t>wp</a:t>
            </a:r>
            <a:r>
              <a:rPr lang="en-GB" sz="1000" dirty="0"/>
              <a:t>-content/uploads/2024/02/fcell-11-1339390-1.pdf</a:t>
            </a:r>
            <a:endParaRPr lang="en-DK" sz="1000" dirty="0"/>
          </a:p>
        </p:txBody>
      </p:sp>
      <p:sp>
        <p:nvSpPr>
          <p:cNvPr id="8" name="TextBox 7">
            <a:extLst>
              <a:ext uri="{FF2B5EF4-FFF2-40B4-BE49-F238E27FC236}">
                <a16:creationId xmlns:a16="http://schemas.microsoft.com/office/drawing/2014/main" id="{4E2260FC-3F2A-3022-A973-D587D0026B5B}"/>
              </a:ext>
            </a:extLst>
          </p:cNvPr>
          <p:cNvSpPr txBox="1"/>
          <p:nvPr/>
        </p:nvSpPr>
        <p:spPr>
          <a:xfrm>
            <a:off x="8257230" y="6392624"/>
            <a:ext cx="3836563" cy="369332"/>
          </a:xfrm>
          <a:prstGeom prst="rect">
            <a:avLst/>
          </a:prstGeom>
          <a:noFill/>
        </p:spPr>
        <p:txBody>
          <a:bodyPr wrap="none" rtlCol="0">
            <a:spAutoFit/>
          </a:bodyPr>
          <a:lstStyle/>
          <a:p>
            <a:r>
              <a:rPr lang="en-DK" dirty="0">
                <a:highlight>
                  <a:srgbClr val="00FFFF"/>
                </a:highlight>
              </a:rPr>
              <a:t>Don’t outsource your critical thinking</a:t>
            </a:r>
          </a:p>
        </p:txBody>
      </p:sp>
      <p:sp>
        <p:nvSpPr>
          <p:cNvPr id="10" name="TextBox 9">
            <a:extLst>
              <a:ext uri="{FF2B5EF4-FFF2-40B4-BE49-F238E27FC236}">
                <a16:creationId xmlns:a16="http://schemas.microsoft.com/office/drawing/2014/main" id="{D4631559-03E2-C739-817B-A079678ECAA6}"/>
              </a:ext>
            </a:extLst>
          </p:cNvPr>
          <p:cNvSpPr txBox="1"/>
          <p:nvPr/>
        </p:nvSpPr>
        <p:spPr>
          <a:xfrm>
            <a:off x="1000848" y="2636127"/>
            <a:ext cx="2382640" cy="369332"/>
          </a:xfrm>
          <a:prstGeom prst="rect">
            <a:avLst/>
          </a:prstGeom>
          <a:noFill/>
        </p:spPr>
        <p:txBody>
          <a:bodyPr wrap="none" rtlCol="0">
            <a:spAutoFit/>
          </a:bodyPr>
          <a:lstStyle/>
          <a:p>
            <a:r>
              <a:rPr lang="en-DK" dirty="0">
                <a:highlight>
                  <a:srgbClr val="FFFF00"/>
                </a:highlight>
              </a:rPr>
              <a:t>Hallucinated citations</a:t>
            </a:r>
          </a:p>
        </p:txBody>
      </p:sp>
      <p:sp>
        <p:nvSpPr>
          <p:cNvPr id="2" name="TextBox 1">
            <a:extLst>
              <a:ext uri="{FF2B5EF4-FFF2-40B4-BE49-F238E27FC236}">
                <a16:creationId xmlns:a16="http://schemas.microsoft.com/office/drawing/2014/main" id="{F8FB835B-BF63-44A2-9827-2834D45FCE0E}"/>
              </a:ext>
            </a:extLst>
          </p:cNvPr>
          <p:cNvSpPr txBox="1"/>
          <p:nvPr/>
        </p:nvSpPr>
        <p:spPr>
          <a:xfrm>
            <a:off x="6569452" y="3325522"/>
            <a:ext cx="3776483" cy="646331"/>
          </a:xfrm>
          <a:prstGeom prst="rect">
            <a:avLst/>
          </a:prstGeom>
          <a:noFill/>
        </p:spPr>
        <p:txBody>
          <a:bodyPr wrap="none" rtlCol="0">
            <a:spAutoFit/>
          </a:bodyPr>
          <a:lstStyle/>
          <a:p>
            <a:r>
              <a:rPr lang="en-DK" dirty="0">
                <a:highlight>
                  <a:srgbClr val="FFFF00"/>
                </a:highlight>
              </a:rPr>
              <a:t>Mention Pangrsam</a:t>
            </a:r>
          </a:p>
          <a:p>
            <a:r>
              <a:rPr lang="en-DK" dirty="0">
                <a:highlight>
                  <a:srgbClr val="FFFF00"/>
                </a:highlight>
              </a:rPr>
              <a:t>AI checkers getting better and better</a:t>
            </a:r>
          </a:p>
        </p:txBody>
      </p:sp>
    </p:spTree>
    <p:extLst>
      <p:ext uri="{BB962C8B-B14F-4D97-AF65-F5344CB8AC3E}">
        <p14:creationId xmlns:p14="http://schemas.microsoft.com/office/powerpoint/2010/main" val="2519934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3CD5-EAAF-1512-CDF0-DA54360C3DF7}"/>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D7765AE1-9FA7-2FF2-3435-6066AA796F69}"/>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D2FB6C5-5D37-9AAE-6EE1-936B3CF31A04}"/>
              </a:ext>
            </a:extLst>
          </p:cNvPr>
          <p:cNvSpPr txBox="1"/>
          <p:nvPr/>
        </p:nvSpPr>
        <p:spPr>
          <a:xfrm>
            <a:off x="223365" y="179864"/>
            <a:ext cx="701819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Open &amp; closed models</a:t>
            </a:r>
          </a:p>
        </p:txBody>
      </p:sp>
      <p:sp>
        <p:nvSpPr>
          <p:cNvPr id="8" name="TextBox 7">
            <a:extLst>
              <a:ext uri="{FF2B5EF4-FFF2-40B4-BE49-F238E27FC236}">
                <a16:creationId xmlns:a16="http://schemas.microsoft.com/office/drawing/2014/main" id="{08F9F6FB-B0B4-A580-F494-1141D8D0D58A}"/>
              </a:ext>
            </a:extLst>
          </p:cNvPr>
          <p:cNvSpPr txBox="1"/>
          <p:nvPr/>
        </p:nvSpPr>
        <p:spPr>
          <a:xfrm>
            <a:off x="223365" y="6339582"/>
            <a:ext cx="8532235" cy="677108"/>
          </a:xfrm>
          <a:prstGeom prst="rect">
            <a:avLst/>
          </a:prstGeom>
          <a:noFill/>
        </p:spPr>
        <p:txBody>
          <a:bodyPr wrap="square" rtlCol="0">
            <a:spAutoFit/>
          </a:bodyPr>
          <a:lstStyle/>
          <a:p>
            <a:r>
              <a:rPr lang="en-DK" sz="1000" dirty="0"/>
              <a:t>Aczel M., Chamanara S., Matin M., Farsi A., Marwala T., Madani K. (2026), Environmental Cost of AI's Energy Use: Carbon, Water and Land Footprints, United Nations University Institute for Water, Environment and Health (UNU-INWEH), Richmond Hill, Ontario, Canada, doi:10.53328/INR26RMA002</a:t>
            </a:r>
          </a:p>
          <a:p>
            <a:endParaRPr lang="en-DK" dirty="0"/>
          </a:p>
        </p:txBody>
      </p:sp>
      <p:sp>
        <p:nvSpPr>
          <p:cNvPr id="4" name="TextBox 3">
            <a:extLst>
              <a:ext uri="{FF2B5EF4-FFF2-40B4-BE49-F238E27FC236}">
                <a16:creationId xmlns:a16="http://schemas.microsoft.com/office/drawing/2014/main" id="{7E17D899-8385-9329-1424-79F7ED25FDE7}"/>
              </a:ext>
            </a:extLst>
          </p:cNvPr>
          <p:cNvSpPr txBox="1"/>
          <p:nvPr/>
        </p:nvSpPr>
        <p:spPr>
          <a:xfrm>
            <a:off x="297703" y="2224539"/>
            <a:ext cx="3422527" cy="923330"/>
          </a:xfrm>
          <a:prstGeom prst="rect">
            <a:avLst/>
          </a:prstGeom>
          <a:noFill/>
        </p:spPr>
        <p:txBody>
          <a:bodyPr wrap="square" rtlCol="0">
            <a:spAutoFit/>
          </a:bodyPr>
          <a:lstStyle/>
          <a:p>
            <a:r>
              <a:rPr lang="en-US" dirty="0"/>
              <a:t>Training data &amp; (architecture &amp;) model weights open</a:t>
            </a:r>
            <a:endParaRPr lang="en-DK" dirty="0"/>
          </a:p>
          <a:p>
            <a:endParaRPr lang="en-DK" dirty="0"/>
          </a:p>
        </p:txBody>
      </p:sp>
      <p:sp>
        <p:nvSpPr>
          <p:cNvPr id="2" name="TextBox 1">
            <a:extLst>
              <a:ext uri="{FF2B5EF4-FFF2-40B4-BE49-F238E27FC236}">
                <a16:creationId xmlns:a16="http://schemas.microsoft.com/office/drawing/2014/main" id="{6A7849C2-4244-DE20-E1C5-0BCE1E1CFA0B}"/>
              </a:ext>
            </a:extLst>
          </p:cNvPr>
          <p:cNvSpPr txBox="1"/>
          <p:nvPr/>
        </p:nvSpPr>
        <p:spPr>
          <a:xfrm>
            <a:off x="663879" y="1590805"/>
            <a:ext cx="1494383" cy="369332"/>
          </a:xfrm>
          <a:prstGeom prst="rect">
            <a:avLst/>
          </a:prstGeom>
          <a:noFill/>
        </p:spPr>
        <p:txBody>
          <a:bodyPr wrap="none" rtlCol="0">
            <a:spAutoFit/>
          </a:bodyPr>
          <a:lstStyle/>
          <a:p>
            <a:r>
              <a:rPr lang="en-GB" dirty="0"/>
              <a:t>O</a:t>
            </a:r>
            <a:r>
              <a:rPr lang="en-DK" dirty="0"/>
              <a:t>pen-source</a:t>
            </a:r>
          </a:p>
        </p:txBody>
      </p:sp>
      <p:sp>
        <p:nvSpPr>
          <p:cNvPr id="3" name="TextBox 2">
            <a:extLst>
              <a:ext uri="{FF2B5EF4-FFF2-40B4-BE49-F238E27FC236}">
                <a16:creationId xmlns:a16="http://schemas.microsoft.com/office/drawing/2014/main" id="{6ACB244E-28EE-43AC-A1D4-9E2400C02909}"/>
              </a:ext>
            </a:extLst>
          </p:cNvPr>
          <p:cNvSpPr txBox="1"/>
          <p:nvPr/>
        </p:nvSpPr>
        <p:spPr>
          <a:xfrm>
            <a:off x="4509370" y="1678488"/>
            <a:ext cx="1464825" cy="369332"/>
          </a:xfrm>
          <a:prstGeom prst="rect">
            <a:avLst/>
          </a:prstGeom>
          <a:noFill/>
        </p:spPr>
        <p:txBody>
          <a:bodyPr wrap="none" rtlCol="0">
            <a:spAutoFit/>
          </a:bodyPr>
          <a:lstStyle/>
          <a:p>
            <a:r>
              <a:rPr lang="en-GB" dirty="0"/>
              <a:t>O</a:t>
            </a:r>
            <a:r>
              <a:rPr lang="en-DK" dirty="0"/>
              <a:t>pen-weight</a:t>
            </a:r>
          </a:p>
        </p:txBody>
      </p:sp>
      <p:sp>
        <p:nvSpPr>
          <p:cNvPr id="6" name="TextBox 5">
            <a:extLst>
              <a:ext uri="{FF2B5EF4-FFF2-40B4-BE49-F238E27FC236}">
                <a16:creationId xmlns:a16="http://schemas.microsoft.com/office/drawing/2014/main" id="{DD5451E0-967E-32F5-2B08-99FF568F9EB9}"/>
              </a:ext>
            </a:extLst>
          </p:cNvPr>
          <p:cNvSpPr txBox="1"/>
          <p:nvPr/>
        </p:nvSpPr>
        <p:spPr>
          <a:xfrm>
            <a:off x="9130074" y="1590805"/>
            <a:ext cx="856325" cy="369332"/>
          </a:xfrm>
          <a:prstGeom prst="rect">
            <a:avLst/>
          </a:prstGeom>
          <a:noFill/>
        </p:spPr>
        <p:txBody>
          <a:bodyPr wrap="none" rtlCol="0">
            <a:spAutoFit/>
          </a:bodyPr>
          <a:lstStyle/>
          <a:p>
            <a:r>
              <a:rPr lang="en-DK" dirty="0"/>
              <a:t>closed</a:t>
            </a:r>
          </a:p>
        </p:txBody>
      </p:sp>
      <p:sp>
        <p:nvSpPr>
          <p:cNvPr id="10" name="TextBox 9">
            <a:extLst>
              <a:ext uri="{FF2B5EF4-FFF2-40B4-BE49-F238E27FC236}">
                <a16:creationId xmlns:a16="http://schemas.microsoft.com/office/drawing/2014/main" id="{D344B1AF-AA71-9A13-952D-77BDC07C6833}"/>
              </a:ext>
            </a:extLst>
          </p:cNvPr>
          <p:cNvSpPr txBox="1"/>
          <p:nvPr/>
        </p:nvSpPr>
        <p:spPr>
          <a:xfrm>
            <a:off x="4045073" y="2197893"/>
            <a:ext cx="3422527" cy="1200329"/>
          </a:xfrm>
          <a:prstGeom prst="rect">
            <a:avLst/>
          </a:prstGeom>
          <a:noFill/>
        </p:spPr>
        <p:txBody>
          <a:bodyPr wrap="square" rtlCol="0">
            <a:spAutoFit/>
          </a:bodyPr>
          <a:lstStyle/>
          <a:p>
            <a:r>
              <a:rPr lang="en-US" dirty="0"/>
              <a:t>Training data closed &amp; architecture closed &amp; Model weights open</a:t>
            </a:r>
            <a:endParaRPr lang="en-DK" dirty="0"/>
          </a:p>
          <a:p>
            <a:endParaRPr lang="en-DK" dirty="0"/>
          </a:p>
        </p:txBody>
      </p:sp>
      <p:sp>
        <p:nvSpPr>
          <p:cNvPr id="11" name="TextBox 10">
            <a:extLst>
              <a:ext uri="{FF2B5EF4-FFF2-40B4-BE49-F238E27FC236}">
                <a16:creationId xmlns:a16="http://schemas.microsoft.com/office/drawing/2014/main" id="{0E07352C-A1EB-9576-0FAC-DD360EFE596A}"/>
              </a:ext>
            </a:extLst>
          </p:cNvPr>
          <p:cNvSpPr txBox="1"/>
          <p:nvPr/>
        </p:nvSpPr>
        <p:spPr>
          <a:xfrm>
            <a:off x="8471770" y="2224539"/>
            <a:ext cx="3422527" cy="923330"/>
          </a:xfrm>
          <a:prstGeom prst="rect">
            <a:avLst/>
          </a:prstGeom>
          <a:noFill/>
        </p:spPr>
        <p:txBody>
          <a:bodyPr wrap="square" rtlCol="0">
            <a:spAutoFit/>
          </a:bodyPr>
          <a:lstStyle/>
          <a:p>
            <a:r>
              <a:rPr lang="en-US" dirty="0"/>
              <a:t>Training data &amp; architecture &amp; weights closed</a:t>
            </a:r>
            <a:endParaRPr lang="en-DK" dirty="0"/>
          </a:p>
          <a:p>
            <a:endParaRPr lang="en-DK" dirty="0"/>
          </a:p>
        </p:txBody>
      </p:sp>
    </p:spTree>
    <p:extLst>
      <p:ext uri="{BB962C8B-B14F-4D97-AF65-F5344CB8AC3E}">
        <p14:creationId xmlns:p14="http://schemas.microsoft.com/office/powerpoint/2010/main" val="267339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B57D-EC8C-7101-C07D-F6E804C9A8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80A053-C9FA-CBF8-F8E6-073FCBA1ACE0}"/>
              </a:ext>
            </a:extLst>
          </p:cNvPr>
          <p:cNvSpPr/>
          <p:nvPr/>
        </p:nvSpPr>
        <p:spPr>
          <a:xfrm>
            <a:off x="0" y="0"/>
            <a:ext cx="12192000" cy="6858000"/>
          </a:xfrm>
          <a:prstGeom prst="rect">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1D46433-B812-4277-7C49-9D86FD7E1874}"/>
              </a:ext>
            </a:extLst>
          </p:cNvPr>
          <p:cNvSpPr txBox="1"/>
          <p:nvPr/>
        </p:nvSpPr>
        <p:spPr>
          <a:xfrm>
            <a:off x="731520" y="2194560"/>
            <a:ext cx="10698480" cy="1268039"/>
          </a:xfrm>
          <a:prstGeom prst="rect">
            <a:avLst/>
          </a:prstGeom>
          <a:noFill/>
        </p:spPr>
        <p:txBody>
          <a:bodyPr wrap="square" lIns="45720" tIns="18288" rIns="45720" bIns="18288" anchor="t">
            <a:spAutoFit/>
          </a:bodyPr>
          <a:lstStyle/>
          <a:p>
            <a:pPr algn="l"/>
            <a:r>
              <a:rPr lang="en-US" sz="8000" b="1" dirty="0">
                <a:solidFill>
                  <a:srgbClr val="1A1A1A"/>
                </a:solidFill>
                <a:latin typeface="Aptos"/>
              </a:rPr>
              <a:t>design sheet</a:t>
            </a:r>
            <a:endParaRPr sz="8000" b="1" dirty="0">
              <a:solidFill>
                <a:srgbClr val="1A1A1A"/>
              </a:solidFill>
              <a:latin typeface="Aptos"/>
            </a:endParaRPr>
          </a:p>
        </p:txBody>
      </p:sp>
      <p:sp>
        <p:nvSpPr>
          <p:cNvPr id="4" name="TextBox 3">
            <a:extLst>
              <a:ext uri="{FF2B5EF4-FFF2-40B4-BE49-F238E27FC236}">
                <a16:creationId xmlns:a16="http://schemas.microsoft.com/office/drawing/2014/main" id="{DDCD1988-E1E9-8116-FB85-5A891309A23B}"/>
              </a:ext>
            </a:extLst>
          </p:cNvPr>
          <p:cNvSpPr txBox="1"/>
          <p:nvPr/>
        </p:nvSpPr>
        <p:spPr>
          <a:xfrm>
            <a:off x="762000" y="3297809"/>
            <a:ext cx="4614672" cy="1329595"/>
          </a:xfrm>
          <a:prstGeom prst="rect">
            <a:avLst/>
          </a:prstGeom>
          <a:noFill/>
        </p:spPr>
        <p:txBody>
          <a:bodyPr wrap="square" lIns="45720" tIns="18288" rIns="45720" bIns="18288" anchor="t">
            <a:spAutoFit/>
          </a:bodyPr>
          <a:lstStyle/>
          <a:p>
            <a:pPr algn="l"/>
            <a:r>
              <a:rPr lang="en-US" sz="2800" b="0" dirty="0">
                <a:solidFill>
                  <a:srgbClr val="1F93C9"/>
                </a:solidFill>
                <a:latin typeface="Aptos"/>
              </a:rPr>
              <a:t>Slide deck examples for the Practical AI for Biomedical Researchers course</a:t>
            </a:r>
            <a:endParaRPr sz="2800" b="0" dirty="0">
              <a:solidFill>
                <a:srgbClr val="1F93C9"/>
              </a:solidFill>
              <a:latin typeface="Aptos"/>
            </a:endParaRPr>
          </a:p>
        </p:txBody>
      </p:sp>
      <p:cxnSp>
        <p:nvCxnSpPr>
          <p:cNvPr id="8" name="Straight Connector 7">
            <a:extLst>
              <a:ext uri="{FF2B5EF4-FFF2-40B4-BE49-F238E27FC236}">
                <a16:creationId xmlns:a16="http://schemas.microsoft.com/office/drawing/2014/main" id="{E5C8985C-D635-AAD8-F760-ACC93E28E994}"/>
              </a:ext>
            </a:extLst>
          </p:cNvPr>
          <p:cNvCxnSpPr>
            <a:cxnSpLocks/>
          </p:cNvCxnSpPr>
          <p:nvPr/>
        </p:nvCxnSpPr>
        <p:spPr>
          <a:xfrm>
            <a:off x="553067" y="2046968"/>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B10B3F98-8C95-DD76-08C5-59477F587A61}"/>
              </a:ext>
            </a:extLst>
          </p:cNvPr>
          <p:cNvGrpSpPr/>
          <p:nvPr/>
        </p:nvGrpSpPr>
        <p:grpSpPr>
          <a:xfrm>
            <a:off x="11181858" y="6035040"/>
            <a:ext cx="805760" cy="723478"/>
            <a:chOff x="11297920" y="5734798"/>
            <a:chExt cx="649058" cy="582778"/>
          </a:xfrm>
        </p:grpSpPr>
        <p:sp>
          <p:nvSpPr>
            <p:cNvPr id="10" name="Oval 9">
              <a:extLst>
                <a:ext uri="{FF2B5EF4-FFF2-40B4-BE49-F238E27FC236}">
                  <a16:creationId xmlns:a16="http://schemas.microsoft.com/office/drawing/2014/main" id="{F2D4D049-DFA5-1FC1-F2C0-BDBF91BE4BFE}"/>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A0B9B5CD-2B2E-A531-669D-465D78D58AE9}"/>
                </a:ext>
              </a:extLst>
            </p:cNvPr>
            <p:cNvPicPr>
              <a:picLocks noChangeAspect="1"/>
            </p:cNvPicPr>
            <p:nvPr/>
          </p:nvPicPr>
          <p:blipFill>
            <a:blip r:embed="rId3"/>
            <a:stretch/>
          </p:blipFill>
          <p:spPr>
            <a:xfrm>
              <a:off x="11297920" y="5734798"/>
              <a:ext cx="649058" cy="582778"/>
            </a:xfrm>
            <a:prstGeom prst="rect">
              <a:avLst/>
            </a:prstGeom>
          </p:spPr>
        </p:pic>
      </p:grpSp>
    </p:spTree>
    <p:extLst>
      <p:ext uri="{BB962C8B-B14F-4D97-AF65-F5344CB8AC3E}">
        <p14:creationId xmlns:p14="http://schemas.microsoft.com/office/powerpoint/2010/main" val="471966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4C5E-49AA-AF78-56CD-9848463E6475}"/>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2AA4CF92-DA0D-2115-76CC-30F6D1CD670E}"/>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F2401BC-E7E3-5509-E241-25FBC4041781}"/>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basics</a:t>
            </a:r>
          </a:p>
        </p:txBody>
      </p:sp>
      <p:sp>
        <p:nvSpPr>
          <p:cNvPr id="2" name="TextBox 1">
            <a:extLst>
              <a:ext uri="{FF2B5EF4-FFF2-40B4-BE49-F238E27FC236}">
                <a16:creationId xmlns:a16="http://schemas.microsoft.com/office/drawing/2014/main" id="{E63A2848-0F99-1DA5-9765-1BA15F8F68C0}"/>
              </a:ext>
            </a:extLst>
          </p:cNvPr>
          <p:cNvSpPr txBox="1"/>
          <p:nvPr/>
        </p:nvSpPr>
        <p:spPr>
          <a:xfrm>
            <a:off x="1915962" y="2082134"/>
            <a:ext cx="4064000" cy="3416320"/>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Standard font is Aptos, size 18 for body and 36 for titles, or Consolas for code. </a:t>
            </a:r>
            <a:br>
              <a:rPr lang="en-GB" dirty="0">
                <a:ea typeface="Calibri" panose="020F0502020204030204" pitchFamily="34" charset="0"/>
                <a:cs typeface="Calibri" panose="020F0502020204030204" pitchFamily="34" charset="0"/>
              </a:rPr>
            </a:br>
            <a:br>
              <a:rPr lang="en-GB" dirty="0">
                <a:ea typeface="Calibri" panose="020F0502020204030204" pitchFamily="34" charset="0"/>
                <a:cs typeface="Calibri" panose="020F0502020204030204" pitchFamily="34" charset="0"/>
              </a:rPr>
            </a:br>
            <a:r>
              <a:rPr lang="en-GB" dirty="0">
                <a:ea typeface="Calibri" panose="020F0502020204030204" pitchFamily="34" charset="0"/>
                <a:cs typeface="Calibri" panose="020F0502020204030204" pitchFamily="34" charset="0"/>
              </a:rPr>
              <a:t>You can either </a:t>
            </a:r>
            <a:r>
              <a:rPr lang="en-GB" b="1" dirty="0">
                <a:ea typeface="Calibri" panose="020F0502020204030204" pitchFamily="34" charset="0"/>
                <a:cs typeface="Calibri" panose="020F0502020204030204" pitchFamily="34" charset="0"/>
              </a:rPr>
              <a:t>bold relevant passages</a:t>
            </a:r>
            <a:r>
              <a:rPr lang="en-GB" dirty="0">
                <a:ea typeface="Calibri" panose="020F0502020204030204" pitchFamily="34" charset="0"/>
                <a:cs typeface="Calibri" panose="020F0502020204030204" pitchFamily="34" charset="0"/>
              </a:rPr>
              <a:t>, use a </a:t>
            </a:r>
            <a:r>
              <a:rPr lang="en-GB" dirty="0">
                <a:highlight>
                  <a:srgbClr val="DCEAF7"/>
                </a:highlight>
                <a:ea typeface="Calibri" panose="020F0502020204030204" pitchFamily="34" charset="0"/>
                <a:cs typeface="Calibri" panose="020F0502020204030204" pitchFamily="34" charset="0"/>
              </a:rPr>
              <a:t>highlighted block</a:t>
            </a:r>
            <a:r>
              <a:rPr lang="en-GB" dirty="0">
                <a:ea typeface="Calibri" panose="020F0502020204030204" pitchFamily="34" charset="0"/>
                <a:cs typeface="Calibri" panose="020F0502020204030204" pitchFamily="34" charset="0"/>
              </a:rPr>
              <a:t>, or break down specific points into rectangles like the ones to the right.</a:t>
            </a:r>
            <a:br>
              <a:rPr lang="en-GB" dirty="0">
                <a:ea typeface="Calibri" panose="020F0502020204030204" pitchFamily="34" charset="0"/>
                <a:cs typeface="Calibri" panose="020F0502020204030204" pitchFamily="34" charset="0"/>
              </a:rPr>
            </a:br>
            <a:br>
              <a:rPr lang="en-GB" dirty="0">
                <a:ea typeface="Calibri" panose="020F0502020204030204" pitchFamily="34" charset="0"/>
                <a:cs typeface="Calibri" panose="020F0502020204030204" pitchFamily="34" charset="0"/>
              </a:rPr>
            </a:br>
            <a:r>
              <a:rPr lang="en-GB" dirty="0">
                <a:ea typeface="Calibri" panose="020F0502020204030204" pitchFamily="34" charset="0"/>
                <a:cs typeface="Calibri" panose="020F0502020204030204" pitchFamily="34" charset="0"/>
              </a:rPr>
              <a:t>I suggest to keep titles lower-case, with the bar underneath at a fixed position and length (see next slides for examples)</a:t>
            </a:r>
          </a:p>
        </p:txBody>
      </p:sp>
      <p:sp>
        <p:nvSpPr>
          <p:cNvPr id="3" name="Rectangle 2">
            <a:extLst>
              <a:ext uri="{FF2B5EF4-FFF2-40B4-BE49-F238E27FC236}">
                <a16:creationId xmlns:a16="http://schemas.microsoft.com/office/drawing/2014/main" id="{9CF11936-2C6F-8FA0-7A15-4FC3D936AAC7}"/>
              </a:ext>
            </a:extLst>
          </p:cNvPr>
          <p:cNvSpPr/>
          <p:nvPr/>
        </p:nvSpPr>
        <p:spPr>
          <a:xfrm>
            <a:off x="6976070" y="1401586"/>
            <a:ext cx="3299967" cy="1754327"/>
          </a:xfrm>
          <a:prstGeom prst="rect">
            <a:avLst/>
          </a:prstGeom>
          <a:solidFill>
            <a:srgbClr val="DCEAF7"/>
          </a:solidFill>
          <a:ln>
            <a:no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alibri" panose="020F0502020204030204" pitchFamily="34" charset="0"/>
                <a:ea typeface="Calibri" panose="020F0502020204030204" pitchFamily="34" charset="0"/>
                <a:cs typeface="Calibri" panose="020F0502020204030204" pitchFamily="34" charset="0"/>
              </a:rPr>
              <a:t>Main pop-up message goes here, aim to use it only once per slide</a:t>
            </a:r>
          </a:p>
        </p:txBody>
      </p:sp>
      <p:sp>
        <p:nvSpPr>
          <p:cNvPr id="4" name="Rectangle 3">
            <a:extLst>
              <a:ext uri="{FF2B5EF4-FFF2-40B4-BE49-F238E27FC236}">
                <a16:creationId xmlns:a16="http://schemas.microsoft.com/office/drawing/2014/main" id="{A8EFDE28-8A8B-FC1E-2EAE-7A387C3D140D}"/>
              </a:ext>
            </a:extLst>
          </p:cNvPr>
          <p:cNvSpPr/>
          <p:nvPr/>
        </p:nvSpPr>
        <p:spPr>
          <a:xfrm>
            <a:off x="7050812" y="3429000"/>
            <a:ext cx="3225226" cy="1056373"/>
          </a:xfrm>
          <a:prstGeom prst="rect">
            <a:avLst/>
          </a:prstGeom>
          <a:solidFill>
            <a:schemeClr val="bg1"/>
          </a:solidFill>
          <a:ln>
            <a:solidFill>
              <a:srgbClr val="F5F8FA"/>
            </a:solid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alibri" panose="020F0502020204030204" pitchFamily="34" charset="0"/>
                <a:ea typeface="Calibri" panose="020F0502020204030204" pitchFamily="34" charset="0"/>
                <a:cs typeface="Calibri" panose="020F0502020204030204" pitchFamily="34" charset="0"/>
              </a:rPr>
              <a:t>Other remarks here in white</a:t>
            </a:r>
          </a:p>
        </p:txBody>
      </p:sp>
      <p:sp>
        <p:nvSpPr>
          <p:cNvPr id="5" name="Rectangle 4">
            <a:extLst>
              <a:ext uri="{FF2B5EF4-FFF2-40B4-BE49-F238E27FC236}">
                <a16:creationId xmlns:a16="http://schemas.microsoft.com/office/drawing/2014/main" id="{5A0E0E4B-1D47-68EE-F074-DB35279ECF09}"/>
              </a:ext>
            </a:extLst>
          </p:cNvPr>
          <p:cNvSpPr/>
          <p:nvPr/>
        </p:nvSpPr>
        <p:spPr>
          <a:xfrm>
            <a:off x="7050812" y="4758460"/>
            <a:ext cx="3225226" cy="1056373"/>
          </a:xfrm>
          <a:prstGeom prst="rect">
            <a:avLst/>
          </a:prstGeom>
          <a:solidFill>
            <a:schemeClr val="bg1"/>
          </a:solidFill>
          <a:ln>
            <a:solidFill>
              <a:srgbClr val="F5F8FA"/>
            </a:solid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alibri" panose="020F0502020204030204" pitchFamily="34" charset="0"/>
                <a:ea typeface="Calibri" panose="020F0502020204030204" pitchFamily="34" charset="0"/>
                <a:cs typeface="Calibri" panose="020F0502020204030204" pitchFamily="34" charset="0"/>
              </a:rPr>
              <a:t>Readers will first focus on the blue one, then the white ones</a:t>
            </a:r>
          </a:p>
        </p:txBody>
      </p:sp>
    </p:spTree>
    <p:extLst>
      <p:ext uri="{BB962C8B-B14F-4D97-AF65-F5344CB8AC3E}">
        <p14:creationId xmlns:p14="http://schemas.microsoft.com/office/powerpoint/2010/main" val="1210317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1B32F-164C-3B17-0DA3-166C94D1E4E7}"/>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2315B186-5089-E5BF-9CB6-FE36144B9D7D}"/>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88C5689-4A50-3DCD-3DE7-F8F55515930C}"/>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markers</a:t>
            </a:r>
          </a:p>
        </p:txBody>
      </p:sp>
      <p:sp>
        <p:nvSpPr>
          <p:cNvPr id="2" name="TextBox 1">
            <a:extLst>
              <a:ext uri="{FF2B5EF4-FFF2-40B4-BE49-F238E27FC236}">
                <a16:creationId xmlns:a16="http://schemas.microsoft.com/office/drawing/2014/main" id="{2188D8CF-8001-FA7F-F271-5F1E55FD9AE4}"/>
              </a:ext>
            </a:extLst>
          </p:cNvPr>
          <p:cNvSpPr txBox="1"/>
          <p:nvPr/>
        </p:nvSpPr>
        <p:spPr>
          <a:xfrm>
            <a:off x="7587379" y="2909198"/>
            <a:ext cx="2968226" cy="646331"/>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Arrows and other markers are cool too</a:t>
            </a:r>
          </a:p>
        </p:txBody>
      </p:sp>
      <p:grpSp>
        <p:nvGrpSpPr>
          <p:cNvPr id="15" name="Group 14">
            <a:extLst>
              <a:ext uri="{FF2B5EF4-FFF2-40B4-BE49-F238E27FC236}">
                <a16:creationId xmlns:a16="http://schemas.microsoft.com/office/drawing/2014/main" id="{C0FDB035-DF0A-E3F3-9B14-26DC84551EB4}"/>
              </a:ext>
            </a:extLst>
          </p:cNvPr>
          <p:cNvGrpSpPr/>
          <p:nvPr/>
        </p:nvGrpSpPr>
        <p:grpSpPr>
          <a:xfrm>
            <a:off x="1823103" y="1954278"/>
            <a:ext cx="4362704" cy="369332"/>
            <a:chOff x="1151931" y="1863697"/>
            <a:chExt cx="4362704" cy="369332"/>
          </a:xfrm>
        </p:grpSpPr>
        <p:sp>
          <p:nvSpPr>
            <p:cNvPr id="9" name="TextBox 8">
              <a:extLst>
                <a:ext uri="{FF2B5EF4-FFF2-40B4-BE49-F238E27FC236}">
                  <a16:creationId xmlns:a16="http://schemas.microsoft.com/office/drawing/2014/main" id="{8A4EADFC-0BD9-A075-05F6-1F770D120E0B}"/>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You can use those dots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F67A29BD-B8BB-89FE-1283-D81DE1E5A87C}"/>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931D2AD8-508D-849E-D7D5-9781961104D8}"/>
              </a:ext>
            </a:extLst>
          </p:cNvPr>
          <p:cNvGrpSpPr/>
          <p:nvPr/>
        </p:nvGrpSpPr>
        <p:grpSpPr>
          <a:xfrm>
            <a:off x="1823103" y="2591894"/>
            <a:ext cx="4362704" cy="369332"/>
            <a:chOff x="1151931" y="1863697"/>
            <a:chExt cx="4362704" cy="369332"/>
          </a:xfrm>
        </p:grpSpPr>
        <p:sp>
          <p:nvSpPr>
            <p:cNvPr id="17" name="TextBox 16">
              <a:extLst>
                <a:ext uri="{FF2B5EF4-FFF2-40B4-BE49-F238E27FC236}">
                  <a16:creationId xmlns:a16="http://schemas.microsoft.com/office/drawing/2014/main" id="{9CC29F03-0D1F-63A8-19BB-D2D9B044E45E}"/>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are nice to organize stuff</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D400A42A-0534-4155-AF98-60AC37324FA3}"/>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F368118D-8A3C-5F28-23F0-CBF773CF1B72}"/>
              </a:ext>
            </a:extLst>
          </p:cNvPr>
          <p:cNvGrpSpPr/>
          <p:nvPr/>
        </p:nvGrpSpPr>
        <p:grpSpPr>
          <a:xfrm>
            <a:off x="1823103" y="3197050"/>
            <a:ext cx="4362704" cy="369332"/>
            <a:chOff x="1151931" y="1863697"/>
            <a:chExt cx="4362704" cy="369332"/>
          </a:xfrm>
        </p:grpSpPr>
        <p:sp>
          <p:nvSpPr>
            <p:cNvPr id="20" name="TextBox 19">
              <a:extLst>
                <a:ext uri="{FF2B5EF4-FFF2-40B4-BE49-F238E27FC236}">
                  <a16:creationId xmlns:a16="http://schemas.microsoft.com/office/drawing/2014/main" id="{DA4F67C9-FC5D-9C9B-D2D0-691853DCDCF6}"/>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Probably 1-5 per slide is optimal</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27811137-745D-0A6A-8821-DD622DCE23C0}"/>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4D262205-14D3-4E27-EE68-F71294F0FBCC}"/>
              </a:ext>
            </a:extLst>
          </p:cNvPr>
          <p:cNvGrpSpPr/>
          <p:nvPr/>
        </p:nvGrpSpPr>
        <p:grpSpPr>
          <a:xfrm>
            <a:off x="1823103" y="3833695"/>
            <a:ext cx="4362704" cy="369332"/>
            <a:chOff x="1151931" y="1863697"/>
            <a:chExt cx="4362704" cy="369332"/>
          </a:xfrm>
        </p:grpSpPr>
        <p:sp>
          <p:nvSpPr>
            <p:cNvPr id="23" name="TextBox 22">
              <a:extLst>
                <a:ext uri="{FF2B5EF4-FFF2-40B4-BE49-F238E27FC236}">
                  <a16:creationId xmlns:a16="http://schemas.microsoft.com/office/drawing/2014/main" id="{95BA136C-FFAE-9229-43C6-4FA6BF8278A8}"/>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They can also have numbers</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A7D8A075-0839-AFB5-66E4-0FE3A8F68926}"/>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a:t>
              </a:r>
            </a:p>
          </p:txBody>
        </p:sp>
      </p:grpSp>
      <p:grpSp>
        <p:nvGrpSpPr>
          <p:cNvPr id="26" name="Group 25">
            <a:extLst>
              <a:ext uri="{FF2B5EF4-FFF2-40B4-BE49-F238E27FC236}">
                <a16:creationId xmlns:a16="http://schemas.microsoft.com/office/drawing/2014/main" id="{8B1243A4-BA55-46E4-F37A-4DBE35D22FCA}"/>
              </a:ext>
            </a:extLst>
          </p:cNvPr>
          <p:cNvGrpSpPr/>
          <p:nvPr/>
        </p:nvGrpSpPr>
        <p:grpSpPr>
          <a:xfrm>
            <a:off x="1823103" y="4470340"/>
            <a:ext cx="4362704" cy="369332"/>
            <a:chOff x="1151931" y="1863697"/>
            <a:chExt cx="4362704" cy="369332"/>
          </a:xfrm>
        </p:grpSpPr>
        <p:sp>
          <p:nvSpPr>
            <p:cNvPr id="30" name="TextBox 29">
              <a:extLst>
                <a:ext uri="{FF2B5EF4-FFF2-40B4-BE49-F238E27FC236}">
                  <a16:creationId xmlns:a16="http://schemas.microsoft.com/office/drawing/2014/main" id="{1569A606-6665-C6F4-9B8E-A304FED6B858}"/>
                </a:ext>
              </a:extLst>
            </p:cNvPr>
            <p:cNvSpPr txBox="1"/>
            <p:nvPr/>
          </p:nvSpPr>
          <p:spPr>
            <a:xfrm>
              <a:off x="1450635" y="1863697"/>
              <a:ext cx="4064000"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If that’s your thing</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9FE6B647-33A7-B1ED-B91B-402EE4BA7F29}"/>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a:t>
              </a:r>
            </a:p>
          </p:txBody>
        </p:sp>
      </p:grpSp>
      <p:sp>
        <p:nvSpPr>
          <p:cNvPr id="36" name="Arrow: Right 35">
            <a:extLst>
              <a:ext uri="{FF2B5EF4-FFF2-40B4-BE49-F238E27FC236}">
                <a16:creationId xmlns:a16="http://schemas.microsoft.com/office/drawing/2014/main" id="{8A6056AF-3DC3-357F-88F0-20404A5F5E51}"/>
              </a:ext>
            </a:extLst>
          </p:cNvPr>
          <p:cNvSpPr/>
          <p:nvPr/>
        </p:nvSpPr>
        <p:spPr>
          <a:xfrm>
            <a:off x="6669804" y="2806148"/>
            <a:ext cx="473456" cy="244754"/>
          </a:xfrm>
          <a:prstGeom prst="rightArrow">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Isosceles Triangle 40">
            <a:extLst>
              <a:ext uri="{FF2B5EF4-FFF2-40B4-BE49-F238E27FC236}">
                <a16:creationId xmlns:a16="http://schemas.microsoft.com/office/drawing/2014/main" id="{144EA81A-A496-E226-D050-4F38881F62E8}"/>
              </a:ext>
            </a:extLst>
          </p:cNvPr>
          <p:cNvSpPr/>
          <p:nvPr/>
        </p:nvSpPr>
        <p:spPr>
          <a:xfrm rot="5400000">
            <a:off x="6712749" y="3330008"/>
            <a:ext cx="347688" cy="298704"/>
          </a:xfrm>
          <a:prstGeom prst="triangl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98038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04EC0-3A71-6188-4A40-7208B170686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3375196B-B93D-9CD3-6338-FE233276EB9A}"/>
              </a:ext>
            </a:extLst>
          </p:cNvPr>
          <p:cNvSpPr txBox="1"/>
          <p:nvPr/>
        </p:nvSpPr>
        <p:spPr>
          <a:xfrm>
            <a:off x="3530967" y="3976635"/>
            <a:ext cx="5130066" cy="1754326"/>
          </a:xfrm>
          <a:prstGeom prst="rect">
            <a:avLst/>
          </a:prstGeom>
          <a:noFill/>
        </p:spPr>
        <p:txBody>
          <a:bodyPr wrap="square" rtlCol="0">
            <a:spAutoFit/>
          </a:bodyPr>
          <a:lstStyle/>
          <a:p>
            <a:pPr algn="ctr"/>
            <a:r>
              <a:rPr lang="en-GB" dirty="0">
                <a:ea typeface="Calibri" panose="020F0502020204030204" pitchFamily="34" charset="0"/>
                <a:cs typeface="Calibri" panose="020F0502020204030204" pitchFamily="34" charset="0"/>
              </a:rPr>
              <a:t>Here are some suggestions for light/dark mode, keeping the blue border for some shared identity. </a:t>
            </a:r>
            <a:br>
              <a:rPr lang="en-GB" dirty="0">
                <a:ea typeface="Calibri" panose="020F0502020204030204" pitchFamily="34" charset="0"/>
                <a:cs typeface="Calibri" panose="020F0502020204030204" pitchFamily="34" charset="0"/>
              </a:rPr>
            </a:br>
            <a:br>
              <a:rPr lang="en-GB" dirty="0">
                <a:ea typeface="Calibri" panose="020F0502020204030204" pitchFamily="34" charset="0"/>
                <a:cs typeface="Calibri" panose="020F0502020204030204" pitchFamily="34" charset="0"/>
              </a:rPr>
            </a:br>
            <a:r>
              <a:rPr lang="en-GB" dirty="0">
                <a:ea typeface="Calibri" panose="020F0502020204030204" pitchFamily="34" charset="0"/>
                <a:cs typeface="Calibri" panose="020F0502020204030204" pitchFamily="34" charset="0"/>
              </a:rPr>
              <a:t>Everyone has their own preferences for code blocks, so use whatever you think is nice and adapt the </a:t>
            </a:r>
            <a:r>
              <a:rPr lang="en-GB" dirty="0" err="1">
                <a:ea typeface="Calibri" panose="020F0502020204030204" pitchFamily="34" charset="0"/>
                <a:cs typeface="Calibri" panose="020F0502020204030204" pitchFamily="34" charset="0"/>
              </a:rPr>
              <a:t>colors</a:t>
            </a:r>
            <a:r>
              <a:rPr lang="en-GB" dirty="0">
                <a:ea typeface="Calibri" panose="020F0502020204030204" pitchFamily="34" charset="0"/>
                <a:cs typeface="Calibri" panose="020F0502020204030204" pitchFamily="34" charset="0"/>
              </a:rPr>
              <a:t> as you see fit.</a:t>
            </a:r>
          </a:p>
        </p:txBody>
      </p:sp>
      <p:sp>
        <p:nvSpPr>
          <p:cNvPr id="37" name="Rectangle 36">
            <a:extLst>
              <a:ext uri="{FF2B5EF4-FFF2-40B4-BE49-F238E27FC236}">
                <a16:creationId xmlns:a16="http://schemas.microsoft.com/office/drawing/2014/main" id="{69DC5F18-8EEB-73D0-231C-EA469C459ED6}"/>
              </a:ext>
            </a:extLst>
          </p:cNvPr>
          <p:cNvSpPr/>
          <p:nvPr/>
        </p:nvSpPr>
        <p:spPr>
          <a:xfrm>
            <a:off x="356262" y="1273343"/>
            <a:ext cx="5556197" cy="1930800"/>
          </a:xfrm>
          <a:prstGeom prst="rect">
            <a:avLst/>
          </a:prstGeom>
          <a:solidFill>
            <a:srgbClr val="F5F8FA"/>
          </a:solidFill>
          <a:ln>
            <a:no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mean_two_numbers &lt;- function(num_1, num_2) {</a:t>
            </a:r>
          </a:p>
          <a:p>
            <a:r>
              <a:rPr lang="en-US" dirty="0">
                <a:solidFill>
                  <a:schemeClr val="accent6"/>
                </a:solidFill>
                <a:latin typeface="Consolas" panose="020B0609020204030204" pitchFamily="49" charset="0"/>
              </a:rPr>
              <a:t>  # Function with return </a:t>
            </a:r>
          </a:p>
          <a:p>
            <a:r>
              <a:rPr lang="en-US" dirty="0">
                <a:solidFill>
                  <a:schemeClr val="tx1"/>
                </a:solidFill>
                <a:latin typeface="Consolas" panose="020B0609020204030204" pitchFamily="49" charset="0"/>
              </a:rPr>
              <a:t>  mean &lt;- (num_1 + num_2) / 2</a:t>
            </a:r>
          </a:p>
          <a:p>
            <a:r>
              <a:rPr lang="en-US" dirty="0">
                <a:solidFill>
                  <a:schemeClr val="tx1"/>
                </a:solidFill>
                <a:latin typeface="Consolas" panose="020B0609020204030204" pitchFamily="49" charset="0"/>
              </a:rPr>
              <a:t>  return (mean)</a:t>
            </a:r>
          </a:p>
          <a:p>
            <a:r>
              <a:rPr lang="en-US" dirty="0">
                <a:solidFill>
                  <a:schemeClr val="tx1"/>
                </a:solidFill>
                <a:latin typeface="Consolas" panose="020B0609020204030204" pitchFamily="49" charset="0"/>
              </a:rPr>
              <a:t>}</a:t>
            </a:r>
            <a:br>
              <a:rPr lang="en-US" dirty="0">
                <a:solidFill>
                  <a:schemeClr val="tx1"/>
                </a:solidFill>
                <a:latin typeface="Consolas" panose="020B0609020204030204" pitchFamily="49" charset="0"/>
              </a:rPr>
            </a:br>
            <a:endParaRPr lang="en-US" dirty="0">
              <a:solidFill>
                <a:schemeClr val="tx1"/>
              </a:solidFill>
              <a:latin typeface="Consolas" panose="020B0609020204030204" pitchFamily="49" charset="0"/>
            </a:endParaRPr>
          </a:p>
        </p:txBody>
      </p:sp>
      <p:cxnSp>
        <p:nvCxnSpPr>
          <p:cNvPr id="2" name="Straight Connector 1">
            <a:extLst>
              <a:ext uri="{FF2B5EF4-FFF2-40B4-BE49-F238E27FC236}">
                <a16:creationId xmlns:a16="http://schemas.microsoft.com/office/drawing/2014/main" id="{439750F2-632F-1E6A-0E1C-D43F86B887BE}"/>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2745F04-3ECD-CB4B-2569-3EA8BBBD944D}"/>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code blocks</a:t>
            </a:r>
          </a:p>
        </p:txBody>
      </p:sp>
      <p:sp>
        <p:nvSpPr>
          <p:cNvPr id="7" name="Rectangle 6">
            <a:extLst>
              <a:ext uri="{FF2B5EF4-FFF2-40B4-BE49-F238E27FC236}">
                <a16:creationId xmlns:a16="http://schemas.microsoft.com/office/drawing/2014/main" id="{300B3851-2667-2479-59FE-0B30F6372850}"/>
              </a:ext>
            </a:extLst>
          </p:cNvPr>
          <p:cNvSpPr/>
          <p:nvPr/>
        </p:nvSpPr>
        <p:spPr>
          <a:xfrm>
            <a:off x="6279541" y="1273343"/>
            <a:ext cx="5556197" cy="1930800"/>
          </a:xfrm>
          <a:prstGeom prst="rect">
            <a:avLst/>
          </a:prstGeom>
          <a:solidFill>
            <a:schemeClr val="tx1">
              <a:lumMod val="95000"/>
              <a:lumOff val="5000"/>
            </a:schemeClr>
          </a:solidFill>
          <a:ln>
            <a:no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dirty="0">
                <a:solidFill>
                  <a:schemeClr val="bg1"/>
                </a:solidFill>
                <a:latin typeface="Consolas" panose="020B0609020204030204" pitchFamily="49" charset="0"/>
              </a:rPr>
            </a:br>
            <a:r>
              <a:rPr lang="en-US" dirty="0">
                <a:solidFill>
                  <a:schemeClr val="bg1"/>
                </a:solidFill>
                <a:latin typeface="Consolas" panose="020B0609020204030204" pitchFamily="49" charset="0"/>
              </a:rPr>
              <a:t>mean_two_numbers &lt;- function(num_1, num_2) {</a:t>
            </a:r>
          </a:p>
          <a:p>
            <a:r>
              <a:rPr lang="en-US" dirty="0">
                <a:solidFill>
                  <a:schemeClr val="accent6"/>
                </a:solidFill>
                <a:latin typeface="Consolas" panose="020B0609020204030204" pitchFamily="49" charset="0"/>
              </a:rPr>
              <a:t>  # Function with return </a:t>
            </a:r>
          </a:p>
          <a:p>
            <a:r>
              <a:rPr lang="en-US" dirty="0">
                <a:solidFill>
                  <a:schemeClr val="bg1"/>
                </a:solidFill>
                <a:latin typeface="Consolas" panose="020B0609020204030204" pitchFamily="49" charset="0"/>
              </a:rPr>
              <a:t>  mean &lt;- (num_1 + num_2) / 2</a:t>
            </a:r>
          </a:p>
          <a:p>
            <a:r>
              <a:rPr lang="en-US" dirty="0">
                <a:solidFill>
                  <a:schemeClr val="bg1"/>
                </a:solidFill>
                <a:latin typeface="Consolas" panose="020B0609020204030204" pitchFamily="49" charset="0"/>
              </a:rPr>
              <a:t>  return (mean)</a:t>
            </a:r>
          </a:p>
          <a:p>
            <a:r>
              <a:rPr lang="en-US" dirty="0">
                <a:solidFill>
                  <a:schemeClr val="bg1"/>
                </a:solidFill>
                <a:latin typeface="Consolas" panose="020B0609020204030204" pitchFamily="49" charset="0"/>
              </a:rPr>
              <a:t>}</a:t>
            </a:r>
            <a:br>
              <a:rPr lang="en-US" dirty="0">
                <a:solidFill>
                  <a:schemeClr val="bg1"/>
                </a:solidFill>
                <a:latin typeface="Consolas" panose="020B0609020204030204" pitchFamily="49" charset="0"/>
              </a:rPr>
            </a:br>
            <a:endParaRPr lang="en-US" dirty="0">
              <a:solidFill>
                <a:schemeClr val="bg1"/>
              </a:solidFill>
              <a:latin typeface="Consolas" panose="020B0609020204030204" pitchFamily="49" charset="0"/>
            </a:endParaRPr>
          </a:p>
        </p:txBody>
      </p:sp>
    </p:spTree>
    <p:extLst>
      <p:ext uri="{BB962C8B-B14F-4D97-AF65-F5344CB8AC3E}">
        <p14:creationId xmlns:p14="http://schemas.microsoft.com/office/powerpoint/2010/main" val="3533677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AF89E-7B89-3FCE-FCA9-81613FAB85EF}"/>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E3A34BB-6BFB-2B3F-F6F0-357C63C5C09C}"/>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F97064A-6E2B-AD0A-116F-CE588D75FA94}"/>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slide composition</a:t>
            </a:r>
          </a:p>
        </p:txBody>
      </p:sp>
      <p:sp>
        <p:nvSpPr>
          <p:cNvPr id="39" name="TextBox 38">
            <a:extLst>
              <a:ext uri="{FF2B5EF4-FFF2-40B4-BE49-F238E27FC236}">
                <a16:creationId xmlns:a16="http://schemas.microsoft.com/office/drawing/2014/main" id="{0F97DB62-E261-513B-EBE1-7D9CF524C302}"/>
              </a:ext>
            </a:extLst>
          </p:cNvPr>
          <p:cNvSpPr txBox="1"/>
          <p:nvPr/>
        </p:nvSpPr>
        <p:spPr>
          <a:xfrm>
            <a:off x="7237771" y="1908344"/>
            <a:ext cx="4064000" cy="923330"/>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It’s best to centralize content, make things symmetrical, or use the </a:t>
            </a:r>
            <a:r>
              <a:rPr lang="en-GB" dirty="0">
                <a:highlight>
                  <a:srgbClr val="CEEBF8"/>
                </a:highlight>
                <a:ea typeface="Calibri" panose="020F0502020204030204" pitchFamily="34" charset="0"/>
                <a:cs typeface="Calibri" panose="020F0502020204030204" pitchFamily="34" charset="0"/>
              </a:rPr>
              <a:t>rule of thirds</a:t>
            </a:r>
            <a:r>
              <a:rPr lang="en-GB" dirty="0">
                <a:ea typeface="Calibri" panose="020F0502020204030204" pitchFamily="34" charset="0"/>
                <a:cs typeface="Calibri" panose="020F0502020204030204" pitchFamily="34" charset="0"/>
              </a:rPr>
              <a:t>. </a:t>
            </a:r>
          </a:p>
        </p:txBody>
      </p:sp>
      <p:grpSp>
        <p:nvGrpSpPr>
          <p:cNvPr id="3" name="Group 2">
            <a:extLst>
              <a:ext uri="{FF2B5EF4-FFF2-40B4-BE49-F238E27FC236}">
                <a16:creationId xmlns:a16="http://schemas.microsoft.com/office/drawing/2014/main" id="{6CDD53A5-9325-2419-7AE4-89BCD6D53B8B}"/>
              </a:ext>
            </a:extLst>
          </p:cNvPr>
          <p:cNvGrpSpPr/>
          <p:nvPr/>
        </p:nvGrpSpPr>
        <p:grpSpPr>
          <a:xfrm>
            <a:off x="6939067" y="1503698"/>
            <a:ext cx="4362704" cy="369332"/>
            <a:chOff x="1151931" y="1863697"/>
            <a:chExt cx="4362704" cy="369332"/>
          </a:xfrm>
        </p:grpSpPr>
        <p:sp>
          <p:nvSpPr>
            <p:cNvPr id="4" name="TextBox 3">
              <a:extLst>
                <a:ext uri="{FF2B5EF4-FFF2-40B4-BE49-F238E27FC236}">
                  <a16:creationId xmlns:a16="http://schemas.microsoft.com/office/drawing/2014/main" id="{60ABBFA5-7A3C-30D2-08E5-A7FA3D2FC1A6}"/>
                </a:ext>
              </a:extLst>
            </p:cNvPr>
            <p:cNvSpPr txBox="1"/>
            <p:nvPr/>
          </p:nvSpPr>
          <p:spPr>
            <a:xfrm>
              <a:off x="1450635" y="1863697"/>
              <a:ext cx="4064000" cy="369332"/>
            </a:xfrm>
            <a:prstGeom prst="rect">
              <a:avLst/>
            </a:prstGeom>
            <a:noFill/>
          </p:spPr>
          <p:txBody>
            <a:bodyPr wrap="square" rtlCol="0">
              <a:spAutoFit/>
            </a:bodyPr>
            <a:lstStyle/>
            <a:p>
              <a:r>
                <a:rPr lang="en-GB" b="1" dirty="0">
                  <a:latin typeface="Calibri" panose="020F0502020204030204" pitchFamily="34" charset="0"/>
                  <a:ea typeface="Calibri" panose="020F0502020204030204" pitchFamily="34" charset="0"/>
                  <a:cs typeface="Calibri" panose="020F0502020204030204" pitchFamily="34" charset="0"/>
                </a:rPr>
                <a:t>Organize around a layout</a:t>
              </a:r>
              <a:endParaRPr lang="en-GB"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Oval 4">
              <a:extLst>
                <a:ext uri="{FF2B5EF4-FFF2-40B4-BE49-F238E27FC236}">
                  <a16:creationId xmlns:a16="http://schemas.microsoft.com/office/drawing/2014/main" id="{D1166738-D7DB-D987-C799-BC3CD0CC8941}"/>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1" name="TextBox 10">
            <a:extLst>
              <a:ext uri="{FF2B5EF4-FFF2-40B4-BE49-F238E27FC236}">
                <a16:creationId xmlns:a16="http://schemas.microsoft.com/office/drawing/2014/main" id="{4159F44A-E86E-2E0B-5BD0-4BB8AAAF5193}"/>
              </a:ext>
            </a:extLst>
          </p:cNvPr>
          <p:cNvSpPr txBox="1"/>
          <p:nvPr/>
        </p:nvSpPr>
        <p:spPr>
          <a:xfrm>
            <a:off x="1690440" y="1873030"/>
            <a:ext cx="4064000" cy="1200329"/>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If a slide looks too full, viewers tend to have visual fatigue and not know where to look. Break things down in two or more slides if needed.</a:t>
            </a:r>
          </a:p>
        </p:txBody>
      </p:sp>
      <p:grpSp>
        <p:nvGrpSpPr>
          <p:cNvPr id="12" name="Group 11">
            <a:extLst>
              <a:ext uri="{FF2B5EF4-FFF2-40B4-BE49-F238E27FC236}">
                <a16:creationId xmlns:a16="http://schemas.microsoft.com/office/drawing/2014/main" id="{4FC21AD2-43F1-9CC8-A090-DCBDB13CA89B}"/>
              </a:ext>
            </a:extLst>
          </p:cNvPr>
          <p:cNvGrpSpPr/>
          <p:nvPr/>
        </p:nvGrpSpPr>
        <p:grpSpPr>
          <a:xfrm>
            <a:off x="1391736" y="1468384"/>
            <a:ext cx="4362704" cy="369332"/>
            <a:chOff x="1151931" y="1863697"/>
            <a:chExt cx="4362704" cy="369332"/>
          </a:xfrm>
        </p:grpSpPr>
        <p:sp>
          <p:nvSpPr>
            <p:cNvPr id="27" name="TextBox 26">
              <a:extLst>
                <a:ext uri="{FF2B5EF4-FFF2-40B4-BE49-F238E27FC236}">
                  <a16:creationId xmlns:a16="http://schemas.microsoft.com/office/drawing/2014/main" id="{18E2C958-F60A-83DC-16C7-7EEAF86D0A56}"/>
                </a:ext>
              </a:extLst>
            </p:cNvPr>
            <p:cNvSpPr txBox="1"/>
            <p:nvPr/>
          </p:nvSpPr>
          <p:spPr>
            <a:xfrm>
              <a:off x="1450635" y="1863697"/>
              <a:ext cx="4064000" cy="369332"/>
            </a:xfrm>
            <a:prstGeom prst="rect">
              <a:avLst/>
            </a:prstGeom>
            <a:noFill/>
          </p:spPr>
          <p:txBody>
            <a:bodyPr wrap="square" rtlCol="0">
              <a:spAutoFit/>
            </a:bodyPr>
            <a:lstStyle/>
            <a:p>
              <a:r>
                <a:rPr lang="en-GB" b="1" dirty="0">
                  <a:latin typeface="Calibri" panose="020F0502020204030204" pitchFamily="34" charset="0"/>
                  <a:ea typeface="Calibri" panose="020F0502020204030204" pitchFamily="34" charset="0"/>
                  <a:cs typeface="Calibri" panose="020F0502020204030204" pitchFamily="34" charset="0"/>
                </a:rPr>
                <a:t>Preserve empty space</a:t>
              </a:r>
              <a:endParaRPr lang="en-GB"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id="{F9E67B0D-26D4-AB2F-D122-E4D4667398F3}"/>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9" name="Rectangle 28">
            <a:extLst>
              <a:ext uri="{FF2B5EF4-FFF2-40B4-BE49-F238E27FC236}">
                <a16:creationId xmlns:a16="http://schemas.microsoft.com/office/drawing/2014/main" id="{3E59C6FF-3004-C7C0-6B1A-7CED74C08F84}"/>
              </a:ext>
            </a:extLst>
          </p:cNvPr>
          <p:cNvSpPr/>
          <p:nvPr/>
        </p:nvSpPr>
        <p:spPr>
          <a:xfrm>
            <a:off x="7088419" y="3695618"/>
            <a:ext cx="4213352" cy="1823225"/>
          </a:xfrm>
          <a:prstGeom prst="rect">
            <a:avLst/>
          </a:prstGeom>
          <a:solidFill>
            <a:srgbClr val="DCEAF7"/>
          </a:solidFill>
          <a:ln>
            <a:solidFill>
              <a:srgbClr val="F5F8FA"/>
            </a:solidFill>
          </a:ln>
          <a:effectLst>
            <a:outerShdw dist="50800" dir="2400000" algn="tl" rotWithShape="0">
              <a:srgbClr val="46B1E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rule of thirds is a design technique that places the main subject off-center within an imaginary 3x3 grid to make the visual more dynamic.</a:t>
            </a:r>
            <a:endParaRPr lang="en-GB"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5FBBC38F-7F89-37EE-FEAC-3B490F37E6DE}"/>
              </a:ext>
            </a:extLst>
          </p:cNvPr>
          <p:cNvSpPr txBox="1"/>
          <p:nvPr/>
        </p:nvSpPr>
        <p:spPr>
          <a:xfrm>
            <a:off x="1690440" y="4247530"/>
            <a:ext cx="4064000" cy="1200329"/>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Reusing the same layout too many times makes things predictable and boring. The slides below show different layout ideas for a variety of use cases.</a:t>
            </a:r>
          </a:p>
        </p:txBody>
      </p:sp>
      <p:grpSp>
        <p:nvGrpSpPr>
          <p:cNvPr id="33" name="Group 32">
            <a:extLst>
              <a:ext uri="{FF2B5EF4-FFF2-40B4-BE49-F238E27FC236}">
                <a16:creationId xmlns:a16="http://schemas.microsoft.com/office/drawing/2014/main" id="{2D06FEDA-55DD-24FC-AA76-3312B60C019E}"/>
              </a:ext>
            </a:extLst>
          </p:cNvPr>
          <p:cNvGrpSpPr/>
          <p:nvPr/>
        </p:nvGrpSpPr>
        <p:grpSpPr>
          <a:xfrm>
            <a:off x="1391736" y="3842884"/>
            <a:ext cx="4362704" cy="369332"/>
            <a:chOff x="1151931" y="1863697"/>
            <a:chExt cx="4362704" cy="369332"/>
          </a:xfrm>
        </p:grpSpPr>
        <p:sp>
          <p:nvSpPr>
            <p:cNvPr id="34" name="TextBox 33">
              <a:extLst>
                <a:ext uri="{FF2B5EF4-FFF2-40B4-BE49-F238E27FC236}">
                  <a16:creationId xmlns:a16="http://schemas.microsoft.com/office/drawing/2014/main" id="{99D0D970-34A1-AB72-2CA6-F638ACD86B93}"/>
                </a:ext>
              </a:extLst>
            </p:cNvPr>
            <p:cNvSpPr txBox="1"/>
            <p:nvPr/>
          </p:nvSpPr>
          <p:spPr>
            <a:xfrm>
              <a:off x="1450635" y="1863697"/>
              <a:ext cx="4064000" cy="369332"/>
            </a:xfrm>
            <a:prstGeom prst="rect">
              <a:avLst/>
            </a:prstGeom>
            <a:noFill/>
          </p:spPr>
          <p:txBody>
            <a:bodyPr wrap="square" rtlCol="0">
              <a:spAutoFit/>
            </a:bodyPr>
            <a:lstStyle/>
            <a:p>
              <a:r>
                <a:rPr lang="en-GB" b="1" dirty="0">
                  <a:latin typeface="Calibri" panose="020F0502020204030204" pitchFamily="34" charset="0"/>
                  <a:ea typeface="Calibri" panose="020F0502020204030204" pitchFamily="34" charset="0"/>
                  <a:cs typeface="Calibri" panose="020F0502020204030204" pitchFamily="34" charset="0"/>
                </a:rPr>
                <a:t>Mix things up</a:t>
              </a:r>
              <a:endParaRPr lang="en-GB"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6DBDC9A0-A68B-DAA4-BB0F-80AFE6A7520B}"/>
                </a:ext>
              </a:extLst>
            </p:cNvPr>
            <p:cNvSpPr/>
            <p:nvPr/>
          </p:nvSpPr>
          <p:spPr>
            <a:xfrm>
              <a:off x="1151931" y="1899011"/>
              <a:ext cx="298704" cy="298704"/>
            </a:xfrm>
            <a:prstGeom prst="ellipse">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2988253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62D8-A13F-AC56-3915-971694382F6D}"/>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8CD7057B-FB13-20C9-11D7-EF5A83C88557}"/>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82FC1F6-B983-9C9D-33EB-C1056A6EBE72}"/>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one picture</a:t>
            </a:r>
          </a:p>
        </p:txBody>
      </p:sp>
      <p:sp>
        <p:nvSpPr>
          <p:cNvPr id="39" name="TextBox 38">
            <a:extLst>
              <a:ext uri="{FF2B5EF4-FFF2-40B4-BE49-F238E27FC236}">
                <a16:creationId xmlns:a16="http://schemas.microsoft.com/office/drawing/2014/main" id="{8FE9DBAB-6751-0BAA-C76F-6F0E70C60B37}"/>
              </a:ext>
            </a:extLst>
          </p:cNvPr>
          <p:cNvSpPr txBox="1"/>
          <p:nvPr/>
        </p:nvSpPr>
        <p:spPr>
          <a:xfrm>
            <a:off x="6353851" y="2239052"/>
            <a:ext cx="5076150" cy="3139321"/>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If you have only one picture, you might want to add it either to the left or right part of a 3x3 grid so that it draws attention.</a:t>
            </a:r>
            <a:br>
              <a:rPr lang="en-GB" dirty="0">
                <a:ea typeface="Calibri" panose="020F0502020204030204" pitchFamily="34" charset="0"/>
                <a:cs typeface="Calibri" panose="020F0502020204030204" pitchFamily="34" charset="0"/>
              </a:rPr>
            </a:br>
            <a:br>
              <a:rPr lang="en-GB" dirty="0">
                <a:ea typeface="Calibri" panose="020F0502020204030204" pitchFamily="34" charset="0"/>
                <a:cs typeface="Calibri" panose="020F0502020204030204" pitchFamily="34" charset="0"/>
              </a:rPr>
            </a:br>
            <a:r>
              <a:rPr lang="en-GB" dirty="0">
                <a:ea typeface="Calibri" panose="020F0502020204030204" pitchFamily="34" charset="0"/>
                <a:cs typeface="Calibri" panose="020F0502020204030204" pitchFamily="34" charset="0"/>
              </a:rPr>
              <a:t>To copy the formatting of this placeholder you see here to a new picture, select the placeholder, click on the “Home” option on the top menu, and click on the little brush icon (“Format Painter”, third icon from top to bottom next to the big “Paste” button), then click on the image you want to format.</a:t>
            </a:r>
          </a:p>
        </p:txBody>
      </p:sp>
      <p:sp>
        <p:nvSpPr>
          <p:cNvPr id="11" name="TextBox 10">
            <a:extLst>
              <a:ext uri="{FF2B5EF4-FFF2-40B4-BE49-F238E27FC236}">
                <a16:creationId xmlns:a16="http://schemas.microsoft.com/office/drawing/2014/main" id="{D2C083DB-CA86-9B09-0558-D753E9FB34BE}"/>
              </a:ext>
            </a:extLst>
          </p:cNvPr>
          <p:cNvSpPr txBox="1"/>
          <p:nvPr/>
        </p:nvSpPr>
        <p:spPr>
          <a:xfrm>
            <a:off x="762001" y="5462548"/>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1030" name="Picture 6">
            <a:extLst>
              <a:ext uri="{FF2B5EF4-FFF2-40B4-BE49-F238E27FC236}">
                <a16:creationId xmlns:a16="http://schemas.microsoft.com/office/drawing/2014/main" id="{67454C9E-3E17-1315-7164-C007E6911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999" y="1987669"/>
            <a:ext cx="4322763" cy="3369713"/>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327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2AD9F-B8B3-0E19-51D0-950A3C0E01AC}"/>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AC92BCAC-7BC4-E1F9-71ED-60B2A260CFE1}"/>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C023C47-70F8-F945-C025-99C067AC5D56}"/>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one picture</a:t>
            </a:r>
          </a:p>
        </p:txBody>
      </p:sp>
      <p:sp>
        <p:nvSpPr>
          <p:cNvPr id="39" name="TextBox 38">
            <a:extLst>
              <a:ext uri="{FF2B5EF4-FFF2-40B4-BE49-F238E27FC236}">
                <a16:creationId xmlns:a16="http://schemas.microsoft.com/office/drawing/2014/main" id="{C711B327-9CCE-61DA-7321-E4BE1CE3C16F}"/>
              </a:ext>
            </a:extLst>
          </p:cNvPr>
          <p:cNvSpPr txBox="1"/>
          <p:nvPr/>
        </p:nvSpPr>
        <p:spPr>
          <a:xfrm>
            <a:off x="960651" y="1974102"/>
            <a:ext cx="5076150" cy="3139321"/>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If you have only one picture, you might want to add it either to the left or right part of a 3x3 grid so that it draws attention.</a:t>
            </a:r>
            <a:br>
              <a:rPr lang="en-GB" dirty="0">
                <a:ea typeface="Calibri" panose="020F0502020204030204" pitchFamily="34" charset="0"/>
                <a:cs typeface="Calibri" panose="020F0502020204030204" pitchFamily="34" charset="0"/>
              </a:rPr>
            </a:br>
            <a:br>
              <a:rPr lang="en-GB" dirty="0">
                <a:ea typeface="Calibri" panose="020F0502020204030204" pitchFamily="34" charset="0"/>
                <a:cs typeface="Calibri" panose="020F0502020204030204" pitchFamily="34" charset="0"/>
              </a:rPr>
            </a:br>
            <a:r>
              <a:rPr lang="en-GB" dirty="0">
                <a:ea typeface="Calibri" panose="020F0502020204030204" pitchFamily="34" charset="0"/>
                <a:cs typeface="Calibri" panose="020F0502020204030204" pitchFamily="34" charset="0"/>
              </a:rPr>
              <a:t>To copy the formatting of this placeholder you see here to a new picture, select the placeholder, click on the “Home” option on the top menu, and click on the little brush icon (“Format Painter”, third icon from top to bottom next to the big “Paste” button), then click on the image you want to format.</a:t>
            </a:r>
          </a:p>
        </p:txBody>
      </p:sp>
      <p:sp>
        <p:nvSpPr>
          <p:cNvPr id="11" name="TextBox 10">
            <a:extLst>
              <a:ext uri="{FF2B5EF4-FFF2-40B4-BE49-F238E27FC236}">
                <a16:creationId xmlns:a16="http://schemas.microsoft.com/office/drawing/2014/main" id="{0DED71A2-349E-AA7C-5CAB-6143B7A74790}"/>
              </a:ext>
            </a:extLst>
          </p:cNvPr>
          <p:cNvSpPr txBox="1"/>
          <p:nvPr/>
        </p:nvSpPr>
        <p:spPr>
          <a:xfrm>
            <a:off x="7325148" y="5219022"/>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1030" name="Picture 6">
            <a:extLst>
              <a:ext uri="{FF2B5EF4-FFF2-40B4-BE49-F238E27FC236}">
                <a16:creationId xmlns:a16="http://schemas.microsoft.com/office/drawing/2014/main" id="{7C152FC3-09D6-6606-6528-8F0223EC7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5146" y="1744143"/>
            <a:ext cx="4322763" cy="3369713"/>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431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B187B-5AA6-E829-BE5C-550AAF565AC2}"/>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62A665FE-E68C-859A-A3F1-84AEA897AC8C}"/>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543E5CC-C9C4-3E92-CB12-8E69A168DAF6}"/>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two pictures alone</a:t>
            </a:r>
          </a:p>
        </p:txBody>
      </p:sp>
      <p:sp>
        <p:nvSpPr>
          <p:cNvPr id="11" name="TextBox 10">
            <a:extLst>
              <a:ext uri="{FF2B5EF4-FFF2-40B4-BE49-F238E27FC236}">
                <a16:creationId xmlns:a16="http://schemas.microsoft.com/office/drawing/2014/main" id="{ACC68BF1-A6CE-1042-68EF-5FB82031E458}"/>
              </a:ext>
            </a:extLst>
          </p:cNvPr>
          <p:cNvSpPr txBox="1"/>
          <p:nvPr/>
        </p:nvSpPr>
        <p:spPr>
          <a:xfrm>
            <a:off x="1422188" y="4924382"/>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1030" name="Picture 6">
            <a:extLst>
              <a:ext uri="{FF2B5EF4-FFF2-40B4-BE49-F238E27FC236}">
                <a16:creationId xmlns:a16="http://schemas.microsoft.com/office/drawing/2014/main" id="{3CAACE40-D944-F7B4-B32F-70D0FF20B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186" y="1449503"/>
            <a:ext cx="4322763" cy="3369713"/>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7C80979-D3CC-42A3-5251-02D5E45B9060}"/>
              </a:ext>
            </a:extLst>
          </p:cNvPr>
          <p:cNvSpPr txBox="1"/>
          <p:nvPr/>
        </p:nvSpPr>
        <p:spPr>
          <a:xfrm>
            <a:off x="6908588" y="4924382"/>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3" name="Picture 6">
            <a:extLst>
              <a:ext uri="{FF2B5EF4-FFF2-40B4-BE49-F238E27FC236}">
                <a16:creationId xmlns:a16="http://schemas.microsoft.com/office/drawing/2014/main" id="{19763507-E0A9-5920-8C39-C6C5C19C9B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586" y="1449503"/>
            <a:ext cx="4322763" cy="3369713"/>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515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ABCFB-4458-7DDB-2D58-748EEF07341B}"/>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6C78704-9F5E-E078-8E28-327A5BE7D1D0}"/>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2DA1443-465B-3E8A-CE98-C71ECCF300A2}"/>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two pictures with text</a:t>
            </a:r>
          </a:p>
        </p:txBody>
      </p:sp>
      <p:sp>
        <p:nvSpPr>
          <p:cNvPr id="11" name="TextBox 10">
            <a:extLst>
              <a:ext uri="{FF2B5EF4-FFF2-40B4-BE49-F238E27FC236}">
                <a16:creationId xmlns:a16="http://schemas.microsoft.com/office/drawing/2014/main" id="{57156EBA-CB46-6172-C845-9AD6D3AC3AFF}"/>
              </a:ext>
            </a:extLst>
          </p:cNvPr>
          <p:cNvSpPr txBox="1"/>
          <p:nvPr/>
        </p:nvSpPr>
        <p:spPr>
          <a:xfrm>
            <a:off x="1321144" y="3420656"/>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1030" name="Picture 6">
            <a:extLst>
              <a:ext uri="{FF2B5EF4-FFF2-40B4-BE49-F238E27FC236}">
                <a16:creationId xmlns:a16="http://schemas.microsoft.com/office/drawing/2014/main" id="{D63663E3-332B-0A03-EB5F-172A1D3FC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945" y="1205663"/>
            <a:ext cx="2749026" cy="2142942"/>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2410023-76C4-097F-25C8-A42213A2B098}"/>
              </a:ext>
            </a:extLst>
          </p:cNvPr>
          <p:cNvSpPr txBox="1"/>
          <p:nvPr/>
        </p:nvSpPr>
        <p:spPr>
          <a:xfrm>
            <a:off x="1321144" y="6133376"/>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6" name="Picture 6">
            <a:extLst>
              <a:ext uri="{FF2B5EF4-FFF2-40B4-BE49-F238E27FC236}">
                <a16:creationId xmlns:a16="http://schemas.microsoft.com/office/drawing/2014/main" id="{D8168CB5-8EAD-BC6F-FB74-9462E61ED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945" y="3918383"/>
            <a:ext cx="2749026" cy="2142942"/>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451002-2C56-05BD-A485-AFF45013B0FE}"/>
              </a:ext>
            </a:extLst>
          </p:cNvPr>
          <p:cNvSpPr txBox="1"/>
          <p:nvPr/>
        </p:nvSpPr>
        <p:spPr>
          <a:xfrm>
            <a:off x="6096000" y="2543492"/>
            <a:ext cx="5076150" cy="2031325"/>
          </a:xfrm>
          <a:prstGeom prst="rect">
            <a:avLst/>
          </a:prstGeom>
          <a:noFill/>
        </p:spPr>
        <p:txBody>
          <a:bodyPr wrap="square" rtlCol="0">
            <a:spAutoFit/>
          </a:bodyPr>
          <a:lstStyle/>
          <a:p>
            <a:r>
              <a:rPr lang="en-US" dirty="0">
                <a:ea typeface="Calibri" panose="020F0502020204030204" pitchFamily="34" charset="0"/>
                <a:cs typeface="Calibri" panose="020F0502020204030204" pitchFamily="34" charset="0"/>
              </a:rPr>
              <a:t>It is an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a:t>
            </a:r>
            <a:endParaRPr lang="en-GB"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9805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216F5-ACFB-EE52-A4FE-4B6BE202114C}"/>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15A843A-A461-C0E3-ADB2-15CBD530A512}"/>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7512B29-DE30-A1DF-F16F-7BACB198C40C}"/>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one huge picture</a:t>
            </a:r>
          </a:p>
        </p:txBody>
      </p:sp>
      <p:sp>
        <p:nvSpPr>
          <p:cNvPr id="11" name="TextBox 10">
            <a:extLst>
              <a:ext uri="{FF2B5EF4-FFF2-40B4-BE49-F238E27FC236}">
                <a16:creationId xmlns:a16="http://schemas.microsoft.com/office/drawing/2014/main" id="{226E534A-F90E-0F67-DE41-CAA77F8D5EB7}"/>
              </a:ext>
            </a:extLst>
          </p:cNvPr>
          <p:cNvSpPr txBox="1"/>
          <p:nvPr/>
        </p:nvSpPr>
        <p:spPr>
          <a:xfrm>
            <a:off x="223365" y="6544710"/>
            <a:ext cx="4064000" cy="276999"/>
          </a:xfrm>
          <a:prstGeom prst="rect">
            <a:avLst/>
          </a:prstGeom>
          <a:noFill/>
        </p:spPr>
        <p:txBody>
          <a:bodyPr wrap="square" rtlCol="0">
            <a:spAutoFit/>
          </a:bodyPr>
          <a:lstStyle/>
          <a:p>
            <a:r>
              <a:rPr lang="en-GB" sz="1200" dirty="0">
                <a:ea typeface="Calibri" panose="020F0502020204030204" pitchFamily="34" charset="0"/>
                <a:cs typeface="Calibri" panose="020F0502020204030204" pitchFamily="34" charset="0"/>
              </a:rPr>
              <a:t>Image subtitles or credits can have smaller font size</a:t>
            </a:r>
          </a:p>
        </p:txBody>
      </p:sp>
      <p:pic>
        <p:nvPicPr>
          <p:cNvPr id="2050" name="Picture 2" descr="Placeholder Image | Elementor Developers">
            <a:extLst>
              <a:ext uri="{FF2B5EF4-FFF2-40B4-BE49-F238E27FC236}">
                <a16:creationId xmlns:a16="http://schemas.microsoft.com/office/drawing/2014/main" id="{32B8517B-CEE4-3EC4-39F2-B8372AD19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360" y="1050526"/>
            <a:ext cx="7701280" cy="5124852"/>
          </a:xfrm>
          <a:prstGeom prst="rect">
            <a:avLst/>
          </a:prstGeom>
          <a:noFill/>
          <a:effectLst>
            <a:outerShdw dist="76200" dir="2400000" algn="ctr" rotWithShape="0">
              <a:srgbClr val="46B2E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97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7B3C5-B724-0DC4-BA70-BBCCA001E064}"/>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328A085-1946-9E2C-2921-C6D87D894488}"/>
              </a:ext>
            </a:extLst>
          </p:cNvPr>
          <p:cNvSpPr txBox="1"/>
          <p:nvPr/>
        </p:nvSpPr>
        <p:spPr>
          <a:xfrm>
            <a:off x="689865" y="1479530"/>
            <a:ext cx="3271520" cy="4616648"/>
          </a:xfrm>
          <a:prstGeom prst="rect">
            <a:avLst/>
          </a:prstGeom>
          <a:noFill/>
        </p:spPr>
        <p:txBody>
          <a:bodyPr wrap="square" rtlCol="0">
            <a:spAutoFit/>
          </a:bodyPr>
          <a:lstStyle/>
          <a:p>
            <a:r>
              <a:rPr lang="en-US" sz="1400" dirty="0">
                <a:ea typeface="Calibri" panose="020F0502020204030204" pitchFamily="34" charset="0"/>
                <a:cs typeface="Calibri" panose="020F0502020204030204" pitchFamily="34" charset="0"/>
              </a:rPr>
              <a:t>Contrary to popular belief, Lorem Ipsum is not simply random text. It has roots in a piece of classical Latin literature from 45 BC, making it over 2000 years old. Richard McClintock, a Latin professor at </a:t>
            </a:r>
            <a:r>
              <a:rPr lang="en-US" sz="1400" dirty="0">
                <a:highlight>
                  <a:srgbClr val="CEEBF8"/>
                </a:highlight>
                <a:ea typeface="Calibri" panose="020F0502020204030204" pitchFamily="34" charset="0"/>
                <a:cs typeface="Calibri" panose="020F0502020204030204" pitchFamily="34" charset="0"/>
              </a:rPr>
              <a:t>Hampden-Sydney College in Virginia</a:t>
            </a:r>
            <a:r>
              <a:rPr lang="en-US" sz="1400" dirty="0">
                <a:ea typeface="Calibri" panose="020F0502020204030204" pitchFamily="34" charset="0"/>
                <a:cs typeface="Calibri" panose="020F0502020204030204" pitchFamily="34" charset="0"/>
              </a:rPr>
              <a:t>, looked up one of the more obscure Latin words, </a:t>
            </a:r>
            <a:r>
              <a:rPr lang="en-US" sz="1400" dirty="0" err="1">
                <a:ea typeface="Calibri" panose="020F0502020204030204" pitchFamily="34" charset="0"/>
                <a:cs typeface="Calibri" panose="020F0502020204030204" pitchFamily="34" charset="0"/>
              </a:rPr>
              <a:t>consectetur</a:t>
            </a:r>
            <a:r>
              <a:rPr lang="en-US" sz="1400" dirty="0">
                <a:ea typeface="Calibri" panose="020F0502020204030204" pitchFamily="34" charset="0"/>
                <a:cs typeface="Calibri" panose="020F0502020204030204" pitchFamily="34" charset="0"/>
              </a:rPr>
              <a:t>, from a Lorem Ipsum passage, and going through the cites of the word in classical literature, discovered the undoubtable source. </a:t>
            </a:r>
            <a:br>
              <a:rPr lang="en-US" sz="1400" dirty="0">
                <a:ea typeface="Calibri" panose="020F0502020204030204" pitchFamily="34" charset="0"/>
                <a:cs typeface="Calibri" panose="020F0502020204030204" pitchFamily="34" charset="0"/>
              </a:rPr>
            </a:br>
            <a:br>
              <a:rPr lang="en-US" sz="1400" dirty="0">
                <a:ea typeface="Calibri" panose="020F0502020204030204" pitchFamily="34" charset="0"/>
                <a:cs typeface="Calibri" panose="020F0502020204030204" pitchFamily="34" charset="0"/>
              </a:rPr>
            </a:br>
            <a:r>
              <a:rPr lang="en-US" sz="1400" dirty="0">
                <a:ea typeface="Calibri" panose="020F0502020204030204" pitchFamily="34" charset="0"/>
                <a:cs typeface="Calibri" panose="020F0502020204030204" pitchFamily="34" charset="0"/>
              </a:rPr>
              <a:t>Lorem Ipsum comes from sections 1.10.32 and 1.10.33 of "de </a:t>
            </a:r>
            <a:r>
              <a:rPr lang="en-US" sz="1400" dirty="0" err="1">
                <a:ea typeface="Calibri" panose="020F0502020204030204" pitchFamily="34" charset="0"/>
                <a:cs typeface="Calibri" panose="020F0502020204030204" pitchFamily="34" charset="0"/>
              </a:rPr>
              <a:t>Finibus</a:t>
            </a:r>
            <a:r>
              <a:rPr lang="en-US" sz="1400" dirty="0">
                <a:ea typeface="Calibri" panose="020F0502020204030204" pitchFamily="34" charset="0"/>
                <a:cs typeface="Calibri" panose="020F0502020204030204" pitchFamily="34" charset="0"/>
              </a:rPr>
              <a:t> </a:t>
            </a:r>
            <a:r>
              <a:rPr lang="en-US" sz="1400" dirty="0" err="1">
                <a:ea typeface="Calibri" panose="020F0502020204030204" pitchFamily="34" charset="0"/>
                <a:cs typeface="Calibri" panose="020F0502020204030204" pitchFamily="34" charset="0"/>
              </a:rPr>
              <a:t>Bonorum</a:t>
            </a:r>
            <a:r>
              <a:rPr lang="en-US" sz="1400" dirty="0">
                <a:ea typeface="Calibri" panose="020F0502020204030204" pitchFamily="34" charset="0"/>
                <a:cs typeface="Calibri" panose="020F0502020204030204" pitchFamily="34" charset="0"/>
              </a:rPr>
              <a:t> et </a:t>
            </a:r>
            <a:r>
              <a:rPr lang="en-US" sz="1400" dirty="0" err="1">
                <a:ea typeface="Calibri" panose="020F0502020204030204" pitchFamily="34" charset="0"/>
                <a:cs typeface="Calibri" panose="020F0502020204030204" pitchFamily="34" charset="0"/>
              </a:rPr>
              <a:t>Malorum</a:t>
            </a:r>
            <a:r>
              <a:rPr lang="en-US" sz="1400" dirty="0">
                <a:ea typeface="Calibri" panose="020F0502020204030204" pitchFamily="34" charset="0"/>
                <a:cs typeface="Calibri" panose="020F0502020204030204" pitchFamily="34" charset="0"/>
              </a:rPr>
              <a:t>" (The Extremes of Good and Evil) by Cicero, written in 45 BC. This book is a treatise on the theory of ethics, very popular during the Renaissance. The first line of Lorem Ipsum, "Lorem ipsum dolor sit </a:t>
            </a:r>
            <a:r>
              <a:rPr lang="en-US" sz="1400" dirty="0" err="1">
                <a:ea typeface="Calibri" panose="020F0502020204030204" pitchFamily="34" charset="0"/>
                <a:cs typeface="Calibri" panose="020F0502020204030204" pitchFamily="34" charset="0"/>
              </a:rPr>
              <a:t>amet</a:t>
            </a:r>
            <a:r>
              <a:rPr lang="en-US" sz="1400" dirty="0">
                <a:ea typeface="Calibri" panose="020F0502020204030204" pitchFamily="34" charset="0"/>
                <a:cs typeface="Calibri" panose="020F0502020204030204" pitchFamily="34" charset="0"/>
              </a:rPr>
              <a:t>..", comes from a line in section 1.10.32.</a:t>
            </a:r>
          </a:p>
        </p:txBody>
      </p:sp>
      <p:sp>
        <p:nvSpPr>
          <p:cNvPr id="2" name="TextBox 1">
            <a:extLst>
              <a:ext uri="{FF2B5EF4-FFF2-40B4-BE49-F238E27FC236}">
                <a16:creationId xmlns:a16="http://schemas.microsoft.com/office/drawing/2014/main" id="{335D9026-71CD-0103-6196-102107CA0142}"/>
              </a:ext>
            </a:extLst>
          </p:cNvPr>
          <p:cNvSpPr txBox="1"/>
          <p:nvPr/>
        </p:nvSpPr>
        <p:spPr>
          <a:xfrm>
            <a:off x="8310172" y="1479530"/>
            <a:ext cx="3402584" cy="4616648"/>
          </a:xfrm>
          <a:prstGeom prst="rect">
            <a:avLst/>
          </a:prstGeom>
          <a:noFill/>
        </p:spPr>
        <p:txBody>
          <a:bodyPr wrap="square" rtlCol="0">
            <a:spAutoFit/>
          </a:bodyPr>
          <a:lstStyle/>
          <a:p>
            <a:r>
              <a:rPr lang="en-US" sz="1400" dirty="0">
                <a:ea typeface="Calibri" panose="020F0502020204030204" pitchFamily="34" charset="0"/>
                <a:cs typeface="Calibri" panose="020F0502020204030204" pitchFamily="34" charset="0"/>
              </a:rPr>
              <a:t>There are many variations of passages of Lorem Ipsum available, but the majority have suffered alteration in some form, by injected </a:t>
            </a:r>
            <a:r>
              <a:rPr lang="en-US" sz="1400" dirty="0" err="1">
                <a:ea typeface="Calibri" panose="020F0502020204030204" pitchFamily="34" charset="0"/>
                <a:cs typeface="Calibri" panose="020F0502020204030204" pitchFamily="34" charset="0"/>
              </a:rPr>
              <a:t>humour</a:t>
            </a:r>
            <a:r>
              <a:rPr lang="en-US" sz="1400" dirty="0">
                <a:ea typeface="Calibri" panose="020F0502020204030204" pitchFamily="34" charset="0"/>
                <a:cs typeface="Calibri" panose="020F0502020204030204" pitchFamily="34" charset="0"/>
              </a:rPr>
              <a:t>, or </a:t>
            </a:r>
            <a:r>
              <a:rPr lang="en-US" sz="1400" dirty="0" err="1">
                <a:ea typeface="Calibri" panose="020F0502020204030204" pitchFamily="34" charset="0"/>
                <a:cs typeface="Calibri" panose="020F0502020204030204" pitchFamily="34" charset="0"/>
              </a:rPr>
              <a:t>randomised</a:t>
            </a:r>
            <a:r>
              <a:rPr lang="en-US" sz="1400" dirty="0">
                <a:ea typeface="Calibri" panose="020F0502020204030204" pitchFamily="34" charset="0"/>
                <a:cs typeface="Calibri" panose="020F0502020204030204" pitchFamily="34" charset="0"/>
              </a:rPr>
              <a:t> words which </a:t>
            </a:r>
            <a:r>
              <a:rPr lang="en-US" sz="1400" dirty="0">
                <a:highlight>
                  <a:srgbClr val="CEEBF8"/>
                </a:highlight>
                <a:ea typeface="Calibri" panose="020F0502020204030204" pitchFamily="34" charset="0"/>
                <a:cs typeface="Calibri" panose="020F0502020204030204" pitchFamily="34" charset="0"/>
              </a:rPr>
              <a:t>don't look even slightly believable. </a:t>
            </a:r>
            <a:r>
              <a:rPr lang="en-US" sz="1400" dirty="0">
                <a:ea typeface="Calibri" panose="020F0502020204030204" pitchFamily="34" charset="0"/>
                <a:cs typeface="Calibri" panose="020F0502020204030204" pitchFamily="34" charset="0"/>
              </a:rPr>
              <a:t>If you are going to use a passage of Lorem Ipsum, you need to be sure there isn't anything embarrassing hidden in the middle of text.</a:t>
            </a:r>
            <a:br>
              <a:rPr lang="en-US" sz="1400" dirty="0">
                <a:ea typeface="Calibri" panose="020F0502020204030204" pitchFamily="34" charset="0"/>
                <a:cs typeface="Calibri" panose="020F0502020204030204" pitchFamily="34" charset="0"/>
              </a:rPr>
            </a:br>
            <a:br>
              <a:rPr lang="en-US" sz="1400" dirty="0">
                <a:ea typeface="Calibri" panose="020F0502020204030204" pitchFamily="34" charset="0"/>
                <a:cs typeface="Calibri" panose="020F0502020204030204" pitchFamily="34" charset="0"/>
              </a:rPr>
            </a:br>
            <a:r>
              <a:rPr lang="en-US" sz="1400" dirty="0">
                <a:ea typeface="Calibri" panose="020F0502020204030204" pitchFamily="34" charset="0"/>
                <a:cs typeface="Calibri" panose="020F0502020204030204" pitchFamily="34" charset="0"/>
              </a:rPr>
              <a:t>All the Lorem Ipsum generators on the Internet tend to repeat predefined chunks as necessary, making this the first true generator on the Internet. It uses a dictionary of over 200 Latin words, combined with a handful of model sentence structures, to generate Lorem Ipsum which looks reasonable. The generated Lorem Ipsum is therefore always free from repetition, injected </a:t>
            </a:r>
            <a:r>
              <a:rPr lang="en-US" sz="1400" dirty="0" err="1">
                <a:ea typeface="Calibri" panose="020F0502020204030204" pitchFamily="34" charset="0"/>
                <a:cs typeface="Calibri" panose="020F0502020204030204" pitchFamily="34" charset="0"/>
              </a:rPr>
              <a:t>humour</a:t>
            </a:r>
            <a:r>
              <a:rPr lang="en-US" sz="1400" dirty="0">
                <a:ea typeface="Calibri" panose="020F0502020204030204" pitchFamily="34" charset="0"/>
                <a:cs typeface="Calibri" panose="020F0502020204030204" pitchFamily="34" charset="0"/>
              </a:rPr>
              <a:t>, or non-characteristic words etc.</a:t>
            </a:r>
            <a:endParaRPr lang="en-GB" sz="1400" dirty="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53556C7-B5D7-CB97-B433-85202D0C8197}"/>
              </a:ext>
            </a:extLst>
          </p:cNvPr>
          <p:cNvSpPr txBox="1"/>
          <p:nvPr/>
        </p:nvSpPr>
        <p:spPr>
          <a:xfrm>
            <a:off x="4602988" y="1479530"/>
            <a:ext cx="3271520" cy="3539430"/>
          </a:xfrm>
          <a:prstGeom prst="rect">
            <a:avLst/>
          </a:prstGeom>
          <a:noFill/>
        </p:spPr>
        <p:txBody>
          <a:bodyPr wrap="square" rtlCol="0">
            <a:spAutoFit/>
          </a:bodyPr>
          <a:lstStyle/>
          <a:p>
            <a:r>
              <a:rPr lang="en-US" sz="1400" dirty="0">
                <a:ea typeface="Calibri" panose="020F0502020204030204" pitchFamily="34" charset="0"/>
                <a:cs typeface="Calibri" panose="020F0502020204030204" pitchFamily="34" charset="0"/>
              </a:rPr>
              <a:t>It is an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a:t>
            </a:r>
            <a:r>
              <a:rPr lang="en-US" sz="1400" dirty="0">
                <a:highlight>
                  <a:srgbClr val="CEEBF8"/>
                </a:highlight>
                <a:ea typeface="Calibri" panose="020F0502020204030204" pitchFamily="34" charset="0"/>
                <a:cs typeface="Calibri" panose="020F0502020204030204" pitchFamily="34" charset="0"/>
              </a:rPr>
              <a:t>Lorem Ipsum </a:t>
            </a:r>
            <a:r>
              <a:rPr lang="en-US" sz="1400" dirty="0">
                <a:ea typeface="Calibri" panose="020F0502020204030204" pitchFamily="34" charset="0"/>
                <a:cs typeface="Calibri" panose="020F0502020204030204" pitchFamily="34" charset="0"/>
              </a:rPr>
              <a:t>as their default model text, and a search for 'lorem ipsum' will uncover many web sites still in their infancy. Various versions have evolved over the years, sometimes by accident, sometimes on purpose (injected </a:t>
            </a:r>
            <a:r>
              <a:rPr lang="en-US" sz="1400" dirty="0" err="1">
                <a:ea typeface="Calibri" panose="020F0502020204030204" pitchFamily="34" charset="0"/>
                <a:cs typeface="Calibri" panose="020F0502020204030204" pitchFamily="34" charset="0"/>
              </a:rPr>
              <a:t>humour</a:t>
            </a:r>
            <a:r>
              <a:rPr lang="en-US" sz="1400" dirty="0">
                <a:ea typeface="Calibri" panose="020F0502020204030204" pitchFamily="34" charset="0"/>
                <a:cs typeface="Calibri" panose="020F0502020204030204" pitchFamily="34" charset="0"/>
              </a:rPr>
              <a:t> and the like).</a:t>
            </a:r>
            <a:endParaRPr lang="en-GB" sz="1400" dirty="0">
              <a:ea typeface="Calibri" panose="020F0502020204030204" pitchFamily="34" charset="0"/>
              <a:cs typeface="Calibri" panose="020F0502020204030204" pitchFamily="34" charset="0"/>
            </a:endParaRPr>
          </a:p>
        </p:txBody>
      </p:sp>
      <p:cxnSp>
        <p:nvCxnSpPr>
          <p:cNvPr id="4" name="Straight Connector 3">
            <a:extLst>
              <a:ext uri="{FF2B5EF4-FFF2-40B4-BE49-F238E27FC236}">
                <a16:creationId xmlns:a16="http://schemas.microsoft.com/office/drawing/2014/main" id="{2A0D180E-9053-87E5-9DB6-63925C071D7F}"/>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4D10273-D941-D27A-759F-0174D528B098}"/>
              </a:ext>
            </a:extLst>
          </p:cNvPr>
          <p:cNvSpPr txBox="1"/>
          <p:nvPr/>
        </p:nvSpPr>
        <p:spPr>
          <a:xfrm>
            <a:off x="223365" y="36291"/>
            <a:ext cx="6685221"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lots of text (avoid if possible)</a:t>
            </a:r>
          </a:p>
        </p:txBody>
      </p:sp>
    </p:spTree>
    <p:extLst>
      <p:ext uri="{BB962C8B-B14F-4D97-AF65-F5344CB8AC3E}">
        <p14:creationId xmlns:p14="http://schemas.microsoft.com/office/powerpoint/2010/main" val="3703399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8ECFD-67BB-DE3F-A329-BD7CAABF47C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482008-437E-6173-C13A-1FF6D9922D94}"/>
              </a:ext>
            </a:extLst>
          </p:cNvPr>
          <p:cNvSpPr/>
          <p:nvPr/>
        </p:nvSpPr>
        <p:spPr>
          <a:xfrm>
            <a:off x="0" y="0"/>
            <a:ext cx="12192000" cy="6858000"/>
          </a:xfrm>
          <a:prstGeom prst="rect">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C60C2AC-480D-39F8-99BC-D74BCF5A44E1}"/>
              </a:ext>
            </a:extLst>
          </p:cNvPr>
          <p:cNvSpPr txBox="1"/>
          <p:nvPr/>
        </p:nvSpPr>
        <p:spPr>
          <a:xfrm>
            <a:off x="731520" y="2194560"/>
            <a:ext cx="10698480" cy="1268039"/>
          </a:xfrm>
          <a:prstGeom prst="rect">
            <a:avLst/>
          </a:prstGeom>
          <a:noFill/>
        </p:spPr>
        <p:txBody>
          <a:bodyPr wrap="square" lIns="45720" tIns="18288" rIns="45720" bIns="18288" anchor="t">
            <a:spAutoFit/>
          </a:bodyPr>
          <a:lstStyle/>
          <a:p>
            <a:pPr algn="l"/>
            <a:r>
              <a:rPr lang="en-US" sz="8000" b="1" dirty="0">
                <a:solidFill>
                  <a:srgbClr val="1A1A1A"/>
                </a:solidFill>
                <a:latin typeface="Aptos"/>
              </a:rPr>
              <a:t>section divider</a:t>
            </a:r>
            <a:endParaRPr sz="8000" b="1" dirty="0">
              <a:solidFill>
                <a:srgbClr val="1A1A1A"/>
              </a:solidFill>
              <a:latin typeface="Aptos"/>
            </a:endParaRPr>
          </a:p>
        </p:txBody>
      </p:sp>
      <p:sp>
        <p:nvSpPr>
          <p:cNvPr id="4" name="TextBox 3">
            <a:extLst>
              <a:ext uri="{FF2B5EF4-FFF2-40B4-BE49-F238E27FC236}">
                <a16:creationId xmlns:a16="http://schemas.microsoft.com/office/drawing/2014/main" id="{45C92186-A0B6-035C-0FC8-6C9E89865EAD}"/>
              </a:ext>
            </a:extLst>
          </p:cNvPr>
          <p:cNvSpPr txBox="1"/>
          <p:nvPr/>
        </p:nvSpPr>
        <p:spPr>
          <a:xfrm>
            <a:off x="762000" y="3228689"/>
            <a:ext cx="5602224" cy="467820"/>
          </a:xfrm>
          <a:prstGeom prst="rect">
            <a:avLst/>
          </a:prstGeom>
          <a:noFill/>
        </p:spPr>
        <p:txBody>
          <a:bodyPr wrap="square" lIns="45720" tIns="18288" rIns="45720" bIns="18288" anchor="t">
            <a:spAutoFit/>
          </a:bodyPr>
          <a:lstStyle/>
          <a:p>
            <a:pPr algn="l"/>
            <a:r>
              <a:rPr lang="en-US" sz="2800" dirty="0">
                <a:solidFill>
                  <a:srgbClr val="1F93C9"/>
                </a:solidFill>
                <a:latin typeface="Aptos"/>
              </a:rPr>
              <a:t>Optional subtitle</a:t>
            </a:r>
            <a:endParaRPr sz="2800" b="0" dirty="0">
              <a:solidFill>
                <a:srgbClr val="1F93C9"/>
              </a:solidFill>
              <a:latin typeface="Aptos"/>
            </a:endParaRPr>
          </a:p>
        </p:txBody>
      </p:sp>
      <p:cxnSp>
        <p:nvCxnSpPr>
          <p:cNvPr id="8" name="Straight Connector 7">
            <a:extLst>
              <a:ext uri="{FF2B5EF4-FFF2-40B4-BE49-F238E27FC236}">
                <a16:creationId xmlns:a16="http://schemas.microsoft.com/office/drawing/2014/main" id="{C34F0A58-39AC-B4E9-41EE-F09DA0A079F7}"/>
              </a:ext>
            </a:extLst>
          </p:cNvPr>
          <p:cNvCxnSpPr>
            <a:cxnSpLocks/>
          </p:cNvCxnSpPr>
          <p:nvPr/>
        </p:nvCxnSpPr>
        <p:spPr>
          <a:xfrm>
            <a:off x="553067" y="2046968"/>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0BF19E01-2416-DAA8-7759-1829013D0641}"/>
              </a:ext>
            </a:extLst>
          </p:cNvPr>
          <p:cNvGrpSpPr/>
          <p:nvPr/>
        </p:nvGrpSpPr>
        <p:grpSpPr>
          <a:xfrm>
            <a:off x="11181858" y="6035040"/>
            <a:ext cx="805760" cy="723478"/>
            <a:chOff x="11297920" y="5734798"/>
            <a:chExt cx="649058" cy="582778"/>
          </a:xfrm>
        </p:grpSpPr>
        <p:sp>
          <p:nvSpPr>
            <p:cNvPr id="6" name="Oval 5">
              <a:extLst>
                <a:ext uri="{FF2B5EF4-FFF2-40B4-BE49-F238E27FC236}">
                  <a16:creationId xmlns:a16="http://schemas.microsoft.com/office/drawing/2014/main" id="{E95A4B41-65BB-CE52-D25F-F8EDE151F724}"/>
                </a:ext>
              </a:extLst>
            </p:cNvPr>
            <p:cNvSpPr/>
            <p:nvPr/>
          </p:nvSpPr>
          <p:spPr>
            <a:xfrm>
              <a:off x="11457512" y="5813731"/>
              <a:ext cx="392489" cy="3924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F47A3060-5672-A655-DA5E-E6F5F4F3F9A0}"/>
                </a:ext>
              </a:extLst>
            </p:cNvPr>
            <p:cNvPicPr>
              <a:picLocks noChangeAspect="1"/>
            </p:cNvPicPr>
            <p:nvPr/>
          </p:nvPicPr>
          <p:blipFill>
            <a:blip r:embed="rId3"/>
            <a:stretch/>
          </p:blipFill>
          <p:spPr>
            <a:xfrm>
              <a:off x="11297920" y="5734798"/>
              <a:ext cx="649058" cy="582778"/>
            </a:xfrm>
            <a:prstGeom prst="rect">
              <a:avLst/>
            </a:prstGeom>
          </p:spPr>
        </p:pic>
      </p:grpSp>
    </p:spTree>
    <p:extLst>
      <p:ext uri="{BB962C8B-B14F-4D97-AF65-F5344CB8AC3E}">
        <p14:creationId xmlns:p14="http://schemas.microsoft.com/office/powerpoint/2010/main" val="30118799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5076-EB12-46B1-C12C-75C56C982A6D}"/>
            </a:ext>
          </a:extLst>
        </p:cNvPr>
        <p:cNvGrpSpPr/>
        <p:nvPr/>
      </p:nvGrpSpPr>
      <p:grpSpPr>
        <a:xfrm>
          <a:off x="0" y="0"/>
          <a:ext cx="0" cy="0"/>
          <a:chOff x="0" y="0"/>
          <a:chExt cx="0" cy="0"/>
        </a:xfrm>
      </p:grpSpPr>
      <p:sp>
        <p:nvSpPr>
          <p:cNvPr id="12" name="Shape 26">
            <a:extLst>
              <a:ext uri="{FF2B5EF4-FFF2-40B4-BE49-F238E27FC236}">
                <a16:creationId xmlns:a16="http://schemas.microsoft.com/office/drawing/2014/main" id="{02EC8C67-ABC4-9F5F-03B3-8F5DFF73CA99}"/>
              </a:ext>
            </a:extLst>
          </p:cNvPr>
          <p:cNvSpPr/>
          <p:nvPr/>
        </p:nvSpPr>
        <p:spPr>
          <a:xfrm>
            <a:off x="4113276" y="5815979"/>
            <a:ext cx="2136648" cy="910993"/>
          </a:xfrm>
          <a:prstGeom prst="roundRect">
            <a:avLst>
              <a:gd name="adj" fmla="val 2210"/>
            </a:avLst>
          </a:prstGeom>
          <a:solidFill>
            <a:srgbClr val="ECC30B"/>
          </a:solidFill>
          <a:ln w="10160">
            <a:solidFill>
              <a:srgbClr val="BBB5AE"/>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p>
        </p:txBody>
      </p:sp>
      <p:pic>
        <p:nvPicPr>
          <p:cNvPr id="7" name="Picture 6">
            <a:extLst>
              <a:ext uri="{FF2B5EF4-FFF2-40B4-BE49-F238E27FC236}">
                <a16:creationId xmlns:a16="http://schemas.microsoft.com/office/drawing/2014/main" id="{02D443FD-5EA2-EF66-CF19-390EDB8807B5}"/>
              </a:ext>
            </a:extLst>
          </p:cNvPr>
          <p:cNvPicPr>
            <a:picLocks noChangeAspect="1"/>
          </p:cNvPicPr>
          <p:nvPr/>
        </p:nvPicPr>
        <p:blipFill>
          <a:blip r:embed="rId3"/>
          <a:stretch>
            <a:fillRect/>
          </a:stretch>
        </p:blipFill>
        <p:spPr>
          <a:xfrm>
            <a:off x="4837217" y="1289088"/>
            <a:ext cx="7131417" cy="4445228"/>
          </a:xfrm>
          <a:prstGeom prst="rect">
            <a:avLst/>
          </a:prstGeom>
        </p:spPr>
      </p:pic>
      <p:cxnSp>
        <p:nvCxnSpPr>
          <p:cNvPr id="14" name="Straight Connector 13">
            <a:extLst>
              <a:ext uri="{FF2B5EF4-FFF2-40B4-BE49-F238E27FC236}">
                <a16:creationId xmlns:a16="http://schemas.microsoft.com/office/drawing/2014/main" id="{42A3F851-08F6-73F0-1CFB-5FF283528133}"/>
              </a:ext>
            </a:extLst>
          </p:cNvPr>
          <p:cNvCxnSpPr>
            <a:cxnSpLocks/>
          </p:cNvCxnSpPr>
          <p:nvPr/>
        </p:nvCxnSpPr>
        <p:spPr>
          <a:xfrm>
            <a:off x="223366" y="682622"/>
            <a:ext cx="3937605" cy="0"/>
          </a:xfrm>
          <a:prstGeom prst="line">
            <a:avLst/>
          </a:prstGeom>
          <a:ln w="101600">
            <a:solidFill>
              <a:srgbClr val="46B1E1"/>
            </a:solidFill>
          </a:ln>
          <a:effectLst>
            <a:outerShdw dist="76200" dir="2400000" algn="ctr" rotWithShape="0">
              <a:srgbClr val="CEEBF8"/>
            </a:outerShdw>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A7D462E-468E-A12F-E073-C40ABFD8A9F6}"/>
              </a:ext>
            </a:extLst>
          </p:cNvPr>
          <p:cNvSpPr txBox="1"/>
          <p:nvPr/>
        </p:nvSpPr>
        <p:spPr>
          <a:xfrm>
            <a:off x="223366" y="36291"/>
            <a:ext cx="4064000" cy="646331"/>
          </a:xfrm>
          <a:prstGeom prst="rect">
            <a:avLst/>
          </a:prstGeom>
          <a:noFill/>
        </p:spPr>
        <p:txBody>
          <a:bodyPr wrap="square" rtlCol="0">
            <a:spAutoFit/>
          </a:bodyPr>
          <a:lstStyle/>
          <a:p>
            <a:r>
              <a:rPr lang="en-GB" sz="3600" b="1" dirty="0">
                <a:ea typeface="Calibri" panose="020F0502020204030204" pitchFamily="34" charset="0"/>
                <a:cs typeface="Calibri" panose="020F0502020204030204" pitchFamily="34" charset="0"/>
              </a:rPr>
              <a:t>palette</a:t>
            </a:r>
          </a:p>
        </p:txBody>
      </p:sp>
      <p:sp>
        <p:nvSpPr>
          <p:cNvPr id="2" name="TextBox 1">
            <a:extLst>
              <a:ext uri="{FF2B5EF4-FFF2-40B4-BE49-F238E27FC236}">
                <a16:creationId xmlns:a16="http://schemas.microsoft.com/office/drawing/2014/main" id="{E74EF315-778C-22FD-DDEF-8336A3F4877C}"/>
              </a:ext>
            </a:extLst>
          </p:cNvPr>
          <p:cNvSpPr txBox="1"/>
          <p:nvPr/>
        </p:nvSpPr>
        <p:spPr>
          <a:xfrm>
            <a:off x="1011451" y="2634539"/>
            <a:ext cx="2961109" cy="1477328"/>
          </a:xfrm>
          <a:prstGeom prst="rect">
            <a:avLst/>
          </a:prstGeom>
          <a:noFill/>
        </p:spPr>
        <p:txBody>
          <a:bodyPr wrap="square" rtlCol="0">
            <a:spAutoFit/>
          </a:bodyPr>
          <a:lstStyle/>
          <a:p>
            <a:r>
              <a:rPr lang="en-GB" dirty="0">
                <a:ea typeface="Calibri" panose="020F0502020204030204" pitchFamily="34" charset="0"/>
                <a:cs typeface="Calibri" panose="020F0502020204030204" pitchFamily="34" charset="0"/>
              </a:rPr>
              <a:t>Here is the palette I used. You can use the hex code, RGB values or the eyedropper to choose precisely the same </a:t>
            </a:r>
            <a:r>
              <a:rPr lang="en-GB" dirty="0" err="1">
                <a:ea typeface="Calibri" panose="020F0502020204030204" pitchFamily="34" charset="0"/>
                <a:cs typeface="Calibri" panose="020F0502020204030204" pitchFamily="34" charset="0"/>
              </a:rPr>
              <a:t>colors</a:t>
            </a:r>
            <a:r>
              <a:rPr lang="en-GB" dirty="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29E2AC2C-4A2A-F73A-B061-C2C0B325C47D}"/>
              </a:ext>
            </a:extLst>
          </p:cNvPr>
          <p:cNvSpPr txBox="1"/>
          <p:nvPr/>
        </p:nvSpPr>
        <p:spPr>
          <a:xfrm>
            <a:off x="11494447" y="754352"/>
            <a:ext cx="1112115" cy="369332"/>
          </a:xfrm>
          <a:prstGeom prst="rect">
            <a:avLst/>
          </a:prstGeom>
          <a:noFill/>
        </p:spPr>
        <p:txBody>
          <a:bodyPr wrap="square">
            <a:spAutoFit/>
          </a:bodyPr>
          <a:lstStyle/>
          <a:p>
            <a:r>
              <a:rPr lang="en-DK" dirty="0"/>
              <a:t>#3A7D44</a:t>
            </a:r>
          </a:p>
        </p:txBody>
      </p:sp>
      <p:sp>
        <p:nvSpPr>
          <p:cNvPr id="6" name="TextBox 5">
            <a:extLst>
              <a:ext uri="{FF2B5EF4-FFF2-40B4-BE49-F238E27FC236}">
                <a16:creationId xmlns:a16="http://schemas.microsoft.com/office/drawing/2014/main" id="{A0CE0151-C297-7F63-63DF-A03F46D77F12}"/>
              </a:ext>
            </a:extLst>
          </p:cNvPr>
          <p:cNvSpPr txBox="1"/>
          <p:nvPr/>
        </p:nvSpPr>
        <p:spPr>
          <a:xfrm>
            <a:off x="6213296" y="838093"/>
            <a:ext cx="1112115" cy="369332"/>
          </a:xfrm>
          <a:prstGeom prst="rect">
            <a:avLst/>
          </a:prstGeom>
          <a:noFill/>
        </p:spPr>
        <p:txBody>
          <a:bodyPr wrap="square">
            <a:spAutoFit/>
          </a:bodyPr>
          <a:lstStyle/>
          <a:p>
            <a:r>
              <a:rPr lang="en-DK" dirty="0"/>
              <a:t>#69B578</a:t>
            </a:r>
          </a:p>
        </p:txBody>
      </p:sp>
      <p:sp>
        <p:nvSpPr>
          <p:cNvPr id="8" name="Rectangle 7">
            <a:extLst>
              <a:ext uri="{FF2B5EF4-FFF2-40B4-BE49-F238E27FC236}">
                <a16:creationId xmlns:a16="http://schemas.microsoft.com/office/drawing/2014/main" id="{E6D0945D-61F7-C2C1-5430-610F57E582C9}"/>
              </a:ext>
            </a:extLst>
          </p:cNvPr>
          <p:cNvSpPr/>
          <p:nvPr/>
        </p:nvSpPr>
        <p:spPr>
          <a:xfrm>
            <a:off x="5181600" y="225422"/>
            <a:ext cx="914400" cy="914400"/>
          </a:xfrm>
          <a:prstGeom prst="rect">
            <a:avLst/>
          </a:prstGeom>
          <a:solidFill>
            <a:srgbClr val="69B5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p>
        </p:txBody>
      </p:sp>
      <p:sp>
        <p:nvSpPr>
          <p:cNvPr id="9" name="Rectangle 8">
            <a:extLst>
              <a:ext uri="{FF2B5EF4-FFF2-40B4-BE49-F238E27FC236}">
                <a16:creationId xmlns:a16="http://schemas.microsoft.com/office/drawing/2014/main" id="{F205F748-2036-CEF8-C32F-C6CB37352EB3}"/>
              </a:ext>
            </a:extLst>
          </p:cNvPr>
          <p:cNvSpPr/>
          <p:nvPr/>
        </p:nvSpPr>
        <p:spPr>
          <a:xfrm>
            <a:off x="10350131" y="209284"/>
            <a:ext cx="914400" cy="914400"/>
          </a:xfrm>
          <a:prstGeom prst="rect">
            <a:avLst/>
          </a:prstGeom>
          <a:solidFill>
            <a:srgbClr val="3A7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Pie 10">
            <a:extLst>
              <a:ext uri="{FF2B5EF4-FFF2-40B4-BE49-F238E27FC236}">
                <a16:creationId xmlns:a16="http://schemas.microsoft.com/office/drawing/2014/main" id="{22EDE6B5-62C6-2F9C-A066-3690B00EC356}"/>
              </a:ext>
            </a:extLst>
          </p:cNvPr>
          <p:cNvSpPr/>
          <p:nvPr/>
        </p:nvSpPr>
        <p:spPr>
          <a:xfrm>
            <a:off x="914400" y="5352288"/>
            <a:ext cx="1133856" cy="792480"/>
          </a:xfrm>
          <a:prstGeom prst="pi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dirty="0">
              <a:solidFill>
                <a:schemeClr val="tx1"/>
              </a:solidFill>
            </a:endParaRPr>
          </a:p>
        </p:txBody>
      </p:sp>
      <p:sp>
        <p:nvSpPr>
          <p:cNvPr id="3" name="TextBox 2">
            <a:extLst>
              <a:ext uri="{FF2B5EF4-FFF2-40B4-BE49-F238E27FC236}">
                <a16:creationId xmlns:a16="http://schemas.microsoft.com/office/drawing/2014/main" id="{95C29392-83C3-7FB6-AE2F-D34CCED8592D}"/>
              </a:ext>
            </a:extLst>
          </p:cNvPr>
          <p:cNvSpPr txBox="1"/>
          <p:nvPr/>
        </p:nvSpPr>
        <p:spPr>
          <a:xfrm>
            <a:off x="4413956" y="6231467"/>
            <a:ext cx="1016432" cy="369332"/>
          </a:xfrm>
          <a:prstGeom prst="rect">
            <a:avLst/>
          </a:prstGeom>
          <a:noFill/>
        </p:spPr>
        <p:txBody>
          <a:bodyPr wrap="none" rtlCol="0">
            <a:spAutoFit/>
          </a:bodyPr>
          <a:lstStyle/>
          <a:p>
            <a:r>
              <a:rPr lang="en-GB" dirty="0"/>
              <a:t>ECC30B</a:t>
            </a:r>
            <a:endParaRPr lang="en-DK" dirty="0"/>
          </a:p>
        </p:txBody>
      </p:sp>
      <p:sp>
        <p:nvSpPr>
          <p:cNvPr id="13" name="TextBox 12">
            <a:extLst>
              <a:ext uri="{FF2B5EF4-FFF2-40B4-BE49-F238E27FC236}">
                <a16:creationId xmlns:a16="http://schemas.microsoft.com/office/drawing/2014/main" id="{47C10ED1-B1C0-E8D2-8CB1-44D70DBC236C}"/>
              </a:ext>
            </a:extLst>
          </p:cNvPr>
          <p:cNvSpPr txBox="1"/>
          <p:nvPr/>
        </p:nvSpPr>
        <p:spPr>
          <a:xfrm>
            <a:off x="6477000" y="367145"/>
            <a:ext cx="2159566" cy="369332"/>
          </a:xfrm>
          <a:prstGeom prst="rect">
            <a:avLst/>
          </a:prstGeom>
          <a:noFill/>
        </p:spPr>
        <p:txBody>
          <a:bodyPr wrap="none" rtlCol="0">
            <a:spAutoFit/>
          </a:bodyPr>
          <a:lstStyle/>
          <a:p>
            <a:r>
              <a:rPr lang="en-DK" dirty="0"/>
              <a:t>#142918 dark mode</a:t>
            </a:r>
          </a:p>
        </p:txBody>
      </p:sp>
      <p:sp>
        <p:nvSpPr>
          <p:cNvPr id="15" name="TextBox 14">
            <a:extLst>
              <a:ext uri="{FF2B5EF4-FFF2-40B4-BE49-F238E27FC236}">
                <a16:creationId xmlns:a16="http://schemas.microsoft.com/office/drawing/2014/main" id="{DE84B59D-0A5D-5F01-E292-995380830A82}"/>
              </a:ext>
            </a:extLst>
          </p:cNvPr>
          <p:cNvSpPr txBox="1"/>
          <p:nvPr/>
        </p:nvSpPr>
        <p:spPr>
          <a:xfrm>
            <a:off x="3588933" y="1925782"/>
            <a:ext cx="1048685" cy="369332"/>
          </a:xfrm>
          <a:prstGeom prst="rect">
            <a:avLst/>
          </a:prstGeom>
          <a:noFill/>
        </p:spPr>
        <p:txBody>
          <a:bodyPr wrap="none" rtlCol="0">
            <a:spAutoFit/>
          </a:bodyPr>
          <a:lstStyle/>
          <a:p>
            <a:r>
              <a:rPr lang="en-DK" dirty="0"/>
              <a:t>#092735</a:t>
            </a:r>
          </a:p>
        </p:txBody>
      </p:sp>
      <p:sp>
        <p:nvSpPr>
          <p:cNvPr id="16" name="TextBox 15">
            <a:extLst>
              <a:ext uri="{FF2B5EF4-FFF2-40B4-BE49-F238E27FC236}">
                <a16:creationId xmlns:a16="http://schemas.microsoft.com/office/drawing/2014/main" id="{221404DF-192C-0FF6-48D3-2FAAC7C51BCC}"/>
              </a:ext>
            </a:extLst>
          </p:cNvPr>
          <p:cNvSpPr txBox="1"/>
          <p:nvPr/>
        </p:nvSpPr>
        <p:spPr>
          <a:xfrm>
            <a:off x="3175891" y="1556449"/>
            <a:ext cx="1763368" cy="369332"/>
          </a:xfrm>
          <a:prstGeom prst="rect">
            <a:avLst/>
          </a:prstGeom>
          <a:noFill/>
        </p:spPr>
        <p:txBody>
          <a:bodyPr wrap="none" rtlCol="0">
            <a:spAutoFit/>
          </a:bodyPr>
          <a:lstStyle/>
          <a:p>
            <a:r>
              <a:rPr lang="en-GB" dirty="0"/>
              <a:t>D</a:t>
            </a:r>
            <a:r>
              <a:rPr lang="en-DK" dirty="0"/>
              <a:t>ark mode blue</a:t>
            </a:r>
          </a:p>
        </p:txBody>
      </p:sp>
      <p:sp>
        <p:nvSpPr>
          <p:cNvPr id="17" name="TextBox 16">
            <a:extLst>
              <a:ext uri="{FF2B5EF4-FFF2-40B4-BE49-F238E27FC236}">
                <a16:creationId xmlns:a16="http://schemas.microsoft.com/office/drawing/2014/main" id="{873E8F65-3191-C973-037E-CB67AF562A4F}"/>
              </a:ext>
            </a:extLst>
          </p:cNvPr>
          <p:cNvSpPr txBox="1"/>
          <p:nvPr/>
        </p:nvSpPr>
        <p:spPr>
          <a:xfrm>
            <a:off x="6650182" y="6276109"/>
            <a:ext cx="2064732" cy="369332"/>
          </a:xfrm>
          <a:prstGeom prst="rect">
            <a:avLst/>
          </a:prstGeom>
          <a:noFill/>
        </p:spPr>
        <p:txBody>
          <a:bodyPr wrap="none" rtlCol="0">
            <a:spAutoFit/>
          </a:bodyPr>
          <a:lstStyle/>
          <a:p>
            <a:r>
              <a:rPr lang="en-GB" dirty="0"/>
              <a:t>D</a:t>
            </a:r>
            <a:r>
              <a:rPr lang="en-DK" dirty="0"/>
              <a:t>ark mode 272002</a:t>
            </a:r>
          </a:p>
        </p:txBody>
      </p:sp>
      <p:sp>
        <p:nvSpPr>
          <p:cNvPr id="5" name="TextBox 4">
            <a:extLst>
              <a:ext uri="{FF2B5EF4-FFF2-40B4-BE49-F238E27FC236}">
                <a16:creationId xmlns:a16="http://schemas.microsoft.com/office/drawing/2014/main" id="{65A0A1C7-89DF-B6FF-849C-16677A6CEEAC}"/>
              </a:ext>
            </a:extLst>
          </p:cNvPr>
          <p:cNvSpPr txBox="1"/>
          <p:nvPr/>
        </p:nvSpPr>
        <p:spPr>
          <a:xfrm>
            <a:off x="5081255" y="1104422"/>
            <a:ext cx="1132041" cy="369332"/>
          </a:xfrm>
          <a:prstGeom prst="rect">
            <a:avLst/>
          </a:prstGeom>
          <a:noFill/>
        </p:spPr>
        <p:txBody>
          <a:bodyPr wrap="none" rtlCol="0">
            <a:spAutoFit/>
          </a:bodyPr>
          <a:lstStyle/>
          <a:p>
            <a:r>
              <a:rPr lang="en-DK" dirty="0"/>
              <a:t>#C8E4CE</a:t>
            </a:r>
          </a:p>
        </p:txBody>
      </p:sp>
      <p:sp>
        <p:nvSpPr>
          <p:cNvPr id="10" name="TextBox 9">
            <a:extLst>
              <a:ext uri="{FF2B5EF4-FFF2-40B4-BE49-F238E27FC236}">
                <a16:creationId xmlns:a16="http://schemas.microsoft.com/office/drawing/2014/main" id="{5A1D3A70-75E2-DBF6-1E82-E9F6256DE0A7}"/>
              </a:ext>
            </a:extLst>
          </p:cNvPr>
          <p:cNvSpPr txBox="1"/>
          <p:nvPr/>
        </p:nvSpPr>
        <p:spPr>
          <a:xfrm>
            <a:off x="2492005" y="6357640"/>
            <a:ext cx="938527" cy="369332"/>
          </a:xfrm>
          <a:prstGeom prst="rect">
            <a:avLst/>
          </a:prstGeom>
          <a:noFill/>
        </p:spPr>
        <p:txBody>
          <a:bodyPr wrap="none" rtlCol="0">
            <a:spAutoFit/>
          </a:bodyPr>
          <a:lstStyle/>
          <a:p>
            <a:r>
              <a:rPr lang="en-DK" dirty="0"/>
              <a:t>FAE99E</a:t>
            </a:r>
          </a:p>
        </p:txBody>
      </p:sp>
    </p:spTree>
    <p:extLst>
      <p:ext uri="{BB962C8B-B14F-4D97-AF65-F5344CB8AC3E}">
        <p14:creationId xmlns:p14="http://schemas.microsoft.com/office/powerpoint/2010/main" val="3002423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8C0C0DDBC9B742BC44458BFD432381" ma:contentTypeVersion="18" ma:contentTypeDescription="Create a new document." ma:contentTypeScope="" ma:versionID="64b236d4466a4cd3d07b896c6218f2f3">
  <xsd:schema xmlns:xsd="http://www.w3.org/2001/XMLSchema" xmlns:xs="http://www.w3.org/2001/XMLSchema" xmlns:p="http://schemas.microsoft.com/office/2006/metadata/properties" xmlns:ns2="b30be232-03ea-456c-8192-b7ea3ce3ddcd" xmlns:ns3="c12dc4f0-a365-46b3-9e07-9aae8de5ba6f" targetNamespace="http://schemas.microsoft.com/office/2006/metadata/properties" ma:root="true" ma:fieldsID="fdd8b8b214f96bd7c885e76e44ea203a" ns2:_="" ns3:_="">
    <xsd:import namespace="b30be232-03ea-456c-8192-b7ea3ce3ddcd"/>
    <xsd:import namespace="c12dc4f0-a365-46b3-9e07-9aae8de5ba6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be232-03ea-456c-8192-b7ea3ce3dd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d5578fd-35c2-4d8f-a1bf-4043a6e4e7a5"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2dc4f0-a365-46b3-9e07-9aae8de5ba6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7dd815e-8d58-4377-b4d0-c0ea7a0d6e39}" ma:internalName="TaxCatchAll" ma:showField="CatchAllData" ma:web="c12dc4f0-a365-46b3-9e07-9aae8de5ba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12dc4f0-a365-46b3-9e07-9aae8de5ba6f" xsi:nil="true"/>
    <lcf76f155ced4ddcb4097134ff3c332f xmlns="b30be232-03ea-456c-8192-b7ea3ce3dd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3926A4E-EC88-4F11-B439-7DEFBC805660}">
  <ds:schemaRefs>
    <ds:schemaRef ds:uri="http://schemas.microsoft.com/sharepoint/v3/contenttype/forms"/>
  </ds:schemaRefs>
</ds:datastoreItem>
</file>

<file path=customXml/itemProps2.xml><?xml version="1.0" encoding="utf-8"?>
<ds:datastoreItem xmlns:ds="http://schemas.openxmlformats.org/officeDocument/2006/customXml" ds:itemID="{B2E20D29-05DE-4FB9-A4B0-45B8903130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be232-03ea-456c-8192-b7ea3ce3ddcd"/>
    <ds:schemaRef ds:uri="c12dc4f0-a365-46b3-9e07-9aae8de5ba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676704-67ED-4748-B6BF-925BACD09DB2}">
  <ds:schemaRefs>
    <ds:schemaRef ds:uri="http://schemas.microsoft.com/office/2006/metadata/properties"/>
    <ds:schemaRef ds:uri="http://schemas.microsoft.com/office/infopath/2007/PartnerControls"/>
    <ds:schemaRef ds:uri="c12dc4f0-a365-46b3-9e07-9aae8de5ba6f"/>
    <ds:schemaRef ds:uri="b30be232-03ea-456c-8192-b7ea3ce3ddcd"/>
  </ds:schemaRefs>
</ds:datastoreItem>
</file>

<file path=docMetadata/LabelInfo.xml><?xml version="1.0" encoding="utf-8"?>
<clbl:labelList xmlns:clbl="http://schemas.microsoft.com/office/2020/mipLabelMetadata">
  <clbl:label id="{a3927f91-cda1-4696-af89-8c9f1ceffa91}" enabled="0" method="" siteId="{a3927f91-cda1-4696-af89-8c9f1ceffa91}" removed="1"/>
</clbl:labelList>
</file>

<file path=docProps/app.xml><?xml version="1.0" encoding="utf-8"?>
<Properties xmlns="http://schemas.openxmlformats.org/officeDocument/2006/extended-properties" xmlns:vt="http://schemas.openxmlformats.org/officeDocument/2006/docPropsVTypes">
  <TotalTime>76137</TotalTime>
  <Words>4281</Words>
  <Application>Microsoft Macintosh PowerPoint</Application>
  <PresentationFormat>Widescreen</PresentationFormat>
  <Paragraphs>432</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Stefano Pupe</dc:creator>
  <cp:lastModifiedBy>Suze Julia Roostee</cp:lastModifiedBy>
  <cp:revision>78</cp:revision>
  <dcterms:created xsi:type="dcterms:W3CDTF">2026-05-01T11:50:33Z</dcterms:created>
  <dcterms:modified xsi:type="dcterms:W3CDTF">2026-09-21T12:51:36Z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0x010100338C0C0DDBC9B742BC44458BFD432381</vt:lpwstr>
  </property>
  <property fmtid="{D5CDD505-2E9C-101B-9397-08002B2CF9AE}" pid="3" name="MediaServiceImageTags">
    <vt:lpwstr/>
  </property>
</Properties>
</file>